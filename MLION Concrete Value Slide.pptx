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the value concrete, here's what changes for an analyst working with our ~10,000 incident descriptions. Today, descriptions are unstructured free text. Each one has to be read individually. Similar root causes are scattered across the dataset with no easy way to group them. Patterns only emerge through slow, manual aggregation — and it doesn't scale. With MLION, the same descriptions are automatically organized into clusters based on their semantic content. For example — and these numbers are illustrative, drawn from what the reference paper found in similar OpRisk data — we might discover that around 3,800 incidents are interest-rate calculation disputes, around 500 are mortgages in foreign currency, and the rest form a residual group of other event types. Instead of reading ten thousand individual incidents, an analyst manages a handful of root-cause families. New incidents get auto-tagged, hidden patterns become visible, and this same cluster structure becomes the foundation for predictive risk scoring down the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slideLayout" Target="../slideLayouts/slideLayout1.xml"/><Relationship Id="rId1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0972800" cy="502920"/>
          </a:xfrm>
          <a:prstGeom prst="rect">
            <a:avLst/>
          </a:prstGeom>
          <a:noFill/>
          <a:ln/>
        </p:spPr>
        <p:txBody>
          <a:bodyPr wrap="square" lIns="0" tIns="0" rIns="0" bIns="0" rtlCol="0" anchor="ctr"/>
          <a:lstStyle/>
          <a:p>
            <a:pPr indent="0" marL="0">
              <a:buNone/>
            </a:pPr>
            <a:r>
              <a:rPr lang="en-US" sz="3000" b="1" dirty="0">
                <a:solidFill>
                  <a:srgbClr val="00915A"/>
                </a:solidFill>
                <a:latin typeface="Arial" pitchFamily="34" charset="0"/>
                <a:ea typeface="Arial" pitchFamily="34" charset="-122"/>
                <a:cs typeface="Arial" pitchFamily="34" charset="-120"/>
              </a:rPr>
              <a:t>From Raw Text to Actionable Insight</a:t>
            </a:r>
            <a:endParaRPr lang="en-US" sz="3000" dirty="0"/>
          </a:p>
        </p:txBody>
      </p:sp>
      <p:sp>
        <p:nvSpPr>
          <p:cNvPr id="3" name="Text 1"/>
          <p:cNvSpPr/>
          <p:nvPr/>
        </p:nvSpPr>
        <p:spPr>
          <a:xfrm>
            <a:off x="548640" y="822960"/>
            <a:ext cx="10972800" cy="320040"/>
          </a:xfrm>
          <a:prstGeom prst="rect">
            <a:avLst/>
          </a:prstGeom>
          <a:noFill/>
          <a:ln/>
        </p:spPr>
        <p:txBody>
          <a:bodyPr wrap="square" lIns="0" tIns="0" rIns="0" bIns="0" rtlCol="0" anchor="ctr"/>
          <a:lstStyle/>
          <a:p>
            <a:pPr indent="0" marL="0">
              <a:buNone/>
            </a:pPr>
            <a:r>
              <a:rPr lang="en-US" sz="1300" i="1" dirty="0">
                <a:solidFill>
                  <a:srgbClr val="595959"/>
                </a:solidFill>
                <a:latin typeface="Arial" pitchFamily="34" charset="0"/>
                <a:ea typeface="Arial" pitchFamily="34" charset="-122"/>
                <a:cs typeface="Arial" pitchFamily="34" charset="-120"/>
              </a:rPr>
              <a:t>What MLION concretely changes for an Operational Risk analyst working with ~10,000 incident descriptions</a:t>
            </a:r>
            <a:endParaRPr lang="en-US" sz="1300" dirty="0"/>
          </a:p>
        </p:txBody>
      </p:sp>
      <p:sp>
        <p:nvSpPr>
          <p:cNvPr id="4" name="Shape 2"/>
          <p:cNvSpPr/>
          <p:nvPr/>
        </p:nvSpPr>
        <p:spPr>
          <a:xfrm>
            <a:off x="548640" y="1371600"/>
            <a:ext cx="5394960" cy="4206240"/>
          </a:xfrm>
          <a:prstGeom prst="roundRect">
            <a:avLst>
              <a:gd name="adj" fmla="val 2609"/>
            </a:avLst>
          </a:prstGeom>
          <a:solidFill>
            <a:srgbClr val="FFF8F0"/>
          </a:solidFill>
          <a:ln w="19050">
            <a:solidFill>
              <a:srgbClr val="E8B66B"/>
            </a:solidFill>
            <a:prstDash val="solid"/>
          </a:ln>
        </p:spPr>
      </p:sp>
      <p:sp>
        <p:nvSpPr>
          <p:cNvPr id="5" name="Text 3"/>
          <p:cNvSpPr/>
          <p:nvPr/>
        </p:nvSpPr>
        <p:spPr>
          <a:xfrm>
            <a:off x="914400" y="1600200"/>
            <a:ext cx="4663440" cy="274320"/>
          </a:xfrm>
          <a:prstGeom prst="rect">
            <a:avLst/>
          </a:prstGeom>
          <a:noFill/>
          <a:ln/>
        </p:spPr>
        <p:txBody>
          <a:bodyPr wrap="square" lIns="0" tIns="0" rIns="0" bIns="0" rtlCol="0" anchor="ctr"/>
          <a:lstStyle/>
          <a:p>
            <a:pPr indent="0" marL="0">
              <a:buNone/>
            </a:pPr>
            <a:r>
              <a:rPr lang="en-US" sz="1100" b="1" spc="400" kern="0" dirty="0">
                <a:solidFill>
                  <a:srgbClr val="C77700"/>
                </a:solidFill>
                <a:latin typeface="Arial" pitchFamily="34" charset="0"/>
                <a:ea typeface="Arial" pitchFamily="34" charset="-122"/>
                <a:cs typeface="Arial" pitchFamily="34" charset="-120"/>
              </a:rPr>
              <a:t>TODAY</a:t>
            </a:r>
            <a:endParaRPr lang="en-US" sz="1100" dirty="0"/>
          </a:p>
        </p:txBody>
      </p:sp>
      <p:sp>
        <p:nvSpPr>
          <p:cNvPr id="6" name="Text 4"/>
          <p:cNvSpPr/>
          <p:nvPr/>
        </p:nvSpPr>
        <p:spPr>
          <a:xfrm>
            <a:off x="914400" y="1874520"/>
            <a:ext cx="4663440" cy="411480"/>
          </a:xfrm>
          <a:prstGeom prst="rect">
            <a:avLst/>
          </a:prstGeom>
          <a:noFill/>
          <a:ln/>
        </p:spPr>
        <p:txBody>
          <a:bodyPr wrap="square" lIns="0" tIns="0" rIns="0" bIns="0" rtlCol="0" anchor="ctr"/>
          <a:lstStyle/>
          <a:p>
            <a:pPr indent="0" marL="0">
              <a:buNone/>
            </a:pPr>
            <a:r>
              <a:rPr lang="en-US" sz="1700" b="1" dirty="0">
                <a:solidFill>
                  <a:srgbClr val="262626"/>
                </a:solidFill>
                <a:latin typeface="Arial" pitchFamily="34" charset="0"/>
                <a:ea typeface="Arial" pitchFamily="34" charset="-122"/>
                <a:cs typeface="Arial" pitchFamily="34" charset="-120"/>
              </a:rPr>
              <a:t>Descriptions read manually, no structure</a:t>
            </a:r>
            <a:endParaRPr lang="en-US" sz="1700" dirty="0"/>
          </a:p>
        </p:txBody>
      </p:sp>
      <p:sp>
        <p:nvSpPr>
          <p:cNvPr id="7" name="Shape 5"/>
          <p:cNvSpPr/>
          <p:nvPr/>
        </p:nvSpPr>
        <p:spPr>
          <a:xfrm>
            <a:off x="960120" y="2423160"/>
            <a:ext cx="4572000" cy="1600200"/>
          </a:xfrm>
          <a:prstGeom prst="rect">
            <a:avLst/>
          </a:prstGeom>
          <a:solidFill>
            <a:srgbClr val="FFFFFF"/>
          </a:solidFill>
          <a:ln w="6350">
            <a:solidFill>
              <a:srgbClr val="E1E5E8"/>
            </a:solidFill>
            <a:prstDash val="solid"/>
          </a:ln>
        </p:spPr>
      </p:sp>
      <p:pic>
        <p:nvPicPr>
          <p:cNvPr id="8" name="Image 0" descr="preencoded.png">    </p:cNvPr>
          <p:cNvPicPr>
            <a:picLocks noChangeAspect="1"/>
          </p:cNvPicPr>
          <p:nvPr/>
        </p:nvPicPr>
        <p:blipFill>
          <a:blip r:embed="rId1"/>
          <a:stretch>
            <a:fillRect/>
          </a:stretch>
        </p:blipFill>
        <p:spPr>
          <a:xfrm>
            <a:off x="1097280" y="2560320"/>
            <a:ext cx="201168" cy="201168"/>
          </a:xfrm>
          <a:prstGeom prst="rect">
            <a:avLst/>
          </a:prstGeom>
        </p:spPr>
      </p:pic>
      <p:sp>
        <p:nvSpPr>
          <p:cNvPr id="9" name="Text 6"/>
          <p:cNvSpPr/>
          <p:nvPr/>
        </p:nvSpPr>
        <p:spPr>
          <a:xfrm>
            <a:off x="1371600" y="2514600"/>
            <a:ext cx="4023360" cy="274320"/>
          </a:xfrm>
          <a:prstGeom prst="rect">
            <a:avLst/>
          </a:prstGeom>
          <a:noFill/>
          <a:ln/>
        </p:spPr>
        <p:txBody>
          <a:bodyPr wrap="square" lIns="0" tIns="0" rIns="0" bIns="0" rtlCol="0" anchor="ctr"/>
          <a:lstStyle/>
          <a:p>
            <a:pPr indent="0" marL="0">
              <a:buNone/>
            </a:pPr>
            <a:r>
              <a:rPr lang="en-US" sz="1000" b="1" i="1" dirty="0">
                <a:solidFill>
                  <a:srgbClr val="8C8C8C"/>
                </a:solidFill>
                <a:latin typeface="Arial" pitchFamily="34" charset="0"/>
                <a:ea typeface="Arial" pitchFamily="34" charset="-122"/>
                <a:cs typeface="Arial" pitchFamily="34" charset="-120"/>
              </a:rPr>
              <a:t>Free-text descriptions</a:t>
            </a:r>
            <a:endParaRPr lang="en-US" sz="1000" dirty="0"/>
          </a:p>
        </p:txBody>
      </p:sp>
      <p:sp>
        <p:nvSpPr>
          <p:cNvPr id="10" name="Shape 7"/>
          <p:cNvSpPr/>
          <p:nvPr/>
        </p:nvSpPr>
        <p:spPr>
          <a:xfrm>
            <a:off x="1097280" y="2880360"/>
            <a:ext cx="4082796" cy="64008"/>
          </a:xfrm>
          <a:prstGeom prst="rect">
            <a:avLst/>
          </a:prstGeom>
          <a:solidFill>
            <a:srgbClr val="D9D9D9"/>
          </a:solidFill>
          <a:ln w="12700">
            <a:solidFill>
              <a:srgbClr val="D9D9D9"/>
            </a:solidFill>
            <a:prstDash val="solid"/>
          </a:ln>
        </p:spPr>
      </p:sp>
      <p:sp>
        <p:nvSpPr>
          <p:cNvPr id="11" name="Shape 8"/>
          <p:cNvSpPr/>
          <p:nvPr/>
        </p:nvSpPr>
        <p:spPr>
          <a:xfrm>
            <a:off x="1097280" y="2999232"/>
            <a:ext cx="3781958" cy="64008"/>
          </a:xfrm>
          <a:prstGeom prst="rect">
            <a:avLst/>
          </a:prstGeom>
          <a:solidFill>
            <a:srgbClr val="BFBFBF"/>
          </a:solidFill>
          <a:ln w="12700">
            <a:solidFill>
              <a:srgbClr val="BFBFBF"/>
            </a:solidFill>
            <a:prstDash val="solid"/>
          </a:ln>
        </p:spPr>
      </p:sp>
      <p:sp>
        <p:nvSpPr>
          <p:cNvPr id="12" name="Shape 9"/>
          <p:cNvSpPr/>
          <p:nvPr/>
        </p:nvSpPr>
        <p:spPr>
          <a:xfrm>
            <a:off x="1097280" y="3118104"/>
            <a:ext cx="1933956" cy="64008"/>
          </a:xfrm>
          <a:prstGeom prst="rect">
            <a:avLst/>
          </a:prstGeom>
          <a:solidFill>
            <a:srgbClr val="D9D9D9"/>
          </a:solidFill>
          <a:ln w="12700">
            <a:solidFill>
              <a:srgbClr val="D9D9D9"/>
            </a:solidFill>
            <a:prstDash val="solid"/>
          </a:ln>
        </p:spPr>
      </p:sp>
      <p:sp>
        <p:nvSpPr>
          <p:cNvPr id="13" name="Shape 10"/>
          <p:cNvSpPr/>
          <p:nvPr/>
        </p:nvSpPr>
        <p:spPr>
          <a:xfrm>
            <a:off x="1097280" y="3282696"/>
            <a:ext cx="3953866" cy="64008"/>
          </a:xfrm>
          <a:prstGeom prst="rect">
            <a:avLst/>
          </a:prstGeom>
          <a:solidFill>
            <a:srgbClr val="D9D9D9"/>
          </a:solidFill>
          <a:ln w="12700">
            <a:solidFill>
              <a:srgbClr val="D9D9D9"/>
            </a:solidFill>
            <a:prstDash val="solid"/>
          </a:ln>
        </p:spPr>
      </p:sp>
      <p:sp>
        <p:nvSpPr>
          <p:cNvPr id="14" name="Shape 11"/>
          <p:cNvSpPr/>
          <p:nvPr/>
        </p:nvSpPr>
        <p:spPr>
          <a:xfrm>
            <a:off x="1097280" y="3401568"/>
            <a:ext cx="3352190" cy="64008"/>
          </a:xfrm>
          <a:prstGeom prst="rect">
            <a:avLst/>
          </a:prstGeom>
          <a:solidFill>
            <a:srgbClr val="BFBFBF"/>
          </a:solidFill>
          <a:ln w="12700">
            <a:solidFill>
              <a:srgbClr val="BFBFBF"/>
            </a:solidFill>
            <a:prstDash val="solid"/>
          </a:ln>
        </p:spPr>
      </p:sp>
      <p:sp>
        <p:nvSpPr>
          <p:cNvPr id="15" name="Shape 12"/>
          <p:cNvSpPr/>
          <p:nvPr/>
        </p:nvSpPr>
        <p:spPr>
          <a:xfrm>
            <a:off x="1097280" y="3520440"/>
            <a:ext cx="2578608" cy="64008"/>
          </a:xfrm>
          <a:prstGeom prst="rect">
            <a:avLst/>
          </a:prstGeom>
          <a:solidFill>
            <a:srgbClr val="D9D9D9"/>
          </a:solidFill>
          <a:ln w="12700">
            <a:solidFill>
              <a:srgbClr val="D9D9D9"/>
            </a:solidFill>
            <a:prstDash val="solid"/>
          </a:ln>
        </p:spPr>
      </p:sp>
      <p:sp>
        <p:nvSpPr>
          <p:cNvPr id="16" name="Shape 13"/>
          <p:cNvSpPr/>
          <p:nvPr/>
        </p:nvSpPr>
        <p:spPr>
          <a:xfrm>
            <a:off x="1097280" y="3685032"/>
            <a:ext cx="3653028" cy="64008"/>
          </a:xfrm>
          <a:prstGeom prst="rect">
            <a:avLst/>
          </a:prstGeom>
          <a:solidFill>
            <a:srgbClr val="D9D9D9"/>
          </a:solidFill>
          <a:ln w="12700">
            <a:solidFill>
              <a:srgbClr val="D9D9D9"/>
            </a:solidFill>
            <a:prstDash val="solid"/>
          </a:ln>
        </p:spPr>
      </p:sp>
      <p:sp>
        <p:nvSpPr>
          <p:cNvPr id="17" name="Shape 14"/>
          <p:cNvSpPr/>
          <p:nvPr/>
        </p:nvSpPr>
        <p:spPr>
          <a:xfrm>
            <a:off x="1097280" y="3803904"/>
            <a:ext cx="4082796" cy="64008"/>
          </a:xfrm>
          <a:prstGeom prst="rect">
            <a:avLst/>
          </a:prstGeom>
          <a:solidFill>
            <a:srgbClr val="BFBFBF"/>
          </a:solidFill>
          <a:ln w="12700">
            <a:solidFill>
              <a:srgbClr val="BFBFBF"/>
            </a:solidFill>
            <a:prstDash val="solid"/>
          </a:ln>
        </p:spPr>
      </p:sp>
      <p:sp>
        <p:nvSpPr>
          <p:cNvPr id="18" name="Shape 15"/>
          <p:cNvSpPr/>
          <p:nvPr/>
        </p:nvSpPr>
        <p:spPr>
          <a:xfrm>
            <a:off x="1097280" y="3922776"/>
            <a:ext cx="1504188" cy="64008"/>
          </a:xfrm>
          <a:prstGeom prst="rect">
            <a:avLst/>
          </a:prstGeom>
          <a:solidFill>
            <a:srgbClr val="D9D9D9"/>
          </a:solidFill>
          <a:ln w="12700">
            <a:solidFill>
              <a:srgbClr val="D9D9D9"/>
            </a:solidFill>
            <a:prstDash val="solid"/>
          </a:ln>
        </p:spPr>
      </p:sp>
      <p:pic>
        <p:nvPicPr>
          <p:cNvPr id="19" name="Image 1" descr="preencoded.png">    </p:cNvPr>
          <p:cNvPicPr>
            <a:picLocks noChangeAspect="1"/>
          </p:cNvPicPr>
          <p:nvPr/>
        </p:nvPicPr>
        <p:blipFill>
          <a:blip r:embed="rId2"/>
          <a:stretch>
            <a:fillRect/>
          </a:stretch>
        </p:blipFill>
        <p:spPr>
          <a:xfrm>
            <a:off x="960120" y="4288536"/>
            <a:ext cx="164592" cy="164592"/>
          </a:xfrm>
          <a:prstGeom prst="rect">
            <a:avLst/>
          </a:prstGeom>
        </p:spPr>
      </p:pic>
      <p:sp>
        <p:nvSpPr>
          <p:cNvPr id="20" name="Text 16"/>
          <p:cNvSpPr/>
          <p:nvPr/>
        </p:nvSpPr>
        <p:spPr>
          <a:xfrm>
            <a:off x="1207008" y="4251960"/>
            <a:ext cx="4480560" cy="256032"/>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Each incident read individually — no overview</a:t>
            </a:r>
            <a:endParaRPr lang="en-US" sz="1150" dirty="0"/>
          </a:p>
        </p:txBody>
      </p:sp>
      <p:pic>
        <p:nvPicPr>
          <p:cNvPr id="21" name="Image 2" descr="preencoded.png">    </p:cNvPr>
          <p:cNvPicPr>
            <a:picLocks noChangeAspect="1"/>
          </p:cNvPicPr>
          <p:nvPr/>
        </p:nvPicPr>
        <p:blipFill>
          <a:blip r:embed="rId3"/>
          <a:stretch>
            <a:fillRect/>
          </a:stretch>
        </p:blipFill>
        <p:spPr>
          <a:xfrm>
            <a:off x="960120" y="4581144"/>
            <a:ext cx="164592" cy="164592"/>
          </a:xfrm>
          <a:prstGeom prst="rect">
            <a:avLst/>
          </a:prstGeom>
        </p:spPr>
      </p:pic>
      <p:sp>
        <p:nvSpPr>
          <p:cNvPr id="22" name="Text 17"/>
          <p:cNvSpPr/>
          <p:nvPr/>
        </p:nvSpPr>
        <p:spPr>
          <a:xfrm>
            <a:off x="1207008" y="4544568"/>
            <a:ext cx="4480560" cy="256032"/>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Similar root causes scattered across the dataset</a:t>
            </a:r>
            <a:endParaRPr lang="en-US" sz="1150" dirty="0"/>
          </a:p>
        </p:txBody>
      </p:sp>
      <p:pic>
        <p:nvPicPr>
          <p:cNvPr id="23" name="Image 3" descr="preencoded.png">    </p:cNvPr>
          <p:cNvPicPr>
            <a:picLocks noChangeAspect="1"/>
          </p:cNvPicPr>
          <p:nvPr/>
        </p:nvPicPr>
        <p:blipFill>
          <a:blip r:embed="rId4"/>
          <a:stretch>
            <a:fillRect/>
          </a:stretch>
        </p:blipFill>
        <p:spPr>
          <a:xfrm>
            <a:off x="960120" y="4873752"/>
            <a:ext cx="164592" cy="164592"/>
          </a:xfrm>
          <a:prstGeom prst="rect">
            <a:avLst/>
          </a:prstGeom>
        </p:spPr>
      </p:pic>
      <p:sp>
        <p:nvSpPr>
          <p:cNvPr id="24" name="Text 18"/>
          <p:cNvSpPr/>
          <p:nvPr/>
        </p:nvSpPr>
        <p:spPr>
          <a:xfrm>
            <a:off x="1207008" y="4837176"/>
            <a:ext cx="4480560" cy="256032"/>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Patterns invisible without manual aggregation</a:t>
            </a:r>
            <a:endParaRPr lang="en-US" sz="1150" dirty="0"/>
          </a:p>
        </p:txBody>
      </p:sp>
      <p:pic>
        <p:nvPicPr>
          <p:cNvPr id="25" name="Image 4" descr="preencoded.png">    </p:cNvPr>
          <p:cNvPicPr>
            <a:picLocks noChangeAspect="1"/>
          </p:cNvPicPr>
          <p:nvPr/>
        </p:nvPicPr>
        <p:blipFill>
          <a:blip r:embed="rId5"/>
          <a:stretch>
            <a:fillRect/>
          </a:stretch>
        </p:blipFill>
        <p:spPr>
          <a:xfrm>
            <a:off x="960120" y="5166360"/>
            <a:ext cx="164592" cy="164592"/>
          </a:xfrm>
          <a:prstGeom prst="rect">
            <a:avLst/>
          </a:prstGeom>
        </p:spPr>
      </p:pic>
      <p:sp>
        <p:nvSpPr>
          <p:cNvPr id="26" name="Text 19"/>
          <p:cNvSpPr/>
          <p:nvPr/>
        </p:nvSpPr>
        <p:spPr>
          <a:xfrm>
            <a:off x="1207008" y="5129784"/>
            <a:ext cx="4480560" cy="256032"/>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Slow, subjective, hard to scale to 10K+ events</a:t>
            </a:r>
            <a:endParaRPr lang="en-US" sz="1150" dirty="0"/>
          </a:p>
        </p:txBody>
      </p:sp>
      <p:sp>
        <p:nvSpPr>
          <p:cNvPr id="27" name="Shape 20"/>
          <p:cNvSpPr/>
          <p:nvPr/>
        </p:nvSpPr>
        <p:spPr>
          <a:xfrm>
            <a:off x="6217920" y="1371600"/>
            <a:ext cx="5394960" cy="4206240"/>
          </a:xfrm>
          <a:prstGeom prst="roundRect">
            <a:avLst>
              <a:gd name="adj" fmla="val 2609"/>
            </a:avLst>
          </a:prstGeom>
          <a:solidFill>
            <a:srgbClr val="F0F8F4"/>
          </a:solidFill>
          <a:ln w="19050">
            <a:solidFill>
              <a:srgbClr val="00915A"/>
            </a:solidFill>
            <a:prstDash val="solid"/>
          </a:ln>
        </p:spPr>
      </p:sp>
      <p:sp>
        <p:nvSpPr>
          <p:cNvPr id="28" name="Text 21"/>
          <p:cNvSpPr/>
          <p:nvPr/>
        </p:nvSpPr>
        <p:spPr>
          <a:xfrm>
            <a:off x="6583680" y="1600200"/>
            <a:ext cx="4663440" cy="274320"/>
          </a:xfrm>
          <a:prstGeom prst="rect">
            <a:avLst/>
          </a:prstGeom>
          <a:noFill/>
          <a:ln/>
        </p:spPr>
        <p:txBody>
          <a:bodyPr wrap="square" lIns="0" tIns="0" rIns="0" bIns="0" rtlCol="0" anchor="ctr"/>
          <a:lstStyle/>
          <a:p>
            <a:pPr indent="0" marL="0">
              <a:buNone/>
            </a:pPr>
            <a:r>
              <a:rPr lang="en-US" sz="1100" b="1" spc="400" kern="0" dirty="0">
                <a:solidFill>
                  <a:srgbClr val="00915A"/>
                </a:solidFill>
                <a:latin typeface="Arial" pitchFamily="34" charset="0"/>
                <a:ea typeface="Arial" pitchFamily="34" charset="-122"/>
                <a:cs typeface="Arial" pitchFamily="34" charset="-120"/>
              </a:rPr>
              <a:t>WITH MLION</a:t>
            </a:r>
            <a:endParaRPr lang="en-US" sz="1100" dirty="0"/>
          </a:p>
        </p:txBody>
      </p:sp>
      <p:sp>
        <p:nvSpPr>
          <p:cNvPr id="29" name="Text 22"/>
          <p:cNvSpPr/>
          <p:nvPr/>
        </p:nvSpPr>
        <p:spPr>
          <a:xfrm>
            <a:off x="6583680" y="1874520"/>
            <a:ext cx="4663440" cy="411480"/>
          </a:xfrm>
          <a:prstGeom prst="rect">
            <a:avLst/>
          </a:prstGeom>
          <a:noFill/>
          <a:ln/>
        </p:spPr>
        <p:txBody>
          <a:bodyPr wrap="square" lIns="0" tIns="0" rIns="0" bIns="0" rtlCol="0" anchor="ctr"/>
          <a:lstStyle/>
          <a:p>
            <a:pPr indent="0" marL="0">
              <a:buNone/>
            </a:pPr>
            <a:r>
              <a:rPr lang="en-US" sz="1700" b="1" dirty="0">
                <a:solidFill>
                  <a:srgbClr val="262626"/>
                </a:solidFill>
                <a:latin typeface="Arial" pitchFamily="34" charset="0"/>
                <a:ea typeface="Arial" pitchFamily="34" charset="-122"/>
                <a:cs typeface="Arial" pitchFamily="34" charset="-120"/>
              </a:rPr>
              <a:t>Incidents auto-grouped by root cause</a:t>
            </a:r>
            <a:endParaRPr lang="en-US" sz="1700" dirty="0"/>
          </a:p>
        </p:txBody>
      </p:sp>
      <p:sp>
        <p:nvSpPr>
          <p:cNvPr id="30" name="Shape 23"/>
          <p:cNvSpPr/>
          <p:nvPr/>
        </p:nvSpPr>
        <p:spPr>
          <a:xfrm>
            <a:off x="6629400" y="2423160"/>
            <a:ext cx="4572000" cy="1600200"/>
          </a:xfrm>
          <a:prstGeom prst="rect">
            <a:avLst/>
          </a:prstGeom>
          <a:solidFill>
            <a:srgbClr val="FFFFFF"/>
          </a:solidFill>
          <a:ln w="6350">
            <a:solidFill>
              <a:srgbClr val="E1E5E8"/>
            </a:solidFill>
            <a:prstDash val="solid"/>
          </a:ln>
        </p:spPr>
      </p:sp>
      <p:pic>
        <p:nvPicPr>
          <p:cNvPr id="31" name="Image 5" descr="preencoded.png">    </p:cNvPr>
          <p:cNvPicPr>
            <a:picLocks noChangeAspect="1"/>
          </p:cNvPicPr>
          <p:nvPr/>
        </p:nvPicPr>
        <p:blipFill>
          <a:blip r:embed="rId6"/>
          <a:stretch>
            <a:fillRect/>
          </a:stretch>
        </p:blipFill>
        <p:spPr>
          <a:xfrm>
            <a:off x="6766560" y="2560320"/>
            <a:ext cx="201168" cy="201168"/>
          </a:xfrm>
          <a:prstGeom prst="rect">
            <a:avLst/>
          </a:prstGeom>
        </p:spPr>
      </p:pic>
      <p:sp>
        <p:nvSpPr>
          <p:cNvPr id="32" name="Text 24"/>
          <p:cNvSpPr/>
          <p:nvPr/>
        </p:nvSpPr>
        <p:spPr>
          <a:xfrm>
            <a:off x="7040880" y="2514600"/>
            <a:ext cx="4023360" cy="274320"/>
          </a:xfrm>
          <a:prstGeom prst="rect">
            <a:avLst/>
          </a:prstGeom>
          <a:noFill/>
          <a:ln/>
        </p:spPr>
        <p:txBody>
          <a:bodyPr wrap="square" lIns="0" tIns="0" rIns="0" bIns="0" rtlCol="0" anchor="ctr"/>
          <a:lstStyle/>
          <a:p>
            <a:pPr indent="0" marL="0">
              <a:buNone/>
            </a:pPr>
            <a:r>
              <a:rPr lang="en-US" sz="1000" b="1" i="1" dirty="0">
                <a:solidFill>
                  <a:srgbClr val="8C8C8C"/>
                </a:solidFill>
                <a:latin typeface="Arial" pitchFamily="34" charset="0"/>
                <a:ea typeface="Arial" pitchFamily="34" charset="-122"/>
                <a:cs typeface="Arial" pitchFamily="34" charset="-120"/>
              </a:rPr>
              <a:t>Discovered clusters (illustrative)</a:t>
            </a:r>
            <a:endParaRPr lang="en-US" sz="1000" dirty="0"/>
          </a:p>
        </p:txBody>
      </p:sp>
      <p:sp>
        <p:nvSpPr>
          <p:cNvPr id="33" name="Shape 25"/>
          <p:cNvSpPr/>
          <p:nvPr/>
        </p:nvSpPr>
        <p:spPr>
          <a:xfrm>
            <a:off x="6793992" y="2935224"/>
            <a:ext cx="146304" cy="146304"/>
          </a:xfrm>
          <a:prstGeom prst="ellipse">
            <a:avLst/>
          </a:prstGeom>
          <a:solidFill>
            <a:srgbClr val="3E5FAF"/>
          </a:solidFill>
          <a:ln w="12700">
            <a:solidFill>
              <a:srgbClr val="3E5FAF"/>
            </a:solidFill>
            <a:prstDash val="solid"/>
          </a:ln>
        </p:spPr>
      </p:sp>
      <p:sp>
        <p:nvSpPr>
          <p:cNvPr id="34" name="Text 26"/>
          <p:cNvSpPr/>
          <p:nvPr/>
        </p:nvSpPr>
        <p:spPr>
          <a:xfrm>
            <a:off x="7013448" y="2880360"/>
            <a:ext cx="3154680" cy="256032"/>
          </a:xfrm>
          <a:prstGeom prst="rect">
            <a:avLst/>
          </a:prstGeom>
          <a:noFill/>
          <a:ln/>
        </p:spPr>
        <p:txBody>
          <a:bodyPr wrap="square" lIns="0" tIns="0" rIns="0" bIns="0" rtlCol="0" anchor="ctr"/>
          <a:lstStyle/>
          <a:p>
            <a:pPr indent="0" marL="0">
              <a:buNone/>
            </a:pPr>
            <a:r>
              <a:rPr lang="en-US" sz="1100" b="1" dirty="0">
                <a:solidFill>
                  <a:srgbClr val="262626"/>
                </a:solidFill>
                <a:latin typeface="Arial" pitchFamily="34" charset="0"/>
                <a:ea typeface="Arial" pitchFamily="34" charset="-122"/>
                <a:cs typeface="Arial" pitchFamily="34" charset="-120"/>
              </a:rPr>
              <a:t>Interest rate calculation disputes</a:t>
            </a:r>
            <a:endParaRPr lang="en-US" sz="1100" dirty="0"/>
          </a:p>
        </p:txBody>
      </p:sp>
      <p:sp>
        <p:nvSpPr>
          <p:cNvPr id="35" name="Text 27"/>
          <p:cNvSpPr/>
          <p:nvPr/>
        </p:nvSpPr>
        <p:spPr>
          <a:xfrm>
            <a:off x="10149840" y="2880360"/>
            <a:ext cx="868680" cy="256032"/>
          </a:xfrm>
          <a:prstGeom prst="rect">
            <a:avLst/>
          </a:prstGeom>
          <a:noFill/>
          <a:ln/>
        </p:spPr>
        <p:txBody>
          <a:bodyPr wrap="square" lIns="0" tIns="0" rIns="0" bIns="0" rtlCol="0" anchor="ctr"/>
          <a:lstStyle/>
          <a:p>
            <a:pPr algn="r" indent="0" marL="0">
              <a:buNone/>
            </a:pPr>
            <a:r>
              <a:rPr lang="en-US" sz="1100" b="1" dirty="0">
                <a:solidFill>
                  <a:srgbClr val="3E5FAF"/>
                </a:solidFill>
                <a:latin typeface="Arial" pitchFamily="34" charset="0"/>
                <a:ea typeface="Arial" pitchFamily="34" charset="-122"/>
                <a:cs typeface="Arial" pitchFamily="34" charset="-120"/>
              </a:rPr>
              <a:t>~3,800</a:t>
            </a:r>
            <a:endParaRPr lang="en-US" sz="1100" dirty="0"/>
          </a:p>
        </p:txBody>
      </p:sp>
      <p:sp>
        <p:nvSpPr>
          <p:cNvPr id="36" name="Shape 28"/>
          <p:cNvSpPr/>
          <p:nvPr/>
        </p:nvSpPr>
        <p:spPr>
          <a:xfrm>
            <a:off x="7013448" y="3118104"/>
            <a:ext cx="3822192" cy="32004"/>
          </a:xfrm>
          <a:prstGeom prst="rect">
            <a:avLst/>
          </a:prstGeom>
          <a:solidFill>
            <a:srgbClr val="3E5FAF"/>
          </a:solidFill>
          <a:ln w="12700">
            <a:solidFill>
              <a:srgbClr val="3E5FAF"/>
            </a:solidFill>
            <a:prstDash val="solid"/>
          </a:ln>
        </p:spPr>
      </p:sp>
      <p:sp>
        <p:nvSpPr>
          <p:cNvPr id="37" name="Shape 29"/>
          <p:cNvSpPr/>
          <p:nvPr/>
        </p:nvSpPr>
        <p:spPr>
          <a:xfrm>
            <a:off x="6793992" y="3282696"/>
            <a:ext cx="146304" cy="146304"/>
          </a:xfrm>
          <a:prstGeom prst="ellipse">
            <a:avLst/>
          </a:prstGeom>
          <a:solidFill>
            <a:srgbClr val="C63D3D"/>
          </a:solidFill>
          <a:ln w="12700">
            <a:solidFill>
              <a:srgbClr val="C63D3D"/>
            </a:solidFill>
            <a:prstDash val="solid"/>
          </a:ln>
        </p:spPr>
      </p:sp>
      <p:sp>
        <p:nvSpPr>
          <p:cNvPr id="38" name="Text 30"/>
          <p:cNvSpPr/>
          <p:nvPr/>
        </p:nvSpPr>
        <p:spPr>
          <a:xfrm>
            <a:off x="7013448" y="3227832"/>
            <a:ext cx="3154680" cy="256032"/>
          </a:xfrm>
          <a:prstGeom prst="rect">
            <a:avLst/>
          </a:prstGeom>
          <a:noFill/>
          <a:ln/>
        </p:spPr>
        <p:txBody>
          <a:bodyPr wrap="square" lIns="0" tIns="0" rIns="0" bIns="0" rtlCol="0" anchor="ctr"/>
          <a:lstStyle/>
          <a:p>
            <a:pPr indent="0" marL="0">
              <a:buNone/>
            </a:pPr>
            <a:r>
              <a:rPr lang="en-US" sz="1100" b="1" dirty="0">
                <a:solidFill>
                  <a:srgbClr val="262626"/>
                </a:solidFill>
                <a:latin typeface="Arial" pitchFamily="34" charset="0"/>
                <a:ea typeface="Arial" pitchFamily="34" charset="-122"/>
                <a:cs typeface="Arial" pitchFamily="34" charset="-120"/>
              </a:rPr>
              <a:t>Mortgages in foreign currency</a:t>
            </a:r>
            <a:endParaRPr lang="en-US" sz="1100" dirty="0"/>
          </a:p>
        </p:txBody>
      </p:sp>
      <p:sp>
        <p:nvSpPr>
          <p:cNvPr id="39" name="Text 31"/>
          <p:cNvSpPr/>
          <p:nvPr/>
        </p:nvSpPr>
        <p:spPr>
          <a:xfrm>
            <a:off x="10149840" y="3227832"/>
            <a:ext cx="868680" cy="256032"/>
          </a:xfrm>
          <a:prstGeom prst="rect">
            <a:avLst/>
          </a:prstGeom>
          <a:noFill/>
          <a:ln/>
        </p:spPr>
        <p:txBody>
          <a:bodyPr wrap="square" lIns="0" tIns="0" rIns="0" bIns="0" rtlCol="0" anchor="ctr"/>
          <a:lstStyle/>
          <a:p>
            <a:pPr algn="r" indent="0" marL="0">
              <a:buNone/>
            </a:pPr>
            <a:r>
              <a:rPr lang="en-US" sz="1100" b="1" dirty="0">
                <a:solidFill>
                  <a:srgbClr val="C63D3D"/>
                </a:solidFill>
                <a:latin typeface="Arial" pitchFamily="34" charset="0"/>
                <a:ea typeface="Arial" pitchFamily="34" charset="-122"/>
                <a:cs typeface="Arial" pitchFamily="34" charset="-120"/>
              </a:rPr>
              <a:t>~500</a:t>
            </a:r>
            <a:endParaRPr lang="en-US" sz="1100" dirty="0"/>
          </a:p>
        </p:txBody>
      </p:sp>
      <p:sp>
        <p:nvSpPr>
          <p:cNvPr id="40" name="Shape 32"/>
          <p:cNvSpPr/>
          <p:nvPr/>
        </p:nvSpPr>
        <p:spPr>
          <a:xfrm>
            <a:off x="7013448" y="3465576"/>
            <a:ext cx="724205" cy="32004"/>
          </a:xfrm>
          <a:prstGeom prst="rect">
            <a:avLst/>
          </a:prstGeom>
          <a:solidFill>
            <a:srgbClr val="C63D3D"/>
          </a:solidFill>
          <a:ln w="12700">
            <a:solidFill>
              <a:srgbClr val="C63D3D"/>
            </a:solidFill>
            <a:prstDash val="solid"/>
          </a:ln>
        </p:spPr>
      </p:sp>
      <p:sp>
        <p:nvSpPr>
          <p:cNvPr id="41" name="Shape 33"/>
          <p:cNvSpPr/>
          <p:nvPr/>
        </p:nvSpPr>
        <p:spPr>
          <a:xfrm>
            <a:off x="6793992" y="3630168"/>
            <a:ext cx="146304" cy="146304"/>
          </a:xfrm>
          <a:prstGeom prst="ellipse">
            <a:avLst/>
          </a:prstGeom>
          <a:solidFill>
            <a:srgbClr val="4C8E4C"/>
          </a:solidFill>
          <a:ln w="12700">
            <a:solidFill>
              <a:srgbClr val="4C8E4C"/>
            </a:solidFill>
            <a:prstDash val="solid"/>
          </a:ln>
        </p:spPr>
      </p:sp>
      <p:sp>
        <p:nvSpPr>
          <p:cNvPr id="42" name="Text 34"/>
          <p:cNvSpPr/>
          <p:nvPr/>
        </p:nvSpPr>
        <p:spPr>
          <a:xfrm>
            <a:off x="7013448" y="3575304"/>
            <a:ext cx="3154680" cy="256032"/>
          </a:xfrm>
          <a:prstGeom prst="rect">
            <a:avLst/>
          </a:prstGeom>
          <a:noFill/>
          <a:ln/>
        </p:spPr>
        <p:txBody>
          <a:bodyPr wrap="square" lIns="0" tIns="0" rIns="0" bIns="0" rtlCol="0" anchor="ctr"/>
          <a:lstStyle/>
          <a:p>
            <a:pPr indent="0" marL="0">
              <a:buNone/>
            </a:pPr>
            <a:r>
              <a:rPr lang="en-US" sz="1100" b="1" dirty="0">
                <a:solidFill>
                  <a:srgbClr val="262626"/>
                </a:solidFill>
                <a:latin typeface="Arial" pitchFamily="34" charset="0"/>
                <a:ea typeface="Arial" pitchFamily="34" charset="-122"/>
                <a:cs typeface="Arial" pitchFamily="34" charset="-120"/>
              </a:rPr>
              <a:t>Other / residual events</a:t>
            </a:r>
            <a:endParaRPr lang="en-US" sz="1100" dirty="0"/>
          </a:p>
        </p:txBody>
      </p:sp>
      <p:sp>
        <p:nvSpPr>
          <p:cNvPr id="43" name="Text 35"/>
          <p:cNvSpPr/>
          <p:nvPr/>
        </p:nvSpPr>
        <p:spPr>
          <a:xfrm>
            <a:off x="10149840" y="3575304"/>
            <a:ext cx="868680" cy="256032"/>
          </a:xfrm>
          <a:prstGeom prst="rect">
            <a:avLst/>
          </a:prstGeom>
          <a:noFill/>
          <a:ln/>
        </p:spPr>
        <p:txBody>
          <a:bodyPr wrap="square" lIns="0" tIns="0" rIns="0" bIns="0" rtlCol="0" anchor="ctr"/>
          <a:lstStyle/>
          <a:p>
            <a:pPr algn="r" indent="0" marL="0">
              <a:buNone/>
            </a:pPr>
            <a:r>
              <a:rPr lang="en-US" sz="1100" b="1" dirty="0">
                <a:solidFill>
                  <a:srgbClr val="4C8E4C"/>
                </a:solidFill>
                <a:latin typeface="Arial" pitchFamily="34" charset="0"/>
                <a:ea typeface="Arial" pitchFamily="34" charset="-122"/>
                <a:cs typeface="Arial" pitchFamily="34" charset="-120"/>
              </a:rPr>
              <a:t>~5,700</a:t>
            </a:r>
            <a:endParaRPr lang="en-US" sz="1100" dirty="0"/>
          </a:p>
        </p:txBody>
      </p:sp>
      <p:sp>
        <p:nvSpPr>
          <p:cNvPr id="44" name="Shape 36"/>
          <p:cNvSpPr/>
          <p:nvPr/>
        </p:nvSpPr>
        <p:spPr>
          <a:xfrm>
            <a:off x="7013448" y="3813048"/>
            <a:ext cx="2816352" cy="32004"/>
          </a:xfrm>
          <a:prstGeom prst="rect">
            <a:avLst/>
          </a:prstGeom>
          <a:solidFill>
            <a:srgbClr val="4C8E4C"/>
          </a:solidFill>
          <a:ln w="12700">
            <a:solidFill>
              <a:srgbClr val="4C8E4C"/>
            </a:solidFill>
            <a:prstDash val="solid"/>
          </a:ln>
        </p:spPr>
      </p:sp>
      <p:pic>
        <p:nvPicPr>
          <p:cNvPr id="45" name="Image 6" descr="preencoded.png">    </p:cNvPr>
          <p:cNvPicPr>
            <a:picLocks noChangeAspect="1"/>
          </p:cNvPicPr>
          <p:nvPr/>
        </p:nvPicPr>
        <p:blipFill>
          <a:blip r:embed="rId7"/>
          <a:stretch>
            <a:fillRect/>
          </a:stretch>
        </p:blipFill>
        <p:spPr>
          <a:xfrm>
            <a:off x="6629400" y="4288536"/>
            <a:ext cx="164592" cy="164592"/>
          </a:xfrm>
          <a:prstGeom prst="rect">
            <a:avLst/>
          </a:prstGeom>
        </p:spPr>
      </p:pic>
      <p:sp>
        <p:nvSpPr>
          <p:cNvPr id="46" name="Text 37"/>
          <p:cNvSpPr/>
          <p:nvPr/>
        </p:nvSpPr>
        <p:spPr>
          <a:xfrm>
            <a:off x="6876288" y="4251960"/>
            <a:ext cx="4480560" cy="256032"/>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Granular root-cause groups surface automatically</a:t>
            </a:r>
            <a:endParaRPr lang="en-US" sz="1150" dirty="0"/>
          </a:p>
        </p:txBody>
      </p:sp>
      <p:pic>
        <p:nvPicPr>
          <p:cNvPr id="47" name="Image 7" descr="preencoded.png">    </p:cNvPr>
          <p:cNvPicPr>
            <a:picLocks noChangeAspect="1"/>
          </p:cNvPicPr>
          <p:nvPr/>
        </p:nvPicPr>
        <p:blipFill>
          <a:blip r:embed="rId8"/>
          <a:stretch>
            <a:fillRect/>
          </a:stretch>
        </p:blipFill>
        <p:spPr>
          <a:xfrm>
            <a:off x="6629400" y="4581144"/>
            <a:ext cx="164592" cy="164592"/>
          </a:xfrm>
          <a:prstGeom prst="rect">
            <a:avLst/>
          </a:prstGeom>
        </p:spPr>
      </p:pic>
      <p:sp>
        <p:nvSpPr>
          <p:cNvPr id="48" name="Text 38"/>
          <p:cNvSpPr/>
          <p:nvPr/>
        </p:nvSpPr>
        <p:spPr>
          <a:xfrm>
            <a:off x="6876288" y="4544568"/>
            <a:ext cx="4480560" cy="256032"/>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New incidents auto-tagged to existing clusters</a:t>
            </a:r>
            <a:endParaRPr lang="en-US" sz="1150" dirty="0"/>
          </a:p>
        </p:txBody>
      </p:sp>
      <p:pic>
        <p:nvPicPr>
          <p:cNvPr id="49" name="Image 8" descr="preencoded.png">    </p:cNvPr>
          <p:cNvPicPr>
            <a:picLocks noChangeAspect="1"/>
          </p:cNvPicPr>
          <p:nvPr/>
        </p:nvPicPr>
        <p:blipFill>
          <a:blip r:embed="rId9"/>
          <a:stretch>
            <a:fillRect/>
          </a:stretch>
        </p:blipFill>
        <p:spPr>
          <a:xfrm>
            <a:off x="6629400" y="4873752"/>
            <a:ext cx="164592" cy="164592"/>
          </a:xfrm>
          <a:prstGeom prst="rect">
            <a:avLst/>
          </a:prstGeom>
        </p:spPr>
      </p:pic>
      <p:sp>
        <p:nvSpPr>
          <p:cNvPr id="50" name="Text 39"/>
          <p:cNvSpPr/>
          <p:nvPr/>
        </p:nvSpPr>
        <p:spPr>
          <a:xfrm>
            <a:off x="6876288" y="4837176"/>
            <a:ext cx="4480560" cy="256032"/>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Hidden failure patterns become visible at scale</a:t>
            </a:r>
            <a:endParaRPr lang="en-US" sz="1150" dirty="0"/>
          </a:p>
        </p:txBody>
      </p:sp>
      <p:pic>
        <p:nvPicPr>
          <p:cNvPr id="51" name="Image 9" descr="preencoded.png">    </p:cNvPr>
          <p:cNvPicPr>
            <a:picLocks noChangeAspect="1"/>
          </p:cNvPicPr>
          <p:nvPr/>
        </p:nvPicPr>
        <p:blipFill>
          <a:blip r:embed="rId10"/>
          <a:stretch>
            <a:fillRect/>
          </a:stretch>
        </p:blipFill>
        <p:spPr>
          <a:xfrm>
            <a:off x="6629400" y="5166360"/>
            <a:ext cx="164592" cy="164592"/>
          </a:xfrm>
          <a:prstGeom prst="rect">
            <a:avLst/>
          </a:prstGeom>
        </p:spPr>
      </p:pic>
      <p:sp>
        <p:nvSpPr>
          <p:cNvPr id="52" name="Text 40"/>
          <p:cNvSpPr/>
          <p:nvPr/>
        </p:nvSpPr>
        <p:spPr>
          <a:xfrm>
            <a:off x="6876288" y="5129784"/>
            <a:ext cx="4480560" cy="256032"/>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Foundation for predictive risk scoring</a:t>
            </a:r>
            <a:endParaRPr lang="en-US" sz="1150" dirty="0"/>
          </a:p>
        </p:txBody>
      </p:sp>
      <p:pic>
        <p:nvPicPr>
          <p:cNvPr id="53" name="Image 10" descr="preencoded.png">    </p:cNvPr>
          <p:cNvPicPr>
            <a:picLocks noChangeAspect="1"/>
          </p:cNvPicPr>
          <p:nvPr/>
        </p:nvPicPr>
        <p:blipFill>
          <a:blip r:embed="rId11"/>
          <a:stretch>
            <a:fillRect/>
          </a:stretch>
        </p:blipFill>
        <p:spPr>
          <a:xfrm>
            <a:off x="1097280" y="5897880"/>
            <a:ext cx="274320" cy="274320"/>
          </a:xfrm>
          <a:prstGeom prst="rect">
            <a:avLst/>
          </a:prstGeom>
        </p:spPr>
      </p:pic>
      <p:sp>
        <p:nvSpPr>
          <p:cNvPr id="54" name="Text 41"/>
          <p:cNvSpPr/>
          <p:nvPr/>
        </p:nvSpPr>
        <p:spPr>
          <a:xfrm>
            <a:off x="1463040" y="5852160"/>
            <a:ext cx="9875520" cy="365760"/>
          </a:xfrm>
          <a:prstGeom prst="rect">
            <a:avLst/>
          </a:prstGeom>
          <a:noFill/>
          <a:ln/>
        </p:spPr>
        <p:txBody>
          <a:bodyPr wrap="square" lIns="0" tIns="0" rIns="0" bIns="0" rtlCol="0" anchor="ctr"/>
          <a:lstStyle/>
          <a:p>
            <a:pPr indent="0" marL="0">
              <a:buNone/>
            </a:pPr>
            <a:r>
              <a:rPr lang="en-US" sz="1300" b="1" dirty="0">
                <a:solidFill>
                  <a:srgbClr val="00915A"/>
                </a:solidFill>
                <a:latin typeface="Arial" pitchFamily="34" charset="0"/>
                <a:ea typeface="Arial" pitchFamily="34" charset="-122"/>
                <a:cs typeface="Arial" pitchFamily="34" charset="-120"/>
              </a:rPr>
              <a:t>Concrete shift: </a:t>
            </a:r>
            <a:pPr indent="0" marL="0">
              <a:buNone/>
            </a:pPr>
            <a:r>
              <a:rPr lang="en-US" sz="1300" dirty="0">
                <a:solidFill>
                  <a:srgbClr val="595959"/>
                </a:solidFill>
                <a:latin typeface="Arial" pitchFamily="34" charset="0"/>
                <a:ea typeface="Arial" pitchFamily="34" charset="-122"/>
                <a:cs typeface="Arial" pitchFamily="34" charset="-120"/>
              </a:rPr>
              <a:t>from </a:t>
            </a:r>
            <a:pPr indent="0" marL="0">
              <a:buNone/>
            </a:pPr>
            <a:r>
              <a:rPr lang="en-US" sz="1300" i="1" dirty="0">
                <a:solidFill>
                  <a:srgbClr val="595959"/>
                </a:solidFill>
                <a:latin typeface="Arial" pitchFamily="34" charset="0"/>
                <a:ea typeface="Arial" pitchFamily="34" charset="-122"/>
                <a:cs typeface="Arial" pitchFamily="34" charset="-120"/>
              </a:rPr>
              <a:t>reading incidents one by one</a:t>
            </a:r>
            <a:pPr indent="0" marL="0">
              <a:buNone/>
            </a:pPr>
            <a:r>
              <a:rPr lang="en-US" sz="1300" dirty="0">
                <a:solidFill>
                  <a:srgbClr val="595959"/>
                </a:solidFill>
                <a:latin typeface="Arial" pitchFamily="34" charset="0"/>
                <a:ea typeface="Arial" pitchFamily="34" charset="-122"/>
                <a:cs typeface="Arial" pitchFamily="34" charset="-120"/>
              </a:rPr>
              <a:t> to </a:t>
            </a:r>
            <a:pPr indent="0" marL="0">
              <a:buNone/>
            </a:pPr>
            <a:r>
              <a:rPr lang="en-US" sz="1300" b="1" i="1" dirty="0">
                <a:solidFill>
                  <a:srgbClr val="262626"/>
                </a:solidFill>
                <a:latin typeface="Arial" pitchFamily="34" charset="0"/>
                <a:ea typeface="Arial" pitchFamily="34" charset="-122"/>
                <a:cs typeface="Arial" pitchFamily="34" charset="-120"/>
              </a:rPr>
              <a:t>managing root-cause families</a:t>
            </a:r>
            <a:pPr indent="0" marL="0">
              <a:buNone/>
            </a:pPr>
            <a:r>
              <a:rPr lang="en-US" sz="1300" dirty="0">
                <a:solidFill>
                  <a:srgbClr val="595959"/>
                </a:solidFill>
                <a:latin typeface="Arial" pitchFamily="34" charset="0"/>
                <a:ea typeface="Arial" pitchFamily="34" charset="-122"/>
                <a:cs typeface="Arial" pitchFamily="34" charset="-120"/>
              </a:rPr>
              <a:t> — making OpRisk data navigable and actionable.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MLION - Concrete Value</dc:title>
  <dc:subject>PptxGenJS Presentation</dc:subject>
  <dc:creator>Zakaria GUAAYBESS</dc:creator>
  <cp:lastModifiedBy>Zakaria GUAAYBESS</cp:lastModifiedBy>
  <cp:revision>1</cp:revision>
  <dcterms:created xsi:type="dcterms:W3CDTF">2026-06-22T14:37:13Z</dcterms:created>
  <dcterms:modified xsi:type="dcterms:W3CDTF">2026-06-22T14:37:13Z</dcterms:modified>
</cp:coreProperties>
</file>