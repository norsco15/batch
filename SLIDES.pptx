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012459"/>
            <a:ext cx="6429375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D2D2D"/>
                </a:solidFill>
              </a:rPr>
              <a:t>Fin de Rotation –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D2D2D"/>
                </a:solidFill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D2D2D"/>
                </a:solidFill>
              </a:rPr>
              <a:t>Graduate Programme (BP2I)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2161152"/>
            <a:ext cx="6429375" cy="62507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915A"/>
                </a:solidFill>
              </a:rPr>
              <a:t>Risk &amp; Control Management –</a:t>
            </a:r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915A"/>
                </a:solidFill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915A"/>
                </a:solidFill>
              </a:rPr>
              <a:t>Automatisation &amp; Amélioration des Contrôles</a:t>
            </a:r>
            <a:endParaRPr lang="en-US" sz="1704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246109"/>
            <a:ext cx="214313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92969" y="3214855"/>
            <a:ext cx="110432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[VOTRE NOM]</a:t>
            </a:r>
            <a:endParaRPr lang="en-US" sz="1269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87223"/>
            <a:ext cx="214313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2969" y="3555969"/>
            <a:ext cx="21395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[DATE DÉBUT] – [DATE FIN]</a:t>
            </a:r>
            <a:endParaRPr lang="en-US" sz="1269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28337"/>
            <a:ext cx="214313" cy="171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92969" y="3897083"/>
            <a:ext cx="280612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BP2I – Risk &amp; Control Management</a:t>
            </a:r>
            <a:endParaRPr lang="en-US" sz="1269" dirty="0"/>
          </a:p>
        </p:txBody>
      </p:sp>
      <p:sp>
        <p:nvSpPr>
          <p:cNvPr id="11" name="Shape 5"/>
          <p:cNvSpPr/>
          <p:nvPr/>
        </p:nvSpPr>
        <p:spPr>
          <a:xfrm>
            <a:off x="7340398" y="4380905"/>
            <a:ext cx="1446414" cy="405408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00915A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7340398" y="4380905"/>
            <a:ext cx="1446414" cy="405408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915A"/>
                </a:solidFill>
              </a:rPr>
              <a:t>BNP PARIBAS</a:t>
            </a:r>
            <a:endParaRPr lang="en-US" sz="119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52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3296645" cy="56614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66192"/>
            <a:ext cx="3296645" cy="28575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296645" cy="566142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D2D2D"/>
                </a:solidFill>
              </a:rPr>
              <a:t>Contexte &amp; Mission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037630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Une mission centrée sur l'automatisation et la fiabilisation des processus de contrôle</a:t>
            </a:r>
            <a:endParaRPr lang="en-US" sz="1269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93949"/>
            <a:ext cx="200025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2963" y="1557338"/>
            <a:ext cx="155622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915A"/>
                </a:solidFill>
              </a:rPr>
              <a:t>Contexte Initial</a:t>
            </a:r>
            <a:endParaRPr lang="en-US" sz="1397" dirty="0"/>
          </a:p>
        </p:txBody>
      </p:sp>
      <p:sp>
        <p:nvSpPr>
          <p:cNvPr id="9" name="Shape 5"/>
          <p:cNvSpPr/>
          <p:nvPr/>
        </p:nvSpPr>
        <p:spPr>
          <a:xfrm>
            <a:off x="571500" y="1937742"/>
            <a:ext cx="3857625" cy="131445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0" name="Shape 6"/>
          <p:cNvSpPr/>
          <p:nvPr/>
        </p:nvSpPr>
        <p:spPr>
          <a:xfrm>
            <a:off x="571500" y="1937742"/>
            <a:ext cx="35719" cy="131445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1" name="Text 7"/>
          <p:cNvSpPr/>
          <p:nvPr/>
        </p:nvSpPr>
        <p:spPr>
          <a:xfrm>
            <a:off x="571500" y="1937742"/>
            <a:ext cx="3857625" cy="131445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2D2D"/>
                </a:solidFill>
              </a:rPr>
              <a:t>L'équipe Risk &amp; Control Management réalise de nombreux contrôles récurrents (changes, risk cards, plans d'actions, KPIs). Ces processus étaient majoritairement manuels, chronophages et exposés aux erreurs humaines.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31679"/>
            <a:ext cx="200025" cy="2000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2963" y="3395067"/>
            <a:ext cx="93092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915A"/>
                </a:solidFill>
              </a:rPr>
              <a:t>Mon Rôle</a:t>
            </a:r>
            <a:endParaRPr lang="en-US" sz="1397" dirty="0"/>
          </a:p>
        </p:txBody>
      </p:sp>
      <p:sp>
        <p:nvSpPr>
          <p:cNvPr id="14" name="Shape 9"/>
          <p:cNvSpPr/>
          <p:nvPr/>
        </p:nvSpPr>
        <p:spPr>
          <a:xfrm>
            <a:off x="571500" y="3775472"/>
            <a:ext cx="3857625" cy="85725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5" name="Shape 10"/>
          <p:cNvSpPr/>
          <p:nvPr/>
        </p:nvSpPr>
        <p:spPr>
          <a:xfrm>
            <a:off x="571500" y="3775472"/>
            <a:ext cx="35719" cy="85725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6" name="Text 11"/>
          <p:cNvSpPr/>
          <p:nvPr/>
        </p:nvSpPr>
        <p:spPr>
          <a:xfrm>
            <a:off x="571500" y="3775472"/>
            <a:ext cx="3857625" cy="85725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2D2D"/>
                </a:solidFill>
              </a:rPr>
              <a:t>Automatiser, fiabiliser et industrialiser les processus récurrents pour améliorer l'efficacité opérationnelle de l'équipe et libérer du temps pour l'analyse.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714875" y="1557338"/>
            <a:ext cx="38576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915A"/>
                </a:solidFill>
              </a:rPr>
              <a:t>3 Axes Stratégiques</a:t>
            </a:r>
            <a:endParaRPr lang="en-US" sz="1397" dirty="0"/>
          </a:p>
        </p:txBody>
      </p:sp>
      <p:sp>
        <p:nvSpPr>
          <p:cNvPr id="18" name="Shape 13"/>
          <p:cNvSpPr/>
          <p:nvPr/>
        </p:nvSpPr>
        <p:spPr>
          <a:xfrm>
            <a:off x="4714875" y="2044898"/>
            <a:ext cx="3857625" cy="795803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00600" y="2185625"/>
            <a:ext cx="500063" cy="500063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080" y="2328500"/>
            <a:ext cx="241102" cy="21431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3538" y="2130623"/>
            <a:ext cx="30432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Productivité</a:t>
            </a:r>
            <a:endParaRPr lang="en-US" sz="1090" dirty="0"/>
          </a:p>
        </p:txBody>
      </p:sp>
      <p:sp>
        <p:nvSpPr>
          <p:cNvPr id="22" name="Text 16"/>
          <p:cNvSpPr/>
          <p:nvPr/>
        </p:nvSpPr>
        <p:spPr>
          <a:xfrm>
            <a:off x="5443538" y="2380655"/>
            <a:ext cx="30432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Réduction significative du temps consacré aux tâches répétitives et manuelles.</a:t>
            </a:r>
            <a:endParaRPr lang="en-US" sz="942" dirty="0"/>
          </a:p>
        </p:txBody>
      </p:sp>
      <p:sp>
        <p:nvSpPr>
          <p:cNvPr id="23" name="Shape 17"/>
          <p:cNvSpPr/>
          <p:nvPr/>
        </p:nvSpPr>
        <p:spPr>
          <a:xfrm>
            <a:off x="4714875" y="2969289"/>
            <a:ext cx="3857625" cy="795803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800600" y="3110015"/>
            <a:ext cx="500063" cy="500063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3475" y="3252890"/>
            <a:ext cx="214313" cy="21431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43538" y="3055014"/>
            <a:ext cx="30432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Qualité &amp; Conformité</a:t>
            </a:r>
            <a:endParaRPr lang="en-US" sz="1090" dirty="0"/>
          </a:p>
        </p:txBody>
      </p:sp>
      <p:sp>
        <p:nvSpPr>
          <p:cNvPr id="27" name="Text 20"/>
          <p:cNvSpPr/>
          <p:nvPr/>
        </p:nvSpPr>
        <p:spPr>
          <a:xfrm>
            <a:off x="5443538" y="3305045"/>
            <a:ext cx="30432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Diminution des erreurs manuelles et amélioration de la fiabilité des contrôles.</a:t>
            </a:r>
            <a:endParaRPr lang="en-US" sz="942" dirty="0"/>
          </a:p>
        </p:txBody>
      </p:sp>
      <p:sp>
        <p:nvSpPr>
          <p:cNvPr id="28" name="Shape 21"/>
          <p:cNvSpPr/>
          <p:nvPr/>
        </p:nvSpPr>
        <p:spPr>
          <a:xfrm>
            <a:off x="4714875" y="3893679"/>
            <a:ext cx="3857625" cy="795803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800600" y="4034405"/>
            <a:ext cx="500063" cy="500063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0080" y="4177280"/>
            <a:ext cx="241102" cy="21431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443538" y="3979404"/>
            <a:ext cx="30432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Standardisation</a:t>
            </a:r>
            <a:endParaRPr lang="en-US" sz="1090" dirty="0"/>
          </a:p>
        </p:txBody>
      </p:sp>
      <p:sp>
        <p:nvSpPr>
          <p:cNvPr id="32" name="Text 24"/>
          <p:cNvSpPr/>
          <p:nvPr/>
        </p:nvSpPr>
        <p:spPr>
          <a:xfrm>
            <a:off x="5443538" y="4229435"/>
            <a:ext cx="30432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Harmonisation des méthodes et renforcement de l'audit trail et de la traçabilité.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167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4411768" cy="56614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66192"/>
            <a:ext cx="4411768" cy="28575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4411768" cy="566142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D2D2D"/>
                </a:solidFill>
              </a:rPr>
              <a:t>Synthèse des Réalisations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037630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Portfolio des automatisations développées durant la rotation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485900"/>
            <a:ext cx="3929063" cy="1318022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485900"/>
            <a:ext cx="35719" cy="1318022"/>
          </a:xfrm>
          <a:prstGeom prst="rect">
            <a:avLst/>
          </a:prstGeom>
          <a:solidFill>
            <a:srgbClr val="00915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628775"/>
            <a:ext cx="28575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07281" y="1635919"/>
            <a:ext cx="273934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Automatisation Contrôles Changes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750094" y="1964531"/>
            <a:ext cx="483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15A"/>
                </a:solidFill>
              </a:rPr>
              <a:t>•</a:t>
            </a: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892969" y="1964531"/>
            <a:ext cx="260571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Échantillonnage et vérification automatisés</a:t>
            </a:r>
            <a:endParaRPr lang="en-US" sz="942" dirty="0"/>
          </a:p>
        </p:txBody>
      </p:sp>
      <p:sp>
        <p:nvSpPr>
          <p:cNvPr id="13" name="Text 9"/>
          <p:cNvSpPr/>
          <p:nvPr/>
        </p:nvSpPr>
        <p:spPr>
          <a:xfrm>
            <a:off x="750094" y="2196703"/>
            <a:ext cx="483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15A"/>
                </a:solidFill>
              </a:rPr>
              <a:t>•</a:t>
            </a:r>
            <a:endParaRPr lang="en-US" sz="885" dirty="0"/>
          </a:p>
        </p:txBody>
      </p:sp>
      <p:sp>
        <p:nvSpPr>
          <p:cNvPr id="14" name="Text 10"/>
          <p:cNvSpPr/>
          <p:nvPr/>
        </p:nvSpPr>
        <p:spPr>
          <a:xfrm>
            <a:off x="892969" y="2196703"/>
            <a:ext cx="257085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Génération de rapports Excel multi-feuilles</a:t>
            </a:r>
            <a:endParaRPr lang="en-US" sz="942" dirty="0"/>
          </a:p>
        </p:txBody>
      </p:sp>
      <p:sp>
        <p:nvSpPr>
          <p:cNvPr id="15" name="Text 11"/>
          <p:cNvSpPr/>
          <p:nvPr/>
        </p:nvSpPr>
        <p:spPr>
          <a:xfrm>
            <a:off x="750094" y="2428875"/>
            <a:ext cx="483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15A"/>
                </a:solidFill>
              </a:rPr>
              <a:t>•</a:t>
            </a:r>
            <a:endParaRPr lang="en-US" sz="885" dirty="0"/>
          </a:p>
        </p:txBody>
      </p:sp>
      <p:sp>
        <p:nvSpPr>
          <p:cNvPr id="16" name="Text 12"/>
          <p:cNvSpPr/>
          <p:nvPr/>
        </p:nvSpPr>
        <p:spPr>
          <a:xfrm>
            <a:off x="892969" y="2428875"/>
            <a:ext cx="268069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Réduction drastique du temps de traitement</a:t>
            </a:r>
            <a:endParaRPr lang="en-US" sz="942" dirty="0"/>
          </a:p>
        </p:txBody>
      </p:sp>
      <p:sp>
        <p:nvSpPr>
          <p:cNvPr id="17" name="Shape 13"/>
          <p:cNvSpPr/>
          <p:nvPr/>
        </p:nvSpPr>
        <p:spPr>
          <a:xfrm>
            <a:off x="4643438" y="1485900"/>
            <a:ext cx="3929063" cy="1318022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8" name="Shape 14"/>
          <p:cNvSpPr/>
          <p:nvPr/>
        </p:nvSpPr>
        <p:spPr>
          <a:xfrm>
            <a:off x="4643438" y="1485900"/>
            <a:ext cx="35719" cy="1318022"/>
          </a:xfrm>
          <a:prstGeom prst="rect">
            <a:avLst/>
          </a:prstGeom>
          <a:solidFill>
            <a:srgbClr val="00915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1628775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22069" y="1635919"/>
            <a:ext cx="22094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Automatisation Calculs KPIs</a:t>
            </a:r>
            <a:endParaRPr lang="en-US" sz="1090" dirty="0"/>
          </a:p>
        </p:txBody>
      </p:sp>
      <p:sp>
        <p:nvSpPr>
          <p:cNvPr id="21" name="Text 16"/>
          <p:cNvSpPr/>
          <p:nvPr/>
        </p:nvSpPr>
        <p:spPr>
          <a:xfrm>
            <a:off x="4822031" y="1964531"/>
            <a:ext cx="483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15A"/>
                </a:solidFill>
              </a:rPr>
              <a:t>•</a:t>
            </a:r>
            <a:endParaRPr lang="en-US" sz="885" dirty="0"/>
          </a:p>
        </p:txBody>
      </p:sp>
      <p:sp>
        <p:nvSpPr>
          <p:cNvPr id="22" name="Text 17"/>
          <p:cNvSpPr/>
          <p:nvPr/>
        </p:nvSpPr>
        <p:spPr>
          <a:xfrm>
            <a:off x="4964906" y="1964531"/>
            <a:ext cx="25156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Calcul mensuel automatisé depuis extract</a:t>
            </a:r>
            <a:endParaRPr lang="en-US" sz="942" dirty="0"/>
          </a:p>
        </p:txBody>
      </p:sp>
      <p:sp>
        <p:nvSpPr>
          <p:cNvPr id="23" name="Text 18"/>
          <p:cNvSpPr/>
          <p:nvPr/>
        </p:nvSpPr>
        <p:spPr>
          <a:xfrm>
            <a:off x="4822031" y="2196703"/>
            <a:ext cx="483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15A"/>
                </a:solidFill>
              </a:rPr>
              <a:t>•</a:t>
            </a:r>
            <a:endParaRPr lang="en-US" sz="885" dirty="0"/>
          </a:p>
        </p:txBody>
      </p:sp>
      <p:sp>
        <p:nvSpPr>
          <p:cNvPr id="24" name="Text 19"/>
          <p:cNvSpPr/>
          <p:nvPr/>
        </p:nvSpPr>
        <p:spPr>
          <a:xfrm>
            <a:off x="4964906" y="2196703"/>
            <a:ext cx="230277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Détection des dépassements de seuils</a:t>
            </a:r>
            <a:endParaRPr lang="en-US" sz="942" dirty="0"/>
          </a:p>
        </p:txBody>
      </p:sp>
      <p:sp>
        <p:nvSpPr>
          <p:cNvPr id="25" name="Text 20"/>
          <p:cNvSpPr/>
          <p:nvPr/>
        </p:nvSpPr>
        <p:spPr>
          <a:xfrm>
            <a:off x="4822031" y="2428875"/>
            <a:ext cx="483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15A"/>
                </a:solidFill>
              </a:rPr>
              <a:t>•</a:t>
            </a:r>
            <a:endParaRPr lang="en-US" sz="885" dirty="0"/>
          </a:p>
        </p:txBody>
      </p:sp>
      <p:sp>
        <p:nvSpPr>
          <p:cNvPr id="26" name="Text 21"/>
          <p:cNvSpPr/>
          <p:nvPr/>
        </p:nvSpPr>
        <p:spPr>
          <a:xfrm>
            <a:off x="4964906" y="2428875"/>
            <a:ext cx="20702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Fiabilisation du reporting mensuel</a:t>
            </a:r>
            <a:endParaRPr lang="en-US" sz="942" dirty="0"/>
          </a:p>
        </p:txBody>
      </p:sp>
      <p:sp>
        <p:nvSpPr>
          <p:cNvPr id="27" name="Shape 22"/>
          <p:cNvSpPr/>
          <p:nvPr/>
        </p:nvSpPr>
        <p:spPr>
          <a:xfrm>
            <a:off x="571500" y="2946797"/>
            <a:ext cx="3929063" cy="1318022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8" name="Shape 23"/>
          <p:cNvSpPr/>
          <p:nvPr/>
        </p:nvSpPr>
        <p:spPr>
          <a:xfrm>
            <a:off x="571500" y="2946797"/>
            <a:ext cx="35719" cy="1318022"/>
          </a:xfrm>
          <a:prstGeom prst="rect">
            <a:avLst/>
          </a:prstGeom>
          <a:solidFill>
            <a:srgbClr val="00915A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089672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50131" y="3096816"/>
            <a:ext cx="250706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Contrôle Qualité (Plans &amp; Cards)</a:t>
            </a:r>
            <a:endParaRPr lang="en-US" sz="1090" dirty="0"/>
          </a:p>
        </p:txBody>
      </p:sp>
      <p:sp>
        <p:nvSpPr>
          <p:cNvPr id="31" name="Text 25"/>
          <p:cNvSpPr/>
          <p:nvPr/>
        </p:nvSpPr>
        <p:spPr>
          <a:xfrm>
            <a:off x="750094" y="3425428"/>
            <a:ext cx="483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15A"/>
                </a:solidFill>
              </a:rPr>
              <a:t>•</a:t>
            </a:r>
            <a:endParaRPr lang="en-US" sz="885" dirty="0"/>
          </a:p>
        </p:txBody>
      </p:sp>
      <p:sp>
        <p:nvSpPr>
          <p:cNvPr id="32" name="Text 26"/>
          <p:cNvSpPr/>
          <p:nvPr/>
        </p:nvSpPr>
        <p:spPr>
          <a:xfrm>
            <a:off x="892969" y="3425428"/>
            <a:ext cx="260571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Validation automatique selon règles métier</a:t>
            </a:r>
            <a:endParaRPr lang="en-US" sz="942" dirty="0"/>
          </a:p>
        </p:txBody>
      </p:sp>
      <p:sp>
        <p:nvSpPr>
          <p:cNvPr id="33" name="Text 27"/>
          <p:cNvSpPr/>
          <p:nvPr/>
        </p:nvSpPr>
        <p:spPr>
          <a:xfrm>
            <a:off x="750094" y="3657600"/>
            <a:ext cx="483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15A"/>
                </a:solidFill>
              </a:rPr>
              <a:t>•</a:t>
            </a:r>
            <a:endParaRPr lang="en-US" sz="885" dirty="0"/>
          </a:p>
        </p:txBody>
      </p:sp>
      <p:sp>
        <p:nvSpPr>
          <p:cNvPr id="34" name="Text 28"/>
          <p:cNvSpPr/>
          <p:nvPr/>
        </p:nvSpPr>
        <p:spPr>
          <a:xfrm>
            <a:off x="892969" y="3657600"/>
            <a:ext cx="261433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Rapport de déviations et recommandations</a:t>
            </a:r>
            <a:endParaRPr lang="en-US" sz="942" dirty="0"/>
          </a:p>
        </p:txBody>
      </p:sp>
      <p:sp>
        <p:nvSpPr>
          <p:cNvPr id="35" name="Text 29"/>
          <p:cNvSpPr/>
          <p:nvPr/>
        </p:nvSpPr>
        <p:spPr>
          <a:xfrm>
            <a:off x="750094" y="3889772"/>
            <a:ext cx="483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15A"/>
                </a:solidFill>
              </a:rPr>
              <a:t>•</a:t>
            </a:r>
            <a:endParaRPr lang="en-US" sz="885" dirty="0"/>
          </a:p>
        </p:txBody>
      </p:sp>
      <p:sp>
        <p:nvSpPr>
          <p:cNvPr id="36" name="Text 30"/>
          <p:cNvSpPr/>
          <p:nvPr/>
        </p:nvSpPr>
        <p:spPr>
          <a:xfrm>
            <a:off x="892969" y="3889772"/>
            <a:ext cx="260481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Amélioration de la conformité des données</a:t>
            </a:r>
            <a:endParaRPr lang="en-US" sz="942" dirty="0"/>
          </a:p>
        </p:txBody>
      </p:sp>
      <p:sp>
        <p:nvSpPr>
          <p:cNvPr id="37" name="Shape 31"/>
          <p:cNvSpPr/>
          <p:nvPr/>
        </p:nvSpPr>
        <p:spPr>
          <a:xfrm>
            <a:off x="4643438" y="2946797"/>
            <a:ext cx="3929063" cy="1318022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8" name="Shape 32"/>
          <p:cNvSpPr/>
          <p:nvPr/>
        </p:nvSpPr>
        <p:spPr>
          <a:xfrm>
            <a:off x="4643438" y="2946797"/>
            <a:ext cx="35719" cy="1318022"/>
          </a:xfrm>
          <a:prstGeom prst="rect">
            <a:avLst/>
          </a:prstGeom>
          <a:solidFill>
            <a:srgbClr val="00915A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3089672"/>
            <a:ext cx="257175" cy="22860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150644" y="3096816"/>
            <a:ext cx="21422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Génération des Score Cards</a:t>
            </a:r>
            <a:endParaRPr lang="en-US" sz="1090" dirty="0"/>
          </a:p>
        </p:txBody>
      </p:sp>
      <p:sp>
        <p:nvSpPr>
          <p:cNvPr id="41" name="Text 34"/>
          <p:cNvSpPr/>
          <p:nvPr/>
        </p:nvSpPr>
        <p:spPr>
          <a:xfrm>
            <a:off x="4822031" y="3425428"/>
            <a:ext cx="483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15A"/>
                </a:solidFill>
              </a:rPr>
              <a:t>•</a:t>
            </a:r>
            <a:endParaRPr lang="en-US" sz="885" dirty="0"/>
          </a:p>
        </p:txBody>
      </p:sp>
      <p:sp>
        <p:nvSpPr>
          <p:cNvPr id="42" name="Text 35"/>
          <p:cNvSpPr/>
          <p:nvPr/>
        </p:nvSpPr>
        <p:spPr>
          <a:xfrm>
            <a:off x="4964906" y="3425428"/>
            <a:ext cx="235598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Arborescence automatique de dossiers</a:t>
            </a:r>
            <a:endParaRPr lang="en-US" sz="942" dirty="0"/>
          </a:p>
        </p:txBody>
      </p:sp>
      <p:sp>
        <p:nvSpPr>
          <p:cNvPr id="43" name="Text 36"/>
          <p:cNvSpPr/>
          <p:nvPr/>
        </p:nvSpPr>
        <p:spPr>
          <a:xfrm>
            <a:off x="4822031" y="3657600"/>
            <a:ext cx="483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15A"/>
                </a:solidFill>
              </a:rPr>
              <a:t>•</a:t>
            </a:r>
            <a:endParaRPr lang="en-US" sz="885" dirty="0"/>
          </a:p>
        </p:txBody>
      </p:sp>
      <p:sp>
        <p:nvSpPr>
          <p:cNvPr id="44" name="Text 37"/>
          <p:cNvSpPr/>
          <p:nvPr/>
        </p:nvSpPr>
        <p:spPr>
          <a:xfrm>
            <a:off x="4964906" y="3657600"/>
            <a:ext cx="229414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Pré-remplissage des documents Word</a:t>
            </a:r>
            <a:endParaRPr lang="en-US" sz="942" dirty="0"/>
          </a:p>
        </p:txBody>
      </p:sp>
      <p:sp>
        <p:nvSpPr>
          <p:cNvPr id="45" name="Text 38"/>
          <p:cNvSpPr/>
          <p:nvPr/>
        </p:nvSpPr>
        <p:spPr>
          <a:xfrm>
            <a:off x="4822031" y="3889772"/>
            <a:ext cx="483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15A"/>
                </a:solidFill>
              </a:rPr>
              <a:t>•</a:t>
            </a:r>
            <a:endParaRPr lang="en-US" sz="885" dirty="0"/>
          </a:p>
        </p:txBody>
      </p:sp>
      <p:sp>
        <p:nvSpPr>
          <p:cNvPr id="46" name="Text 39"/>
          <p:cNvSpPr/>
          <p:nvPr/>
        </p:nvSpPr>
        <p:spPr>
          <a:xfrm>
            <a:off x="4964906" y="3889772"/>
            <a:ext cx="223616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Standardisation de la documentation</a:t>
            </a:r>
            <a:endParaRPr lang="en-US" sz="942" dirty="0"/>
          </a:p>
        </p:txBody>
      </p:sp>
      <p:sp>
        <p:nvSpPr>
          <p:cNvPr id="47" name="Shape 40"/>
          <p:cNvSpPr/>
          <p:nvPr/>
        </p:nvSpPr>
        <p:spPr>
          <a:xfrm>
            <a:off x="571500" y="4479131"/>
            <a:ext cx="8001000" cy="480417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8" name="Text 41"/>
          <p:cNvSpPr/>
          <p:nvPr/>
        </p:nvSpPr>
        <p:spPr>
          <a:xfrm>
            <a:off x="785813" y="4622006"/>
            <a:ext cx="147847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915A"/>
                </a:solidFill>
              </a:rPr>
              <a:t>Autres contributions</a:t>
            </a:r>
            <a:endParaRPr lang="en-US" sz="987" dirty="0"/>
          </a:p>
        </p:txBody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7165" y="4655046"/>
            <a:ext cx="160734" cy="128588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2639337" y="4631829"/>
            <a:ext cx="9951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RCSA en binôme</a:t>
            </a:r>
            <a:endParaRPr lang="en-US" sz="942" dirty="0"/>
          </a:p>
        </p:txBody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0244" y="4655046"/>
            <a:ext cx="160734" cy="128588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4152416" y="4631829"/>
            <a:ext cx="13527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Scripts ad hoc support</a:t>
            </a:r>
            <a:endParaRPr lang="en-US" sz="942" dirty="0"/>
          </a:p>
        </p:txBody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0930" y="4655046"/>
            <a:ext cx="128588" cy="128588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5990955" y="4631829"/>
            <a:ext cx="134207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Amélioration continue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9381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6431021" cy="5089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09042"/>
            <a:ext cx="6431021" cy="28575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6431021" cy="508992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2D2D"/>
                </a:solidFill>
              </a:rPr>
              <a:t>Automatisation #1 : Contrôles des Changes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571500" y="980480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Industrialisation du contrôle bi-annuel et annuel des changes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328738"/>
            <a:ext cx="8001000" cy="86618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328738"/>
            <a:ext cx="35719" cy="866180"/>
          </a:xfrm>
          <a:prstGeom prst="rect">
            <a:avLst/>
          </a:prstGeom>
          <a:solidFill>
            <a:srgbClr val="D32F2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8934"/>
            <a:ext cx="142875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0113" y="1443038"/>
            <a:ext cx="1149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32F2F"/>
                </a:solidFill>
              </a:rPr>
              <a:t>Problème Initial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685800" y="1694855"/>
            <a:ext cx="77724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D2D2D"/>
                </a:solidFill>
              </a:rPr>
              <a:t>Contrôle manuel réalisé 2x/an sur des milliers de changes. Processus chronophage (plusieurs jours), sujet aux erreurs humaines et difficilement reproductible à l'identique.</a:t>
            </a:r>
            <a:endParaRPr lang="en-US" sz="942" dirty="0"/>
          </a:p>
        </p:txBody>
      </p:sp>
      <p:sp>
        <p:nvSpPr>
          <p:cNvPr id="12" name="Shape 8"/>
          <p:cNvSpPr/>
          <p:nvPr/>
        </p:nvSpPr>
        <p:spPr>
          <a:xfrm>
            <a:off x="571500" y="2280642"/>
            <a:ext cx="8001000" cy="1337974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3" name="Shape 9"/>
          <p:cNvSpPr/>
          <p:nvPr/>
        </p:nvSpPr>
        <p:spPr>
          <a:xfrm>
            <a:off x="1214438" y="2366367"/>
            <a:ext cx="457200" cy="457200"/>
          </a:xfrm>
          <a:prstGeom prst="ellipse">
            <a:avLst/>
          </a:prstGeom>
          <a:solidFill>
            <a:srgbClr val="E0E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163" y="2480667"/>
            <a:ext cx="28575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53086" y="2895005"/>
            <a:ext cx="3798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</a:rPr>
              <a:t>Avant</a:t>
            </a:r>
            <a:endParaRPr lang="en-US" sz="885" dirty="0"/>
          </a:p>
        </p:txBody>
      </p:sp>
      <p:sp>
        <p:nvSpPr>
          <p:cNvPr id="16" name="Text 11"/>
          <p:cNvSpPr/>
          <p:nvPr/>
        </p:nvSpPr>
        <p:spPr>
          <a:xfrm>
            <a:off x="996218" y="3112889"/>
            <a:ext cx="89363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Traitement manuel</a:t>
            </a:r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Risque d'erreurs</a:t>
            </a:r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Méthode variable</a:t>
            </a:r>
            <a:endParaRPr lang="en-US" sz="727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363" y="2843352"/>
            <a:ext cx="214313" cy="214313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343400" y="2366367"/>
            <a:ext cx="457200" cy="45720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988" y="2480667"/>
            <a:ext cx="200025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140250" y="2895005"/>
            <a:ext cx="8634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</a:rPr>
              <a:t>Script Python</a:t>
            </a:r>
            <a:endParaRPr lang="en-US" sz="885" dirty="0"/>
          </a:p>
        </p:txBody>
      </p:sp>
      <p:sp>
        <p:nvSpPr>
          <p:cNvPr id="21" name="Text 14"/>
          <p:cNvSpPr/>
          <p:nvPr/>
        </p:nvSpPr>
        <p:spPr>
          <a:xfrm>
            <a:off x="4074226" y="3112889"/>
            <a:ext cx="995549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Échantillonnage auto</a:t>
            </a:r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Vérification règles</a:t>
            </a:r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Génération Excel</a:t>
            </a:r>
            <a:endParaRPr lang="en-US" sz="727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9325" y="2843352"/>
            <a:ext cx="214313" cy="214313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472363" y="2366367"/>
            <a:ext cx="457200" cy="457200"/>
          </a:xfrm>
          <a:prstGeom prst="ellipse">
            <a:avLst/>
          </a:prstGeom>
          <a:solidFill>
            <a:srgbClr val="2D2D2D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5238" y="2480667"/>
            <a:ext cx="171450" cy="2286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518043" y="2895005"/>
            <a:ext cx="3658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</a:rPr>
              <a:t>Après</a:t>
            </a:r>
            <a:endParaRPr lang="en-US" sz="885" dirty="0"/>
          </a:p>
        </p:txBody>
      </p:sp>
      <p:sp>
        <p:nvSpPr>
          <p:cNvPr id="26" name="Text 17"/>
          <p:cNvSpPr/>
          <p:nvPr/>
        </p:nvSpPr>
        <p:spPr>
          <a:xfrm>
            <a:off x="7275240" y="3112889"/>
            <a:ext cx="85141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Exécution rapide</a:t>
            </a:r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Fiabilité maximale</a:t>
            </a:r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Standardisé</a:t>
            </a:r>
            <a:endParaRPr lang="en-US" sz="727" dirty="0"/>
          </a:p>
        </p:txBody>
      </p:sp>
      <p:sp>
        <p:nvSpPr>
          <p:cNvPr id="27" name="Text 18"/>
          <p:cNvSpPr/>
          <p:nvPr/>
        </p:nvSpPr>
        <p:spPr>
          <a:xfrm>
            <a:off x="571500" y="3704341"/>
            <a:ext cx="8001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00915A"/>
                </a:solidFill>
              </a:rPr>
              <a:t>Impact &amp; Résultats</a:t>
            </a:r>
            <a:endParaRPr lang="en-US" sz="987" dirty="0"/>
          </a:p>
        </p:txBody>
      </p:sp>
      <p:sp>
        <p:nvSpPr>
          <p:cNvPr id="28" name="Shape 19"/>
          <p:cNvSpPr/>
          <p:nvPr/>
        </p:nvSpPr>
        <p:spPr>
          <a:xfrm>
            <a:off x="571500" y="3984734"/>
            <a:ext cx="2609841" cy="7518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9" name="Shape 20"/>
          <p:cNvSpPr/>
          <p:nvPr/>
        </p:nvSpPr>
        <p:spPr>
          <a:xfrm>
            <a:off x="571500" y="3984734"/>
            <a:ext cx="28575" cy="751880"/>
          </a:xfrm>
          <a:prstGeom prst="rect">
            <a:avLst/>
          </a:prstGeom>
          <a:solidFill>
            <a:srgbClr val="00915A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4118679"/>
            <a:ext cx="150019" cy="17145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878681" y="4086532"/>
            <a:ext cx="79658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2D2D"/>
                </a:solidFill>
              </a:rPr>
              <a:t>__ j → __ h</a:t>
            </a:r>
            <a:endParaRPr lang="en-US" sz="1193" dirty="0"/>
          </a:p>
        </p:txBody>
      </p:sp>
      <p:sp>
        <p:nvSpPr>
          <p:cNvPr id="32" name="Text 22"/>
          <p:cNvSpPr/>
          <p:nvPr/>
        </p:nvSpPr>
        <p:spPr>
          <a:xfrm>
            <a:off x="657225" y="4356209"/>
            <a:ext cx="23828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Réduction drastique du temps de traitement</a:t>
            </a:r>
            <a:endParaRPr lang="en-US" sz="834" dirty="0"/>
          </a:p>
        </p:txBody>
      </p:sp>
      <p:sp>
        <p:nvSpPr>
          <p:cNvPr id="33" name="Shape 23"/>
          <p:cNvSpPr/>
          <p:nvPr/>
        </p:nvSpPr>
        <p:spPr>
          <a:xfrm>
            <a:off x="3267066" y="3984734"/>
            <a:ext cx="2609841" cy="7518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4" name="Shape 24"/>
          <p:cNvSpPr/>
          <p:nvPr/>
        </p:nvSpPr>
        <p:spPr>
          <a:xfrm>
            <a:off x="3267066" y="3984734"/>
            <a:ext cx="28575" cy="751880"/>
          </a:xfrm>
          <a:prstGeom prst="rect">
            <a:avLst/>
          </a:prstGeom>
          <a:solidFill>
            <a:srgbClr val="00915A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2791" y="4102605"/>
            <a:ext cx="171450" cy="17145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3595678" y="4070459"/>
            <a:ext cx="100539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2D2D"/>
                </a:solidFill>
              </a:rPr>
              <a:t>100% Fiable</a:t>
            </a:r>
            <a:endParaRPr lang="en-US" sz="1193" dirty="0"/>
          </a:p>
        </p:txBody>
      </p:sp>
      <p:sp>
        <p:nvSpPr>
          <p:cNvPr id="37" name="Text 26"/>
          <p:cNvSpPr/>
          <p:nvPr/>
        </p:nvSpPr>
        <p:spPr>
          <a:xfrm>
            <a:off x="3352791" y="4340135"/>
            <a:ext cx="18314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Élimination des erreurs manuelles</a:t>
            </a:r>
            <a:endParaRPr lang="en-US" sz="834" dirty="0"/>
          </a:p>
        </p:txBody>
      </p:sp>
      <p:sp>
        <p:nvSpPr>
          <p:cNvPr id="38" name="Shape 27"/>
          <p:cNvSpPr/>
          <p:nvPr/>
        </p:nvSpPr>
        <p:spPr>
          <a:xfrm>
            <a:off x="5962631" y="3984734"/>
            <a:ext cx="2609869" cy="7518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9" name="Shape 28"/>
          <p:cNvSpPr/>
          <p:nvPr/>
        </p:nvSpPr>
        <p:spPr>
          <a:xfrm>
            <a:off x="5962631" y="3984734"/>
            <a:ext cx="28575" cy="751880"/>
          </a:xfrm>
          <a:prstGeom prst="rect">
            <a:avLst/>
          </a:prstGeom>
          <a:solidFill>
            <a:srgbClr val="00915A"/>
          </a:solidFill>
          <a:ln/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48356" y="4102605"/>
            <a:ext cx="171450" cy="17145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291244" y="4070459"/>
            <a:ext cx="12017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2D2D"/>
                </a:solidFill>
              </a:rPr>
              <a:t>Reproductible</a:t>
            </a:r>
            <a:endParaRPr lang="en-US" sz="1193" dirty="0"/>
          </a:p>
        </p:txBody>
      </p:sp>
      <p:sp>
        <p:nvSpPr>
          <p:cNvPr id="42" name="Text 30"/>
          <p:cNvSpPr/>
          <p:nvPr/>
        </p:nvSpPr>
        <p:spPr>
          <a:xfrm>
            <a:off x="6048356" y="4340135"/>
            <a:ext cx="19381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Même méthode appliquée à chaque</a:t>
            </a:r>
            <a:endParaRPr lang="en-US" sz="834" dirty="0"/>
          </a:p>
        </p:txBody>
      </p:sp>
      <p:sp>
        <p:nvSpPr>
          <p:cNvPr id="43" name="Text 31"/>
          <p:cNvSpPr/>
          <p:nvPr/>
        </p:nvSpPr>
        <p:spPr>
          <a:xfrm>
            <a:off x="6048356" y="4495512"/>
            <a:ext cx="5656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campagne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6674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7810574" cy="56614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66192"/>
            <a:ext cx="7810574" cy="28575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7810574" cy="566142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D2D2D"/>
                </a:solidFill>
              </a:rPr>
              <a:t>Automatisation #2 – Calcul des KPIs Mensuels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037630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Optimisation du reporting mensuel et détection proactive des anomalies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414463"/>
            <a:ext cx="3893344" cy="1064419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414463"/>
            <a:ext cx="35719" cy="1064419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56" y="1550194"/>
            <a:ext cx="157163" cy="1571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7256" y="1521619"/>
            <a:ext cx="7105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Contexte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678656" y="1793081"/>
            <a:ext cx="367903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Calcul mensuel de métriques pour saisie dans MyPIB. Processus manuel, répétitif et sujet à l'interprétation subjective des données.</a:t>
            </a:r>
            <a:endParaRPr lang="en-US" sz="942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43188"/>
            <a:ext cx="200025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7250" y="2621756"/>
            <a:ext cx="36075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2D2D"/>
                </a:solidFill>
              </a:rPr>
              <a:t>Automatisation du calcul</a:t>
            </a:r>
            <a:endParaRPr lang="en-US" sz="987" dirty="0"/>
          </a:p>
        </p:txBody>
      </p:sp>
      <p:sp>
        <p:nvSpPr>
          <p:cNvPr id="14" name="Text 9"/>
          <p:cNvSpPr/>
          <p:nvPr/>
        </p:nvSpPr>
        <p:spPr>
          <a:xfrm>
            <a:off x="857250" y="2844998"/>
            <a:ext cx="32429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Génération automatique de tous les KPIs à partir d'un</a:t>
            </a:r>
            <a:endParaRPr lang="en-US" sz="942" dirty="0"/>
          </a:p>
        </p:txBody>
      </p:sp>
      <p:sp>
        <p:nvSpPr>
          <p:cNvPr id="15" name="Text 10"/>
          <p:cNvSpPr/>
          <p:nvPr/>
        </p:nvSpPr>
        <p:spPr>
          <a:xfrm>
            <a:off x="857250" y="3020020"/>
            <a:ext cx="11906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extract de données.</a:t>
            </a:r>
            <a:endParaRPr lang="en-US" sz="942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02198"/>
            <a:ext cx="200025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7250" y="3280767"/>
            <a:ext cx="277517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2D2D"/>
                </a:solidFill>
              </a:rPr>
              <a:t>Output Excel enrichi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857250" y="3504009"/>
            <a:ext cx="27751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Fichier avec résultats et analyse pré-formatée.</a:t>
            </a:r>
            <a:endParaRPr lang="en-US" sz="942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86188"/>
            <a:ext cx="171450" cy="1714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28675" y="3764756"/>
            <a:ext cx="363616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2D2D"/>
                </a:solidFill>
              </a:rPr>
              <a:t>Détection intelligente</a:t>
            </a:r>
            <a:endParaRPr lang="en-US" sz="987" dirty="0"/>
          </a:p>
        </p:txBody>
      </p:sp>
      <p:sp>
        <p:nvSpPr>
          <p:cNvPr id="21" name="Text 14"/>
          <p:cNvSpPr/>
          <p:nvPr/>
        </p:nvSpPr>
        <p:spPr>
          <a:xfrm>
            <a:off x="828675" y="3987998"/>
            <a:ext cx="34858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Identification automatique des dépassements de seuils et</a:t>
            </a:r>
            <a:endParaRPr lang="en-US" sz="942" dirty="0"/>
          </a:p>
        </p:txBody>
      </p:sp>
      <p:sp>
        <p:nvSpPr>
          <p:cNvPr id="22" name="Text 15"/>
          <p:cNvSpPr/>
          <p:nvPr/>
        </p:nvSpPr>
        <p:spPr>
          <a:xfrm>
            <a:off x="828675" y="4163020"/>
            <a:ext cx="11021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points d'attention.</a:t>
            </a:r>
            <a:endParaRPr lang="en-US" sz="942" dirty="0"/>
          </a:p>
        </p:txBody>
      </p:sp>
      <p:sp>
        <p:nvSpPr>
          <p:cNvPr id="23" name="Shape 16"/>
          <p:cNvSpPr/>
          <p:nvPr/>
        </p:nvSpPr>
        <p:spPr>
          <a:xfrm>
            <a:off x="5068491" y="1414463"/>
            <a:ext cx="3114675" cy="651867"/>
          </a:xfrm>
          <a:prstGeom prst="rect">
            <a:avLst/>
          </a:prstGeom>
          <a:solidFill>
            <a:srgbClr val="FFFFFF"/>
          </a:solidFill>
          <a:ln w="18288">
            <a:solidFill>
              <a:srgbClr val="E0E0E0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8317" y="1500188"/>
            <a:ext cx="175022" cy="20002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154216" y="1757363"/>
            <a:ext cx="29432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2D2D"/>
                </a:solidFill>
              </a:rPr>
              <a:t>Input: Extract Données</a:t>
            </a:r>
            <a:endParaRPr lang="en-US" sz="987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0" y="2150269"/>
            <a:ext cx="107156" cy="142875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5068491" y="2403872"/>
            <a:ext cx="3114675" cy="823317"/>
          </a:xfrm>
          <a:prstGeom prst="rect">
            <a:avLst/>
          </a:prstGeom>
          <a:solidFill>
            <a:srgbClr val="F0FDF4"/>
          </a:solidFill>
          <a:ln w="18288">
            <a:solidFill>
              <a:srgbClr val="00915A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0813" y="2489597"/>
            <a:ext cx="250031" cy="200025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154216" y="2746772"/>
            <a:ext cx="29432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2D2D"/>
                </a:solidFill>
              </a:rPr>
              <a:t>Traitement Automatique</a:t>
            </a:r>
            <a:endParaRPr lang="en-US" sz="987" dirty="0"/>
          </a:p>
        </p:txBody>
      </p:sp>
      <p:sp>
        <p:nvSpPr>
          <p:cNvPr id="30" name="Text 20"/>
          <p:cNvSpPr/>
          <p:nvPr/>
        </p:nvSpPr>
        <p:spPr>
          <a:xfrm>
            <a:off x="5154216" y="2977158"/>
            <a:ext cx="29432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Calculs + Règles de gestion</a:t>
            </a:r>
            <a:endParaRPr lang="en-US" sz="727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250" y="3311128"/>
            <a:ext cx="107156" cy="142875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5068491" y="3564731"/>
            <a:ext cx="3114675" cy="823317"/>
          </a:xfrm>
          <a:prstGeom prst="rect">
            <a:avLst/>
          </a:prstGeom>
          <a:solidFill>
            <a:srgbClr val="FFFFFF"/>
          </a:solidFill>
          <a:ln w="18288">
            <a:solidFill>
              <a:srgbClr val="E0E0E0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5816" y="3650456"/>
            <a:ext cx="200025" cy="200025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154216" y="3907631"/>
            <a:ext cx="29432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2D2D"/>
                </a:solidFill>
              </a:rPr>
              <a:t>Output: Rapport Analysé</a:t>
            </a:r>
            <a:endParaRPr lang="en-US" sz="987" dirty="0"/>
          </a:p>
        </p:txBody>
      </p:sp>
      <p:sp>
        <p:nvSpPr>
          <p:cNvPr id="35" name="Text 23"/>
          <p:cNvSpPr/>
          <p:nvPr/>
        </p:nvSpPr>
        <p:spPr>
          <a:xfrm>
            <a:off x="5154216" y="4138017"/>
            <a:ext cx="29432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KPIs + Anomalies détectées</a:t>
            </a:r>
            <a:endParaRPr lang="en-US" sz="727" dirty="0"/>
          </a:p>
        </p:txBody>
      </p:sp>
      <p:sp>
        <p:nvSpPr>
          <p:cNvPr id="36" name="Shape 24"/>
          <p:cNvSpPr/>
          <p:nvPr/>
        </p:nvSpPr>
        <p:spPr>
          <a:xfrm>
            <a:off x="571500" y="4538067"/>
            <a:ext cx="1935956" cy="63579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7" name="Text 25"/>
          <p:cNvSpPr/>
          <p:nvPr/>
        </p:nvSpPr>
        <p:spPr>
          <a:xfrm>
            <a:off x="657225" y="4623792"/>
            <a:ext cx="176450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915A"/>
                </a:solidFill>
              </a:rPr>
              <a:t>__ min</a:t>
            </a:r>
            <a:endParaRPr lang="en-US" sz="1397" dirty="0"/>
          </a:p>
        </p:txBody>
      </p:sp>
      <p:sp>
        <p:nvSpPr>
          <p:cNvPr id="38" name="Text 26"/>
          <p:cNvSpPr/>
          <p:nvPr/>
        </p:nvSpPr>
        <p:spPr>
          <a:xfrm>
            <a:off x="657225" y="4932759"/>
            <a:ext cx="17645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Temps de production</a:t>
            </a:r>
            <a:endParaRPr lang="en-US" sz="834" dirty="0"/>
          </a:p>
        </p:txBody>
      </p:sp>
      <p:sp>
        <p:nvSpPr>
          <p:cNvPr id="39" name="Shape 27"/>
          <p:cNvSpPr/>
          <p:nvPr/>
        </p:nvSpPr>
        <p:spPr>
          <a:xfrm>
            <a:off x="2593181" y="4538067"/>
            <a:ext cx="1935956" cy="63579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0" name="Text 28"/>
          <p:cNvSpPr/>
          <p:nvPr/>
        </p:nvSpPr>
        <p:spPr>
          <a:xfrm>
            <a:off x="2678906" y="4623792"/>
            <a:ext cx="176450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915A"/>
                </a:solidFill>
              </a:rPr>
              <a:t>100%</a:t>
            </a:r>
            <a:endParaRPr lang="en-US" sz="1397" dirty="0"/>
          </a:p>
        </p:txBody>
      </p:sp>
      <p:sp>
        <p:nvSpPr>
          <p:cNvPr id="41" name="Text 29"/>
          <p:cNvSpPr/>
          <p:nvPr/>
        </p:nvSpPr>
        <p:spPr>
          <a:xfrm>
            <a:off x="2678906" y="4932759"/>
            <a:ext cx="17645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Cohérence chiffres</a:t>
            </a:r>
            <a:endParaRPr lang="en-US" sz="834" dirty="0"/>
          </a:p>
        </p:txBody>
      </p:sp>
      <p:sp>
        <p:nvSpPr>
          <p:cNvPr id="42" name="Shape 30"/>
          <p:cNvSpPr/>
          <p:nvPr/>
        </p:nvSpPr>
        <p:spPr>
          <a:xfrm>
            <a:off x="4614863" y="4538067"/>
            <a:ext cx="1935956" cy="63579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3" name="Text 31"/>
          <p:cNvSpPr/>
          <p:nvPr/>
        </p:nvSpPr>
        <p:spPr>
          <a:xfrm>
            <a:off x="4700588" y="4623792"/>
            <a:ext cx="176450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915A"/>
                </a:solidFill>
              </a:rPr>
              <a:t>J+1</a:t>
            </a:r>
            <a:endParaRPr lang="en-US" sz="1397" dirty="0"/>
          </a:p>
        </p:txBody>
      </p:sp>
      <p:sp>
        <p:nvSpPr>
          <p:cNvPr id="44" name="Text 32"/>
          <p:cNvSpPr/>
          <p:nvPr/>
        </p:nvSpPr>
        <p:spPr>
          <a:xfrm>
            <a:off x="4700588" y="4932759"/>
            <a:ext cx="17645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Disponibilité</a:t>
            </a:r>
            <a:endParaRPr lang="en-US" sz="834" dirty="0"/>
          </a:p>
        </p:txBody>
      </p:sp>
      <p:sp>
        <p:nvSpPr>
          <p:cNvPr id="45" name="Shape 33"/>
          <p:cNvSpPr/>
          <p:nvPr/>
        </p:nvSpPr>
        <p:spPr>
          <a:xfrm>
            <a:off x="6636544" y="4538067"/>
            <a:ext cx="1935956" cy="63579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6" name="Text 34"/>
          <p:cNvSpPr/>
          <p:nvPr/>
        </p:nvSpPr>
        <p:spPr>
          <a:xfrm>
            <a:off x="6722269" y="4623792"/>
            <a:ext cx="176450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915A"/>
                </a:solidFill>
              </a:rPr>
              <a:t>Proactif</a:t>
            </a:r>
            <a:endParaRPr lang="en-US" sz="1397" dirty="0"/>
          </a:p>
        </p:txBody>
      </p:sp>
      <p:sp>
        <p:nvSpPr>
          <p:cNvPr id="47" name="Text 35"/>
          <p:cNvSpPr/>
          <p:nvPr/>
        </p:nvSpPr>
        <p:spPr>
          <a:xfrm>
            <a:off x="6722269" y="4932759"/>
            <a:ext cx="17645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Détection écarts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863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5576813" cy="5089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09042"/>
            <a:ext cx="5576813" cy="28575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5576813" cy="508992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2D2D"/>
                </a:solidFill>
              </a:rPr>
              <a:t>Automatisation #3 – Contrôle Qualité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571500" y="980480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Leadership sur le contrôle qualité et amélioration de la conformité des données</a:t>
            </a:r>
            <a:endParaRPr lang="en-US" sz="1269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28763"/>
            <a:ext cx="157163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0100" y="1500188"/>
            <a:ext cx="111194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915A"/>
                </a:solidFill>
              </a:rPr>
              <a:t>Sujet &amp; Inputs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571500" y="1785938"/>
            <a:ext cx="32004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D2D2D"/>
                </a:solidFill>
              </a:rPr>
              <a:t>Prise en charge du lead sur un contrôle de qualité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D2D2D"/>
                </a:solidFill>
              </a:rPr>
              <a:t>critique (Plans d'actions &amp; Risk Cards).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D2D2D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D2D2D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D2D2D"/>
                </a:solidFill>
              </a:rPr>
              <a:t>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D2D2D"/>
                </a:solidFill>
              </a:rPr>
              <a:t>Inputs 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D2D2D"/>
                </a:solidFill>
              </a:rPr>
              <a:t> Extracts Excel bruts.</a:t>
            </a:r>
            <a:endParaRPr lang="en-US" sz="942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43225"/>
            <a:ext cx="196453" cy="1571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9391" y="2914650"/>
            <a:ext cx="198465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915A"/>
                </a:solidFill>
              </a:rPr>
              <a:t>Traitements Automatisés</a:t>
            </a:r>
            <a:endParaRPr lang="en-US" sz="1090" dirty="0"/>
          </a:p>
        </p:txBody>
      </p:sp>
      <p:sp>
        <p:nvSpPr>
          <p:cNvPr id="12" name="Text 7"/>
          <p:cNvSpPr/>
          <p:nvPr/>
        </p:nvSpPr>
        <p:spPr>
          <a:xfrm>
            <a:off x="642938" y="3200400"/>
            <a:ext cx="483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15A"/>
                </a:solidFill>
              </a:rPr>
              <a:t>•</a:t>
            </a:r>
            <a:endParaRPr lang="en-US" sz="885" dirty="0"/>
          </a:p>
        </p:txBody>
      </p:sp>
      <p:sp>
        <p:nvSpPr>
          <p:cNvPr id="13" name="Text 8"/>
          <p:cNvSpPr/>
          <p:nvPr/>
        </p:nvSpPr>
        <p:spPr>
          <a:xfrm>
            <a:off x="785813" y="3200400"/>
            <a:ext cx="2448967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2D2D2D"/>
                </a:solidFill>
              </a:rPr>
              <a:t>Validation de règles métier (complétude, cohérence dates, format, statuts)</a:t>
            </a:r>
            <a:endParaRPr lang="en-US" sz="942" dirty="0"/>
          </a:p>
        </p:txBody>
      </p:sp>
      <p:sp>
        <p:nvSpPr>
          <p:cNvPr id="14" name="Text 9"/>
          <p:cNvSpPr/>
          <p:nvPr/>
        </p:nvSpPr>
        <p:spPr>
          <a:xfrm>
            <a:off x="642938" y="3607594"/>
            <a:ext cx="483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15A"/>
                </a:solidFill>
              </a:rPr>
              <a:t>•</a:t>
            </a:r>
            <a:endParaRPr lang="en-US" sz="885" dirty="0"/>
          </a:p>
        </p:txBody>
      </p:sp>
      <p:sp>
        <p:nvSpPr>
          <p:cNvPr id="15" name="Text 10"/>
          <p:cNvSpPr/>
          <p:nvPr/>
        </p:nvSpPr>
        <p:spPr>
          <a:xfrm>
            <a:off x="785813" y="3607594"/>
            <a:ext cx="269444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2D2D2D"/>
                </a:solidFill>
              </a:rPr>
              <a:t>Génération d'un rapport de déviations précis</a:t>
            </a:r>
            <a:endParaRPr lang="en-US" sz="942" dirty="0"/>
          </a:p>
        </p:txBody>
      </p:sp>
      <p:sp>
        <p:nvSpPr>
          <p:cNvPr id="16" name="Text 11"/>
          <p:cNvSpPr/>
          <p:nvPr/>
        </p:nvSpPr>
        <p:spPr>
          <a:xfrm>
            <a:off x="642938" y="3839766"/>
            <a:ext cx="483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15A"/>
                </a:solidFill>
              </a:rPr>
              <a:t>•</a:t>
            </a:r>
            <a:endParaRPr lang="en-US" sz="885" dirty="0"/>
          </a:p>
        </p:txBody>
      </p:sp>
      <p:sp>
        <p:nvSpPr>
          <p:cNvPr id="17" name="Text 12"/>
          <p:cNvSpPr/>
          <p:nvPr/>
        </p:nvSpPr>
        <p:spPr>
          <a:xfrm>
            <a:off x="785813" y="3839766"/>
            <a:ext cx="28403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2D2D2D"/>
                </a:solidFill>
              </a:rPr>
              <a:t>Recommandations de correction automatiques</a:t>
            </a:r>
            <a:endParaRPr lang="en-US" sz="942" dirty="0"/>
          </a:p>
        </p:txBody>
      </p:sp>
      <p:sp>
        <p:nvSpPr>
          <p:cNvPr id="18" name="Shape 13"/>
          <p:cNvSpPr/>
          <p:nvPr/>
        </p:nvSpPr>
        <p:spPr>
          <a:xfrm>
            <a:off x="4129088" y="1500188"/>
            <a:ext cx="4443413" cy="193417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271963" y="1643063"/>
            <a:ext cx="41576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555555"/>
                </a:solidFill>
              </a:rPr>
              <a:t>Exemple de Rapport de Déviations (Extrait)</a:t>
            </a:r>
            <a:endParaRPr lang="en-US" sz="784" dirty="0"/>
          </a:p>
        </p:txBody>
      </p:sp>
      <p:sp>
        <p:nvSpPr>
          <p:cNvPr id="20" name="Shape 15"/>
          <p:cNvSpPr/>
          <p:nvPr/>
        </p:nvSpPr>
        <p:spPr>
          <a:xfrm>
            <a:off x="4271963" y="1869877"/>
            <a:ext cx="719649" cy="278606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21" name="Text 16"/>
          <p:cNvSpPr/>
          <p:nvPr/>
        </p:nvSpPr>
        <p:spPr>
          <a:xfrm>
            <a:off x="4271963" y="1869877"/>
            <a:ext cx="719649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Règle</a:t>
            </a:r>
            <a:endParaRPr lang="en-US" sz="683" dirty="0"/>
          </a:p>
        </p:txBody>
      </p:sp>
      <p:sp>
        <p:nvSpPr>
          <p:cNvPr id="22" name="Shape 17"/>
          <p:cNvSpPr/>
          <p:nvPr/>
        </p:nvSpPr>
        <p:spPr>
          <a:xfrm>
            <a:off x="4991612" y="1869877"/>
            <a:ext cx="731788" cy="278606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23" name="Text 18"/>
          <p:cNvSpPr/>
          <p:nvPr/>
        </p:nvSpPr>
        <p:spPr>
          <a:xfrm>
            <a:off x="4991612" y="1869877"/>
            <a:ext cx="731788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Champ</a:t>
            </a:r>
            <a:endParaRPr lang="en-US" sz="683" dirty="0"/>
          </a:p>
        </p:txBody>
      </p:sp>
      <p:sp>
        <p:nvSpPr>
          <p:cNvPr id="24" name="Shape 19"/>
          <p:cNvSpPr/>
          <p:nvPr/>
        </p:nvSpPr>
        <p:spPr>
          <a:xfrm>
            <a:off x="5723399" y="1869877"/>
            <a:ext cx="1422443" cy="278606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25" name="Text 20"/>
          <p:cNvSpPr/>
          <p:nvPr/>
        </p:nvSpPr>
        <p:spPr>
          <a:xfrm>
            <a:off x="5723399" y="1869877"/>
            <a:ext cx="1422443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Anomalie</a:t>
            </a:r>
            <a:endParaRPr lang="en-US" sz="683" dirty="0"/>
          </a:p>
        </p:txBody>
      </p:sp>
      <p:sp>
        <p:nvSpPr>
          <p:cNvPr id="26" name="Shape 21"/>
          <p:cNvSpPr/>
          <p:nvPr/>
        </p:nvSpPr>
        <p:spPr>
          <a:xfrm>
            <a:off x="7145843" y="1869877"/>
            <a:ext cx="1283782" cy="278606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27" name="Text 22"/>
          <p:cNvSpPr/>
          <p:nvPr/>
        </p:nvSpPr>
        <p:spPr>
          <a:xfrm>
            <a:off x="7145843" y="1869877"/>
            <a:ext cx="1283782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Action Recommandée</a:t>
            </a:r>
            <a:endParaRPr lang="en-US" sz="683" dirty="0"/>
          </a:p>
        </p:txBody>
      </p:sp>
      <p:sp>
        <p:nvSpPr>
          <p:cNvPr id="28" name="Text 23"/>
          <p:cNvSpPr/>
          <p:nvPr/>
        </p:nvSpPr>
        <p:spPr>
          <a:xfrm>
            <a:off x="4271963" y="2148483"/>
            <a:ext cx="719649" cy="41790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2D2D"/>
                </a:solidFill>
              </a:rPr>
              <a:t>Complétude</a:t>
            </a:r>
            <a:endParaRPr lang="en-US" sz="727" dirty="0"/>
          </a:p>
        </p:txBody>
      </p:sp>
      <p:sp>
        <p:nvSpPr>
          <p:cNvPr id="29" name="Text 24"/>
          <p:cNvSpPr/>
          <p:nvPr/>
        </p:nvSpPr>
        <p:spPr>
          <a:xfrm>
            <a:off x="4991612" y="2148483"/>
            <a:ext cx="731788" cy="41790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2D2D"/>
                </a:solidFill>
              </a:rPr>
              <a:t>Description</a:t>
            </a:r>
            <a:endParaRPr lang="en-US" sz="727" dirty="0"/>
          </a:p>
        </p:txBody>
      </p:sp>
      <p:sp>
        <p:nvSpPr>
          <p:cNvPr id="30" name="Text 25"/>
          <p:cNvSpPr/>
          <p:nvPr/>
        </p:nvSpPr>
        <p:spPr>
          <a:xfrm>
            <a:off x="5723399" y="2148483"/>
            <a:ext cx="1422443" cy="41790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2D2D"/>
                </a:solidFill>
              </a:rPr>
              <a:t>Champ vide</a:t>
            </a:r>
            <a:endParaRPr lang="en-US" sz="727" dirty="0"/>
          </a:p>
        </p:txBody>
      </p:sp>
      <p:sp>
        <p:nvSpPr>
          <p:cNvPr id="31" name="Text 26"/>
          <p:cNvSpPr/>
          <p:nvPr/>
        </p:nvSpPr>
        <p:spPr>
          <a:xfrm>
            <a:off x="7145843" y="2148483"/>
            <a:ext cx="1283782" cy="41790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2D2D"/>
                </a:solidFill>
              </a:rPr>
              <a:t>Compléter la description</a:t>
            </a:r>
            <a:endParaRPr lang="en-US" sz="727" dirty="0"/>
          </a:p>
        </p:txBody>
      </p:sp>
      <p:sp>
        <p:nvSpPr>
          <p:cNvPr id="32" name="Shape 27"/>
          <p:cNvSpPr/>
          <p:nvPr/>
        </p:nvSpPr>
        <p:spPr>
          <a:xfrm>
            <a:off x="4271963" y="2566392"/>
            <a:ext cx="4157663" cy="421481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3" name="Text 28"/>
          <p:cNvSpPr/>
          <p:nvPr/>
        </p:nvSpPr>
        <p:spPr>
          <a:xfrm>
            <a:off x="4271963" y="2566392"/>
            <a:ext cx="719649" cy="42148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2D2D"/>
                </a:solidFill>
              </a:rPr>
              <a:t>Cohérence</a:t>
            </a:r>
            <a:endParaRPr lang="en-US" sz="727" dirty="0"/>
          </a:p>
        </p:txBody>
      </p:sp>
      <p:sp>
        <p:nvSpPr>
          <p:cNvPr id="34" name="Text 29"/>
          <p:cNvSpPr/>
          <p:nvPr/>
        </p:nvSpPr>
        <p:spPr>
          <a:xfrm>
            <a:off x="4991612" y="2566392"/>
            <a:ext cx="731788" cy="42148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2D2D"/>
                </a:solidFill>
              </a:rPr>
              <a:t>Date Clôture</a:t>
            </a:r>
            <a:endParaRPr lang="en-US" sz="727" dirty="0"/>
          </a:p>
        </p:txBody>
      </p:sp>
      <p:sp>
        <p:nvSpPr>
          <p:cNvPr id="35" name="Text 30"/>
          <p:cNvSpPr/>
          <p:nvPr/>
        </p:nvSpPr>
        <p:spPr>
          <a:xfrm>
            <a:off x="5723399" y="2566392"/>
            <a:ext cx="1422443" cy="42148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2D2D"/>
                </a:solidFill>
              </a:rPr>
              <a:t>Antérieure à date ouverture</a:t>
            </a:r>
            <a:endParaRPr lang="en-US" sz="727" dirty="0"/>
          </a:p>
        </p:txBody>
      </p:sp>
      <p:sp>
        <p:nvSpPr>
          <p:cNvPr id="36" name="Text 31"/>
          <p:cNvSpPr/>
          <p:nvPr/>
        </p:nvSpPr>
        <p:spPr>
          <a:xfrm>
            <a:off x="7145843" y="2566392"/>
            <a:ext cx="1283782" cy="42148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2D2D"/>
                </a:solidFill>
              </a:rPr>
              <a:t>Corriger la date</a:t>
            </a:r>
            <a:endParaRPr lang="en-US" sz="727" dirty="0"/>
          </a:p>
        </p:txBody>
      </p:sp>
      <p:sp>
        <p:nvSpPr>
          <p:cNvPr id="37" name="Text 32"/>
          <p:cNvSpPr/>
          <p:nvPr/>
        </p:nvSpPr>
        <p:spPr>
          <a:xfrm>
            <a:off x="4271963" y="2987873"/>
            <a:ext cx="719649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2D2D"/>
                </a:solidFill>
              </a:rPr>
              <a:t>Format</a:t>
            </a:r>
            <a:endParaRPr lang="en-US" sz="727" dirty="0"/>
          </a:p>
        </p:txBody>
      </p:sp>
      <p:sp>
        <p:nvSpPr>
          <p:cNvPr id="38" name="Text 33"/>
          <p:cNvSpPr/>
          <p:nvPr/>
        </p:nvSpPr>
        <p:spPr>
          <a:xfrm>
            <a:off x="4991612" y="2987873"/>
            <a:ext cx="731788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2D2D"/>
                </a:solidFill>
              </a:rPr>
              <a:t>Statut</a:t>
            </a:r>
            <a:endParaRPr lang="en-US" sz="727" dirty="0"/>
          </a:p>
        </p:txBody>
      </p:sp>
      <p:sp>
        <p:nvSpPr>
          <p:cNvPr id="39" name="Text 34"/>
          <p:cNvSpPr/>
          <p:nvPr/>
        </p:nvSpPr>
        <p:spPr>
          <a:xfrm>
            <a:off x="5723399" y="2987873"/>
            <a:ext cx="1422443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2D2D"/>
                </a:solidFill>
              </a:rPr>
              <a:t>Valeur "En cour" (typo)</a:t>
            </a:r>
            <a:endParaRPr lang="en-US" sz="727" dirty="0"/>
          </a:p>
        </p:txBody>
      </p:sp>
      <p:sp>
        <p:nvSpPr>
          <p:cNvPr id="40" name="Text 35"/>
          <p:cNvSpPr/>
          <p:nvPr/>
        </p:nvSpPr>
        <p:spPr>
          <a:xfrm>
            <a:off x="7145843" y="2987873"/>
            <a:ext cx="1283782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2D2D"/>
                </a:solidFill>
              </a:rPr>
              <a:t>Utiliser statut standard</a:t>
            </a:r>
            <a:endParaRPr lang="en-US" sz="727" dirty="0"/>
          </a:p>
        </p:txBody>
      </p:sp>
      <p:sp>
        <p:nvSpPr>
          <p:cNvPr id="41" name="Shape 36"/>
          <p:cNvSpPr/>
          <p:nvPr/>
        </p:nvSpPr>
        <p:spPr>
          <a:xfrm>
            <a:off x="4129088" y="3634383"/>
            <a:ext cx="4443413" cy="1180505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2" name="Shape 37"/>
          <p:cNvSpPr/>
          <p:nvPr/>
        </p:nvSpPr>
        <p:spPr>
          <a:xfrm>
            <a:off x="4129088" y="3634383"/>
            <a:ext cx="35719" cy="1180505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43" name="Text 38"/>
          <p:cNvSpPr/>
          <p:nvPr/>
        </p:nvSpPr>
        <p:spPr>
          <a:xfrm>
            <a:off x="4271963" y="3777258"/>
            <a:ext cx="41576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915A"/>
                </a:solidFill>
              </a:rPr>
              <a:t>Impact</a:t>
            </a:r>
            <a:endParaRPr lang="en-US" sz="1090" dirty="0"/>
          </a:p>
        </p:txBody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963" y="4196953"/>
            <a:ext cx="114300" cy="11430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4457700" y="4176415"/>
            <a:ext cx="16210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D2D2D"/>
                </a:solidFill>
              </a:rPr>
              <a:t>Détection proactive des écarts</a:t>
            </a:r>
            <a:endParaRPr lang="en-US" sz="834" dirty="0"/>
          </a:p>
        </p:txBody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4372" y="4196953"/>
            <a:ext cx="114300" cy="114300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6590109" y="4098727"/>
            <a:ext cx="183951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D2D2D"/>
                </a:solidFill>
              </a:rPr>
              <a:t>Amélioration conformité &amp; data quality</a:t>
            </a:r>
            <a:endParaRPr lang="en-US" sz="834" dirty="0"/>
          </a:p>
        </p:txBody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1963" y="4537174"/>
            <a:ext cx="114300" cy="114300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4457700" y="4516636"/>
            <a:ext cx="14246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D2D2D"/>
                </a:solidFill>
              </a:rPr>
              <a:t>Standardisation des règles</a:t>
            </a:r>
            <a:endParaRPr lang="en-US" sz="834" dirty="0"/>
          </a:p>
        </p:txBody>
      </p:sp>
      <p:sp>
        <p:nvSpPr>
          <p:cNvPr id="50" name="Text 42"/>
          <p:cNvSpPr/>
          <p:nvPr/>
        </p:nvSpPr>
        <p:spPr>
          <a:xfrm>
            <a:off x="6475809" y="4516636"/>
            <a:ext cx="11622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D2D2D"/>
                </a:solidFill>
              </a:rPr>
              <a:t>Facilitation des audits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7127398" cy="5089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09042"/>
            <a:ext cx="7127398" cy="28575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7127398" cy="508992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2D2D"/>
                </a:solidFill>
              </a:rPr>
              <a:t>Automatisation #4 : Génération des Score Cards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571500" y="980480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Industrialisation de la production documentaire pour les contrôles</a:t>
            </a:r>
            <a:endParaRPr lang="en-US" sz="1269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28763"/>
            <a:ext cx="157163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0100" y="1500188"/>
            <a:ext cx="166184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915A"/>
                </a:solidFill>
              </a:rPr>
              <a:t>Contexte &amp; Problème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571500" y="1785938"/>
            <a:ext cx="3786188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2D2D"/>
                </a:solidFill>
              </a:rPr>
              <a:t>L'équipe doit produire des score cards (documents Word) pour des dizaines de contrôles, documentant les évidences et points de vérification. Ce processus manuel était répétitif, chronophage et source d'incohérences.</a:t>
            </a:r>
            <a:endParaRPr lang="en-US" sz="942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23121"/>
            <a:ext cx="196453" cy="1571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9391" y="2794546"/>
            <a:ext cx="16109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915A"/>
                </a:solidFill>
              </a:rPr>
              <a:t>Solution Développée</a:t>
            </a:r>
            <a:endParaRPr lang="en-US" sz="1090" dirty="0"/>
          </a:p>
        </p:txBody>
      </p:sp>
      <p:sp>
        <p:nvSpPr>
          <p:cNvPr id="12" name="Text 7"/>
          <p:cNvSpPr/>
          <p:nvPr/>
        </p:nvSpPr>
        <p:spPr>
          <a:xfrm>
            <a:off x="571500" y="309458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915A"/>
                </a:solidFill>
              </a:rPr>
              <a:t></a:t>
            </a:r>
            <a:endParaRPr lang="en-US" sz="784" dirty="0"/>
          </a:p>
        </p:txBody>
      </p:sp>
      <p:sp>
        <p:nvSpPr>
          <p:cNvPr id="13" name="Text 8"/>
          <p:cNvSpPr/>
          <p:nvPr/>
        </p:nvSpPr>
        <p:spPr>
          <a:xfrm>
            <a:off x="714375" y="3080296"/>
            <a:ext cx="281801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</a:rPr>
              <a:t>Génération automatique de l'arborescence :</a:t>
            </a:r>
            <a:endParaRPr lang="en-US" sz="885" dirty="0"/>
          </a:p>
        </p:txBody>
      </p:sp>
      <p:sp>
        <p:nvSpPr>
          <p:cNvPr id="14" name="Text 9"/>
          <p:cNvSpPr/>
          <p:nvPr/>
        </p:nvSpPr>
        <p:spPr>
          <a:xfrm>
            <a:off x="714375" y="3080296"/>
            <a:ext cx="336479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Création instantanée de la structure complète de répertoires.</a:t>
            </a:r>
            <a:endParaRPr lang="en-US" sz="942" dirty="0"/>
          </a:p>
        </p:txBody>
      </p:sp>
      <p:sp>
        <p:nvSpPr>
          <p:cNvPr id="15" name="Text 10"/>
          <p:cNvSpPr/>
          <p:nvPr/>
        </p:nvSpPr>
        <p:spPr>
          <a:xfrm>
            <a:off x="571500" y="350177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915A"/>
                </a:solidFill>
              </a:rPr>
              <a:t></a:t>
            </a:r>
            <a:endParaRPr lang="en-US" sz="784" dirty="0"/>
          </a:p>
        </p:txBody>
      </p:sp>
      <p:sp>
        <p:nvSpPr>
          <p:cNvPr id="16" name="Text 11"/>
          <p:cNvSpPr/>
          <p:nvPr/>
        </p:nvSpPr>
        <p:spPr>
          <a:xfrm>
            <a:off x="714375" y="3501777"/>
            <a:ext cx="177965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</a:rPr>
              <a:t>Organisation standardisée :</a:t>
            </a:r>
            <a:endParaRPr lang="en-US" sz="885" dirty="0"/>
          </a:p>
        </p:txBody>
      </p:sp>
      <p:sp>
        <p:nvSpPr>
          <p:cNvPr id="17" name="Text 12"/>
          <p:cNvSpPr/>
          <p:nvPr/>
        </p:nvSpPr>
        <p:spPr>
          <a:xfrm>
            <a:off x="714375" y="3501777"/>
            <a:ext cx="329159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1 dossier par contrôle → points de vérification → sous-points.</a:t>
            </a:r>
            <a:endParaRPr lang="en-US" sz="942" dirty="0"/>
          </a:p>
        </p:txBody>
      </p:sp>
      <p:sp>
        <p:nvSpPr>
          <p:cNvPr id="18" name="Text 13"/>
          <p:cNvSpPr/>
          <p:nvPr/>
        </p:nvSpPr>
        <p:spPr>
          <a:xfrm>
            <a:off x="571500" y="393754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915A"/>
                </a:solidFill>
              </a:rPr>
              <a:t></a:t>
            </a:r>
            <a:endParaRPr lang="en-US" sz="784" dirty="0"/>
          </a:p>
        </p:txBody>
      </p:sp>
      <p:sp>
        <p:nvSpPr>
          <p:cNvPr id="19" name="Text 14"/>
          <p:cNvSpPr/>
          <p:nvPr/>
        </p:nvSpPr>
        <p:spPr>
          <a:xfrm>
            <a:off x="714375" y="3923258"/>
            <a:ext cx="211103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</a:rPr>
              <a:t>Pré-remplissage des documents :</a:t>
            </a:r>
            <a:endParaRPr lang="en-US" sz="885" dirty="0"/>
          </a:p>
        </p:txBody>
      </p:sp>
      <p:sp>
        <p:nvSpPr>
          <p:cNvPr id="20" name="Text 15"/>
          <p:cNvSpPr/>
          <p:nvPr/>
        </p:nvSpPr>
        <p:spPr>
          <a:xfrm>
            <a:off x="714375" y="3923258"/>
            <a:ext cx="3541207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Génération des fichiers Word à partir de templates, avec métadonnées pré-saisies.</a:t>
            </a:r>
            <a:endParaRPr lang="en-US" sz="942" dirty="0"/>
          </a:p>
        </p:txBody>
      </p:sp>
      <p:sp>
        <p:nvSpPr>
          <p:cNvPr id="21" name="Shape 16"/>
          <p:cNvSpPr/>
          <p:nvPr/>
        </p:nvSpPr>
        <p:spPr>
          <a:xfrm>
            <a:off x="4786313" y="1500188"/>
            <a:ext cx="3786188" cy="1834158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038" y="1606451"/>
            <a:ext cx="114300" cy="1143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057775" y="1585913"/>
            <a:ext cx="12840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Racine_Contrôles_2024</a:t>
            </a:r>
            <a:endParaRPr lang="en-US" sz="784" dirty="0"/>
          </a:p>
        </p:txBody>
      </p:sp>
      <p:sp>
        <p:nvSpPr>
          <p:cNvPr id="24" name="Text 18"/>
          <p:cNvSpPr/>
          <p:nvPr/>
        </p:nvSpPr>
        <p:spPr>
          <a:xfrm>
            <a:off x="5014913" y="1784152"/>
            <a:ext cx="3429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├──</a:t>
            </a:r>
            <a:endParaRPr lang="en-US" sz="834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0" y="1809155"/>
            <a:ext cx="114300" cy="1143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614988" y="1788616"/>
            <a:ext cx="14739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Contrôle_01_Access_Review</a:t>
            </a:r>
            <a:endParaRPr lang="en-US" sz="834" dirty="0"/>
          </a:p>
        </p:txBody>
      </p:sp>
      <p:sp>
        <p:nvSpPr>
          <p:cNvPr id="27" name="Text 20"/>
          <p:cNvSpPr/>
          <p:nvPr/>
        </p:nvSpPr>
        <p:spPr>
          <a:xfrm>
            <a:off x="5157788" y="1991320"/>
            <a:ext cx="4869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│ ├──</a:t>
            </a:r>
            <a:endParaRPr lang="en-US" sz="834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6144" y="2016323"/>
            <a:ext cx="114300" cy="1143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901882" y="1995785"/>
            <a:ext cx="7010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Point_Verif_A</a:t>
            </a:r>
            <a:endParaRPr lang="en-US" sz="834" dirty="0"/>
          </a:p>
        </p:txBody>
      </p:sp>
      <p:sp>
        <p:nvSpPr>
          <p:cNvPr id="30" name="Text 22"/>
          <p:cNvSpPr/>
          <p:nvPr/>
        </p:nvSpPr>
        <p:spPr>
          <a:xfrm>
            <a:off x="5300663" y="2198489"/>
            <a:ext cx="63093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│ │ └──</a:t>
            </a:r>
            <a:endParaRPr lang="en-US" sz="834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3038" y="2223492"/>
            <a:ext cx="85725" cy="1143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160201" y="2202954"/>
            <a:ext cx="9569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ScoreCard_A.docx</a:t>
            </a:r>
            <a:endParaRPr lang="en-US" sz="834" dirty="0"/>
          </a:p>
        </p:txBody>
      </p:sp>
      <p:sp>
        <p:nvSpPr>
          <p:cNvPr id="33" name="Text 24"/>
          <p:cNvSpPr/>
          <p:nvPr/>
        </p:nvSpPr>
        <p:spPr>
          <a:xfrm>
            <a:off x="5157788" y="2405658"/>
            <a:ext cx="4869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│ └──</a:t>
            </a:r>
            <a:endParaRPr lang="en-US" sz="834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6144" y="2430661"/>
            <a:ext cx="114300" cy="1143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901882" y="2410123"/>
            <a:ext cx="7022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Point_Verif_B</a:t>
            </a:r>
            <a:endParaRPr lang="en-US" sz="834" dirty="0"/>
          </a:p>
        </p:txBody>
      </p:sp>
      <p:sp>
        <p:nvSpPr>
          <p:cNvPr id="36" name="Text 26"/>
          <p:cNvSpPr/>
          <p:nvPr/>
        </p:nvSpPr>
        <p:spPr>
          <a:xfrm>
            <a:off x="5300663" y="2612827"/>
            <a:ext cx="4869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│ └──</a:t>
            </a:r>
            <a:endParaRPr lang="en-US" sz="834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9019" y="2637830"/>
            <a:ext cx="85725" cy="1143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016182" y="2617291"/>
            <a:ext cx="9570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ScoreCard_B.docx</a:t>
            </a:r>
            <a:endParaRPr lang="en-US" sz="834" dirty="0"/>
          </a:p>
        </p:txBody>
      </p:sp>
      <p:sp>
        <p:nvSpPr>
          <p:cNvPr id="39" name="Text 28"/>
          <p:cNvSpPr/>
          <p:nvPr/>
        </p:nvSpPr>
        <p:spPr>
          <a:xfrm>
            <a:off x="5014913" y="2819995"/>
            <a:ext cx="3429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└──</a:t>
            </a:r>
            <a:endParaRPr lang="en-US" sz="834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9250" y="2844998"/>
            <a:ext cx="114300" cy="11430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614988" y="2824460"/>
            <a:ext cx="14589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Contrôle_02_Data_Integrity</a:t>
            </a:r>
            <a:endParaRPr lang="en-US" sz="834" dirty="0"/>
          </a:p>
        </p:txBody>
      </p:sp>
      <p:sp>
        <p:nvSpPr>
          <p:cNvPr id="42" name="Text 30"/>
          <p:cNvSpPr/>
          <p:nvPr/>
        </p:nvSpPr>
        <p:spPr>
          <a:xfrm>
            <a:off x="4872038" y="3027164"/>
            <a:ext cx="3614738" cy="164306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└── ...</a:t>
            </a:r>
            <a:endParaRPr lang="en-US" sz="834" dirty="0"/>
          </a:p>
        </p:txBody>
      </p:sp>
      <p:sp>
        <p:nvSpPr>
          <p:cNvPr id="43" name="Shape 31"/>
          <p:cNvSpPr/>
          <p:nvPr/>
        </p:nvSpPr>
        <p:spPr>
          <a:xfrm>
            <a:off x="4786313" y="3448645"/>
            <a:ext cx="3786188" cy="1235869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4" name="Shape 32"/>
          <p:cNvSpPr/>
          <p:nvPr/>
        </p:nvSpPr>
        <p:spPr>
          <a:xfrm>
            <a:off x="4786313" y="3448645"/>
            <a:ext cx="42863" cy="1235869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45" name="Text 33"/>
          <p:cNvSpPr/>
          <p:nvPr/>
        </p:nvSpPr>
        <p:spPr>
          <a:xfrm>
            <a:off x="4872038" y="3534370"/>
            <a:ext cx="36147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00915A"/>
                </a:solidFill>
              </a:rPr>
              <a:t>Impact &amp; Résultats</a:t>
            </a:r>
            <a:endParaRPr lang="en-US" sz="987" dirty="0"/>
          </a:p>
        </p:txBody>
      </p:sp>
      <p:sp>
        <p:nvSpPr>
          <p:cNvPr id="46" name="Text 34"/>
          <p:cNvSpPr/>
          <p:nvPr/>
        </p:nvSpPr>
        <p:spPr>
          <a:xfrm>
            <a:off x="4872038" y="3814763"/>
            <a:ext cx="17645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Contrôles couverts</a:t>
            </a:r>
            <a:endParaRPr lang="en-US" sz="727" dirty="0"/>
          </a:p>
        </p:txBody>
      </p:sp>
      <p:sp>
        <p:nvSpPr>
          <p:cNvPr id="47" name="Text 35"/>
          <p:cNvSpPr/>
          <p:nvPr/>
        </p:nvSpPr>
        <p:spPr>
          <a:xfrm>
            <a:off x="4872038" y="3979069"/>
            <a:ext cx="17645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2D2D"/>
                </a:solidFill>
              </a:rPr>
              <a:t>__ contrôles</a:t>
            </a:r>
            <a:endParaRPr lang="en-US" sz="987" dirty="0"/>
          </a:p>
        </p:txBody>
      </p:sp>
      <p:sp>
        <p:nvSpPr>
          <p:cNvPr id="48" name="Text 36"/>
          <p:cNvSpPr/>
          <p:nvPr/>
        </p:nvSpPr>
        <p:spPr>
          <a:xfrm>
            <a:off x="6722269" y="3814763"/>
            <a:ext cx="17645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Temps de préparation</a:t>
            </a:r>
            <a:endParaRPr lang="en-US" sz="727" dirty="0"/>
          </a:p>
        </p:txBody>
      </p:sp>
      <p:sp>
        <p:nvSpPr>
          <p:cNvPr id="49" name="Text 37"/>
          <p:cNvSpPr/>
          <p:nvPr/>
        </p:nvSpPr>
        <p:spPr>
          <a:xfrm>
            <a:off x="6722269" y="3979069"/>
            <a:ext cx="19818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2D2D"/>
                </a:solidFill>
              </a:rPr>
              <a:t>__j</a:t>
            </a:r>
            <a:endParaRPr lang="en-US" sz="987" dirty="0"/>
          </a:p>
        </p:txBody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0452" y="4005858"/>
            <a:ext cx="125016" cy="142875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7045468" y="3979069"/>
            <a:ext cx="24846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2D2D"/>
                </a:solidFill>
              </a:rPr>
              <a:t>__h</a:t>
            </a:r>
            <a:endParaRPr lang="en-US" sz="987" dirty="0"/>
          </a:p>
        </p:txBody>
      </p:sp>
      <p:sp>
        <p:nvSpPr>
          <p:cNvPr id="52" name="Text 39"/>
          <p:cNvSpPr/>
          <p:nvPr/>
        </p:nvSpPr>
        <p:spPr>
          <a:xfrm>
            <a:off x="4872038" y="4259461"/>
            <a:ext cx="36147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Qualité &amp; Audit</a:t>
            </a:r>
            <a:endParaRPr lang="en-US" sz="727" dirty="0"/>
          </a:p>
        </p:txBody>
      </p:sp>
      <p:sp>
        <p:nvSpPr>
          <p:cNvPr id="53" name="Text 40"/>
          <p:cNvSpPr/>
          <p:nvPr/>
        </p:nvSpPr>
        <p:spPr>
          <a:xfrm>
            <a:off x="4872038" y="4423767"/>
            <a:ext cx="36147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</a:rPr>
              <a:t>Standardisation &amp; Audit Trail renforcé</a:t>
            </a:r>
            <a:endParaRPr lang="en-US" sz="88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4928183" cy="56614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66192"/>
            <a:ext cx="4928183" cy="28575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4928183" cy="566142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D2D2D"/>
                </a:solidFill>
              </a:rPr>
              <a:t>Gains Globaux – Chiffres Clés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037630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Impact mesurable sur la performance et la qualité de l'équipe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557338"/>
            <a:ext cx="1893094" cy="162877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557338"/>
            <a:ext cx="1893094" cy="35719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9" name="Shape 6"/>
          <p:cNvSpPr/>
          <p:nvPr/>
        </p:nvSpPr>
        <p:spPr>
          <a:xfrm>
            <a:off x="1268016" y="1685925"/>
            <a:ext cx="500063" cy="500063"/>
          </a:xfrm>
          <a:prstGeom prst="ellipse">
            <a:avLst/>
          </a:prstGeom>
          <a:solidFill>
            <a:srgbClr val="E0F2E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606" y="1807369"/>
            <a:ext cx="192881" cy="2571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19879" y="2271713"/>
            <a:ext cx="59630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915A"/>
                </a:solidFill>
              </a:rPr>
              <a:t>__ h</a:t>
            </a:r>
            <a:endParaRPr lang="en-US" sz="2436" dirty="0"/>
          </a:p>
        </p:txBody>
      </p:sp>
      <p:sp>
        <p:nvSpPr>
          <p:cNvPr id="12" name="Text 8"/>
          <p:cNvSpPr/>
          <p:nvPr/>
        </p:nvSpPr>
        <p:spPr>
          <a:xfrm>
            <a:off x="910717" y="2671763"/>
            <a:ext cx="121466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555555"/>
                </a:solidFill>
              </a:rPr>
              <a:t>Économisées / mois</a:t>
            </a:r>
            <a:endParaRPr lang="en-US" sz="885" dirty="0"/>
          </a:p>
        </p:txBody>
      </p:sp>
      <p:sp>
        <p:nvSpPr>
          <p:cNvPr id="13" name="Shape 9"/>
          <p:cNvSpPr/>
          <p:nvPr/>
        </p:nvSpPr>
        <p:spPr>
          <a:xfrm>
            <a:off x="2607469" y="1557338"/>
            <a:ext cx="1893094" cy="162877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4" name="Shape 10"/>
          <p:cNvSpPr/>
          <p:nvPr/>
        </p:nvSpPr>
        <p:spPr>
          <a:xfrm>
            <a:off x="2607469" y="1557338"/>
            <a:ext cx="1893094" cy="35719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15" name="Shape 11"/>
          <p:cNvSpPr/>
          <p:nvPr/>
        </p:nvSpPr>
        <p:spPr>
          <a:xfrm>
            <a:off x="3303984" y="1685925"/>
            <a:ext cx="500063" cy="500063"/>
          </a:xfrm>
          <a:prstGeom prst="ellipse">
            <a:avLst/>
          </a:prstGeom>
          <a:solidFill>
            <a:srgbClr val="E0F2E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355" y="1807369"/>
            <a:ext cx="289322" cy="2571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214018" y="2271713"/>
            <a:ext cx="67999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915A"/>
                </a:solidFill>
              </a:rPr>
              <a:t>__ %</a:t>
            </a:r>
            <a:endParaRPr lang="en-US" sz="2436" dirty="0"/>
          </a:p>
        </p:txBody>
      </p:sp>
      <p:sp>
        <p:nvSpPr>
          <p:cNvPr id="18" name="Text 13"/>
          <p:cNvSpPr/>
          <p:nvPr/>
        </p:nvSpPr>
        <p:spPr>
          <a:xfrm>
            <a:off x="2736056" y="2671763"/>
            <a:ext cx="1635919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555555"/>
                </a:solidFill>
              </a:rPr>
              <a:t>Réduction temps campagne</a:t>
            </a:r>
            <a:endParaRPr lang="en-US" sz="885" dirty="0"/>
          </a:p>
        </p:txBody>
      </p:sp>
      <p:sp>
        <p:nvSpPr>
          <p:cNvPr id="19" name="Shape 14"/>
          <p:cNvSpPr/>
          <p:nvPr/>
        </p:nvSpPr>
        <p:spPr>
          <a:xfrm>
            <a:off x="4643438" y="1557338"/>
            <a:ext cx="1893094" cy="159305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0" name="Shape 15"/>
          <p:cNvSpPr/>
          <p:nvPr/>
        </p:nvSpPr>
        <p:spPr>
          <a:xfrm>
            <a:off x="4643438" y="1557338"/>
            <a:ext cx="1893094" cy="35719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21" name="Shape 16"/>
          <p:cNvSpPr/>
          <p:nvPr/>
        </p:nvSpPr>
        <p:spPr>
          <a:xfrm>
            <a:off x="5339953" y="1685925"/>
            <a:ext cx="500063" cy="500063"/>
          </a:xfrm>
          <a:prstGeom prst="ellipse">
            <a:avLst/>
          </a:prstGeom>
          <a:solidFill>
            <a:srgbClr val="E0F2E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1807369"/>
            <a:ext cx="321469" cy="2571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9035" y="2271713"/>
            <a:ext cx="28187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915A"/>
                </a:solidFill>
              </a:rPr>
              <a:t>__</a:t>
            </a:r>
            <a:endParaRPr lang="en-US" sz="2436" dirty="0"/>
          </a:p>
        </p:txBody>
      </p:sp>
      <p:sp>
        <p:nvSpPr>
          <p:cNvPr id="24" name="Text 18"/>
          <p:cNvSpPr/>
          <p:nvPr/>
        </p:nvSpPr>
        <p:spPr>
          <a:xfrm>
            <a:off x="4867880" y="2671763"/>
            <a:ext cx="14441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555555"/>
                </a:solidFill>
              </a:rPr>
              <a:t>Contrôles industrialisés</a:t>
            </a:r>
            <a:endParaRPr lang="en-US" sz="885" dirty="0"/>
          </a:p>
        </p:txBody>
      </p:sp>
      <p:sp>
        <p:nvSpPr>
          <p:cNvPr id="25" name="Shape 19"/>
          <p:cNvSpPr/>
          <p:nvPr/>
        </p:nvSpPr>
        <p:spPr>
          <a:xfrm>
            <a:off x="6679406" y="1557338"/>
            <a:ext cx="1893094" cy="159305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6" name="Shape 20"/>
          <p:cNvSpPr/>
          <p:nvPr/>
        </p:nvSpPr>
        <p:spPr>
          <a:xfrm>
            <a:off x="6679406" y="1557338"/>
            <a:ext cx="1893094" cy="35719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27" name="Shape 21"/>
          <p:cNvSpPr/>
          <p:nvPr/>
        </p:nvSpPr>
        <p:spPr>
          <a:xfrm>
            <a:off x="7375922" y="1685925"/>
            <a:ext cx="500063" cy="500063"/>
          </a:xfrm>
          <a:prstGeom prst="ellipse">
            <a:avLst/>
          </a:prstGeom>
          <a:solidFill>
            <a:srgbClr val="E0F2E9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7366" y="1807369"/>
            <a:ext cx="257175" cy="25717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186166" y="2271713"/>
            <a:ext cx="87954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915A"/>
                </a:solidFill>
              </a:rPr>
              <a:t>- __ %</a:t>
            </a:r>
            <a:endParaRPr lang="en-US" sz="2436" dirty="0"/>
          </a:p>
        </p:txBody>
      </p:sp>
      <p:sp>
        <p:nvSpPr>
          <p:cNvPr id="30" name="Text 23"/>
          <p:cNvSpPr/>
          <p:nvPr/>
        </p:nvSpPr>
        <p:spPr>
          <a:xfrm>
            <a:off x="7065755" y="2671763"/>
            <a:ext cx="112039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555555"/>
                </a:solidFill>
              </a:rPr>
              <a:t>Erreurs manuelles</a:t>
            </a:r>
            <a:endParaRPr lang="en-US" sz="885" dirty="0"/>
          </a:p>
        </p:txBody>
      </p:sp>
      <p:sp>
        <p:nvSpPr>
          <p:cNvPr id="31" name="Shape 24"/>
          <p:cNvSpPr/>
          <p:nvPr/>
        </p:nvSpPr>
        <p:spPr>
          <a:xfrm>
            <a:off x="571500" y="3321844"/>
            <a:ext cx="3936206" cy="1578769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88" y="3471863"/>
            <a:ext cx="171450" cy="17145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57263" y="3450431"/>
            <a:ext cx="234582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Conformité &amp; Standardisation</a:t>
            </a:r>
            <a:endParaRPr lang="en-US" sz="109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088" y="3871913"/>
            <a:ext cx="128588" cy="12858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14400" y="3836194"/>
            <a:ext cx="3457575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555555"/>
                </a:solidFill>
              </a:rPr>
              <a:t>Traçabilité renforcée :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 Audit trail complet pour chaque 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contrôle.</a:t>
            </a:r>
            <a:endParaRPr lang="en-US" sz="942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088" y="4307681"/>
            <a:ext cx="128588" cy="12858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914400" y="4271963"/>
            <a:ext cx="32807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555555"/>
                </a:solidFill>
              </a:rPr>
              <a:t>Harmonisation :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 Méthodes unifiées et reproductibles.</a:t>
            </a:r>
            <a:endParaRPr lang="en-US" sz="942" dirty="0"/>
          </a:p>
        </p:txBody>
      </p:sp>
      <p:sp>
        <p:nvSpPr>
          <p:cNvPr id="38" name="Shape 28"/>
          <p:cNvSpPr/>
          <p:nvPr/>
        </p:nvSpPr>
        <p:spPr>
          <a:xfrm>
            <a:off x="4643438" y="3321844"/>
            <a:ext cx="3929063" cy="1578769"/>
          </a:xfrm>
          <a:prstGeom prst="rect">
            <a:avLst/>
          </a:prstGeom>
          <a:solidFill>
            <a:srgbClr val="F4F4F4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2025" y="3471863"/>
            <a:ext cx="171450" cy="17145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029200" y="3450431"/>
            <a:ext cx="15009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Satisfaction Équipe</a:t>
            </a:r>
            <a:endParaRPr lang="en-US" sz="1090" dirty="0"/>
          </a:p>
        </p:txBody>
      </p:sp>
      <p:sp>
        <p:nvSpPr>
          <p:cNvPr id="41" name="Shape 30"/>
          <p:cNvSpPr/>
          <p:nvPr/>
        </p:nvSpPr>
        <p:spPr>
          <a:xfrm>
            <a:off x="4772025" y="4193381"/>
            <a:ext cx="3671888" cy="57864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2" name="Text 31"/>
          <p:cNvSpPr/>
          <p:nvPr/>
        </p:nvSpPr>
        <p:spPr>
          <a:xfrm>
            <a:off x="4843463" y="4121944"/>
            <a:ext cx="153451" cy="584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74" i="1" dirty="0">
                <a:solidFill>
                  <a:srgbClr val="00915A">
                    <a:alpha val="50000"/>
                  </a:srgbClr>
                </a:solidFill>
              </a:rPr>
              <a:t>“</a:t>
            </a:r>
            <a:endParaRPr lang="en-US" sz="3274" dirty="0"/>
          </a:p>
        </p:txBody>
      </p:sp>
      <p:sp>
        <p:nvSpPr>
          <p:cNvPr id="43" name="Text 32"/>
          <p:cNvSpPr/>
          <p:nvPr/>
        </p:nvSpPr>
        <p:spPr>
          <a:xfrm>
            <a:off x="4886325" y="4307681"/>
            <a:ext cx="3443288" cy="35004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FFFFFF"/>
                </a:solidFill>
              </a:rPr>
              <a:t>"[PLACEHOLDER – Feedback positif de l'équipe sur le gain de temps et la fiabilité]"</a:t>
            </a:r>
            <a:endParaRPr lang="en-US" sz="94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3897502" cy="5089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09042"/>
            <a:ext cx="3897502" cy="28575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897502" cy="508992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2D2D"/>
                </a:solidFill>
              </a:rPr>
              <a:t>Méthodologie &amp; Approche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571500" y="980480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Une approche structurée garantissant la robustesse et l'adoption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928688" y="1750219"/>
            <a:ext cx="7286625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Shape 5"/>
          <p:cNvSpPr/>
          <p:nvPr/>
        </p:nvSpPr>
        <p:spPr>
          <a:xfrm>
            <a:off x="964406" y="1500188"/>
            <a:ext cx="500063" cy="500063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0915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1650206"/>
            <a:ext cx="200025" cy="200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5085" y="2107406"/>
            <a:ext cx="79867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</a:rPr>
              <a:t>Comprendre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788324" y="2318147"/>
            <a:ext cx="852227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Analyse du besoin</a:t>
            </a:r>
            <a:pPr algn="ctr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
</a:t>
            </a:r>
            <a:pPr algn="ctr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&amp; pain points</a:t>
            </a:r>
            <a:endParaRPr lang="en-US" sz="727" dirty="0"/>
          </a:p>
        </p:txBody>
      </p:sp>
      <p:sp>
        <p:nvSpPr>
          <p:cNvPr id="12" name="Shape 8"/>
          <p:cNvSpPr/>
          <p:nvPr/>
        </p:nvSpPr>
        <p:spPr>
          <a:xfrm>
            <a:off x="2643188" y="1500188"/>
            <a:ext cx="500063" cy="500063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0915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209" y="1650206"/>
            <a:ext cx="150019" cy="200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48589" y="2107406"/>
            <a:ext cx="6892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</a:rPr>
              <a:t>Formaliser</a:t>
            </a:r>
            <a:endParaRPr lang="en-US" sz="885" dirty="0"/>
          </a:p>
        </p:txBody>
      </p:sp>
      <p:sp>
        <p:nvSpPr>
          <p:cNvPr id="15" name="Text 10"/>
          <p:cNvSpPr/>
          <p:nvPr/>
        </p:nvSpPr>
        <p:spPr>
          <a:xfrm>
            <a:off x="2525567" y="2318147"/>
            <a:ext cx="735304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Règles métier</a:t>
            </a:r>
            <a:pPr algn="ctr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
</a:t>
            </a:r>
            <a:pPr algn="ctr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&amp; spécifications</a:t>
            </a:r>
            <a:endParaRPr lang="en-US" sz="727" dirty="0"/>
          </a:p>
        </p:txBody>
      </p:sp>
      <p:sp>
        <p:nvSpPr>
          <p:cNvPr id="16" name="Shape 11"/>
          <p:cNvSpPr/>
          <p:nvPr/>
        </p:nvSpPr>
        <p:spPr>
          <a:xfrm>
            <a:off x="4321969" y="1500188"/>
            <a:ext cx="500063" cy="500063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0915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6984" y="1650206"/>
            <a:ext cx="250031" cy="2000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205129" y="2107406"/>
            <a:ext cx="73374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</a:rPr>
              <a:t>Développer</a:t>
            </a:r>
            <a:endParaRPr lang="en-US" sz="885" dirty="0"/>
          </a:p>
        </p:txBody>
      </p:sp>
      <p:sp>
        <p:nvSpPr>
          <p:cNvPr id="19" name="Text 13"/>
          <p:cNvSpPr/>
          <p:nvPr/>
        </p:nvSpPr>
        <p:spPr>
          <a:xfrm>
            <a:off x="4235351" y="2318147"/>
            <a:ext cx="673298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Scripts Python</a:t>
            </a:r>
            <a:pPr algn="ctr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
</a:t>
            </a:r>
            <a:pPr algn="ctr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robustes</a:t>
            </a:r>
            <a:endParaRPr lang="en-US" sz="727" dirty="0"/>
          </a:p>
        </p:txBody>
      </p:sp>
      <p:sp>
        <p:nvSpPr>
          <p:cNvPr id="20" name="Shape 14"/>
          <p:cNvSpPr/>
          <p:nvPr/>
        </p:nvSpPr>
        <p:spPr>
          <a:xfrm>
            <a:off x="6000750" y="1500188"/>
            <a:ext cx="500063" cy="500063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0915A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0769" y="1650206"/>
            <a:ext cx="200025" cy="2000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052989" y="2107406"/>
            <a:ext cx="39555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</a:rPr>
              <a:t>Tester</a:t>
            </a:r>
            <a:endParaRPr lang="en-US" sz="885" dirty="0"/>
          </a:p>
        </p:txBody>
      </p:sp>
      <p:sp>
        <p:nvSpPr>
          <p:cNvPr id="23" name="Text 16"/>
          <p:cNvSpPr/>
          <p:nvPr/>
        </p:nvSpPr>
        <p:spPr>
          <a:xfrm>
            <a:off x="5802064" y="2318147"/>
            <a:ext cx="897434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Validation cas réels</a:t>
            </a:r>
            <a:pPr algn="ctr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
</a:t>
            </a:r>
            <a:pPr algn="ctr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&amp; edge cases</a:t>
            </a:r>
            <a:endParaRPr lang="en-US" sz="727" dirty="0"/>
          </a:p>
        </p:txBody>
      </p:sp>
      <p:sp>
        <p:nvSpPr>
          <p:cNvPr id="24" name="Shape 17"/>
          <p:cNvSpPr/>
          <p:nvPr/>
        </p:nvSpPr>
        <p:spPr>
          <a:xfrm>
            <a:off x="7679531" y="1500188"/>
            <a:ext cx="500063" cy="500063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0915A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4547" y="1650206"/>
            <a:ext cx="250031" cy="20002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596625" y="2107406"/>
            <a:ext cx="66584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</a:rPr>
              <a:t>Transférer</a:t>
            </a:r>
            <a:endParaRPr lang="en-US" sz="885" dirty="0"/>
          </a:p>
        </p:txBody>
      </p:sp>
      <p:sp>
        <p:nvSpPr>
          <p:cNvPr id="27" name="Text 19"/>
          <p:cNvSpPr/>
          <p:nvPr/>
        </p:nvSpPr>
        <p:spPr>
          <a:xfrm>
            <a:off x="7563808" y="2318147"/>
            <a:ext cx="73150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Formation &amp;</a:t>
            </a:r>
            <a:pPr algn="ctr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
</a:t>
            </a:r>
            <a:pPr algn="ctr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Documentation</a:t>
            </a:r>
            <a:endParaRPr lang="en-US" sz="727" dirty="0"/>
          </a:p>
        </p:txBody>
      </p:sp>
      <p:sp>
        <p:nvSpPr>
          <p:cNvPr id="28" name="Shape 20"/>
          <p:cNvSpPr/>
          <p:nvPr/>
        </p:nvSpPr>
        <p:spPr>
          <a:xfrm>
            <a:off x="571500" y="2935356"/>
            <a:ext cx="3875484" cy="1779519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9" name="Shape 21"/>
          <p:cNvSpPr/>
          <p:nvPr/>
        </p:nvSpPr>
        <p:spPr>
          <a:xfrm>
            <a:off x="571500" y="2935356"/>
            <a:ext cx="35719" cy="1779519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94" y="3139846"/>
            <a:ext cx="142875" cy="14287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64406" y="3113949"/>
            <a:ext cx="155248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915A"/>
                </a:solidFill>
              </a:rPr>
              <a:t>Points Clés de Qualité</a:t>
            </a:r>
            <a:endParaRPr lang="en-US" sz="987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094" y="3556862"/>
            <a:ext cx="100013" cy="100013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21544" y="3451492"/>
            <a:ext cx="1525191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D2D2D"/>
                </a:solidFill>
              </a:rPr>
              <a:t>Robustesse &amp; Gestion erreurs</a:t>
            </a:r>
            <a:endParaRPr lang="en-US" sz="834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53891" y="3556862"/>
            <a:ext cx="100013" cy="100013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2725341" y="3529180"/>
            <a:ext cx="7316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D2D2D"/>
                </a:solidFill>
              </a:rPr>
              <a:t>Logs détaillés</a:t>
            </a:r>
            <a:endParaRPr lang="en-US" sz="834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094" y="3897083"/>
            <a:ext cx="100013" cy="100013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921544" y="3869401"/>
            <a:ext cx="14072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D2D2D"/>
                </a:solidFill>
              </a:rPr>
              <a:t>Documentation accessible</a:t>
            </a:r>
            <a:endParaRPr lang="en-US" sz="834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53891" y="3897083"/>
            <a:ext cx="100013" cy="100013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2725341" y="3869401"/>
            <a:ext cx="12320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D2D2D"/>
                </a:solidFill>
              </a:rPr>
              <a:t>Maintenabilité du code</a:t>
            </a:r>
            <a:endParaRPr lang="en-US" sz="834" dirty="0"/>
          </a:p>
        </p:txBody>
      </p:sp>
      <p:sp>
        <p:nvSpPr>
          <p:cNvPr id="40" name="Shape 27"/>
          <p:cNvSpPr/>
          <p:nvPr/>
        </p:nvSpPr>
        <p:spPr>
          <a:xfrm>
            <a:off x="4714875" y="2935356"/>
            <a:ext cx="3857625" cy="1779519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3469" y="3386668"/>
            <a:ext cx="142875" cy="142875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5107781" y="3360772"/>
            <a:ext cx="130945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Simplicité d'Usage</a:t>
            </a:r>
            <a:endParaRPr lang="en-US" sz="987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40375" y="3814400"/>
            <a:ext cx="171450" cy="228600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4893469" y="4153728"/>
            <a:ext cx="66529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Input (Extract)</a:t>
            </a:r>
            <a:endParaRPr lang="en-US" sz="727" dirty="0"/>
          </a:p>
        </p:txBody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94654" y="3959061"/>
            <a:ext cx="89297" cy="142875"/>
          </a:xfrm>
          <a:prstGeom prst="rect">
            <a:avLst/>
          </a:prstGeom>
        </p:spPr>
      </p:pic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3058" y="3814400"/>
            <a:ext cx="285750" cy="228600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6319847" y="4153728"/>
            <a:ext cx="51217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Traitement</a:t>
            </a:r>
            <a:endParaRPr lang="en-US" sz="727" dirty="0"/>
          </a:p>
        </p:txBody>
      </p:sp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67916" y="3959061"/>
            <a:ext cx="89297" cy="142875"/>
          </a:xfrm>
          <a:prstGeom prst="rect">
            <a:avLst/>
          </a:prstGeom>
        </p:spPr>
      </p:pic>
      <p:pic>
        <p:nvPicPr>
          <p:cNvPr id="4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07741" y="3814400"/>
            <a:ext cx="171450" cy="228600"/>
          </a:xfrm>
          <a:prstGeom prst="rect">
            <a:avLst/>
          </a:prstGeom>
        </p:spPr>
      </p:pic>
      <p:sp>
        <p:nvSpPr>
          <p:cNvPr id="50" name="Text 31"/>
          <p:cNvSpPr/>
          <p:nvPr/>
        </p:nvSpPr>
        <p:spPr>
          <a:xfrm>
            <a:off x="7593109" y="4153728"/>
            <a:ext cx="80071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Output (Rapport)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346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3141715" cy="5089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09042"/>
            <a:ext cx="3141715" cy="28575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141715" cy="508992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2D2D"/>
                </a:solidFill>
              </a:rPr>
              <a:t>Autres Contributions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571500" y="980480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Contributions additionnelles au-delà des automatisations principales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571625"/>
            <a:ext cx="2476509" cy="314325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571625"/>
            <a:ext cx="2476509" cy="42863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9" name="Shape 6"/>
          <p:cNvSpPr/>
          <p:nvPr/>
        </p:nvSpPr>
        <p:spPr>
          <a:xfrm>
            <a:off x="1523991" y="1785938"/>
            <a:ext cx="571500" cy="5715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0915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66" y="1957388"/>
            <a:ext cx="28575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82042" y="2464594"/>
            <a:ext cx="16553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RCSA (Risk &amp; Control)</a:t>
            </a:r>
            <a:endParaRPr lang="en-US" sz="1090" dirty="0"/>
          </a:p>
        </p:txBody>
      </p:sp>
      <p:sp>
        <p:nvSpPr>
          <p:cNvPr id="12" name="Text 8"/>
          <p:cNvSpPr/>
          <p:nvPr/>
        </p:nvSpPr>
        <p:spPr>
          <a:xfrm>
            <a:off x="785813" y="2886075"/>
            <a:ext cx="6250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915A"/>
                </a:solidFill>
              </a:rPr>
              <a:t></a:t>
            </a:r>
            <a:endParaRPr lang="en-US" sz="683" dirty="0"/>
          </a:p>
        </p:txBody>
      </p:sp>
      <p:sp>
        <p:nvSpPr>
          <p:cNvPr id="13" name="Text 9"/>
          <p:cNvSpPr/>
          <p:nvPr/>
        </p:nvSpPr>
        <p:spPr>
          <a:xfrm>
            <a:off x="964406" y="2859286"/>
            <a:ext cx="1588061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Binôme avec Alessia sur la campagne RCSA.</a:t>
            </a:r>
            <a:endParaRPr lang="en-US" sz="942" dirty="0"/>
          </a:p>
        </p:txBody>
      </p:sp>
      <p:sp>
        <p:nvSpPr>
          <p:cNvPr id="14" name="Text 10"/>
          <p:cNvSpPr/>
          <p:nvPr/>
        </p:nvSpPr>
        <p:spPr>
          <a:xfrm>
            <a:off x="785813" y="3353265"/>
            <a:ext cx="6250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915A"/>
                </a:solidFill>
              </a:rPr>
              <a:t></a:t>
            </a:r>
            <a:endParaRPr lang="en-US" sz="683" dirty="0"/>
          </a:p>
        </p:txBody>
      </p:sp>
      <p:sp>
        <p:nvSpPr>
          <p:cNvPr id="15" name="Text 11"/>
          <p:cNvSpPr/>
          <p:nvPr/>
        </p:nvSpPr>
        <p:spPr>
          <a:xfrm>
            <a:off x="964406" y="3326476"/>
            <a:ext cx="1733894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Contribution active aux livrables et à la coordination.</a:t>
            </a:r>
            <a:endParaRPr lang="en-US" sz="942" dirty="0"/>
          </a:p>
        </p:txBody>
      </p:sp>
      <p:sp>
        <p:nvSpPr>
          <p:cNvPr id="16" name="Text 12"/>
          <p:cNvSpPr/>
          <p:nvPr/>
        </p:nvSpPr>
        <p:spPr>
          <a:xfrm>
            <a:off x="785813" y="3820455"/>
            <a:ext cx="6250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915A"/>
                </a:solidFill>
              </a:rPr>
              <a:t></a:t>
            </a:r>
            <a:endParaRPr lang="en-US" sz="683" dirty="0"/>
          </a:p>
        </p:txBody>
      </p:sp>
      <p:sp>
        <p:nvSpPr>
          <p:cNvPr id="17" name="Text 13"/>
          <p:cNvSpPr/>
          <p:nvPr/>
        </p:nvSpPr>
        <p:spPr>
          <a:xfrm>
            <a:off x="964406" y="3793666"/>
            <a:ext cx="1680790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Support dans l'analyse et la documentation des risques.</a:t>
            </a:r>
            <a:endParaRPr lang="en-US" sz="942" dirty="0"/>
          </a:p>
        </p:txBody>
      </p:sp>
      <p:sp>
        <p:nvSpPr>
          <p:cNvPr id="18" name="Shape 14"/>
          <p:cNvSpPr/>
          <p:nvPr/>
        </p:nvSpPr>
        <p:spPr>
          <a:xfrm>
            <a:off x="3333759" y="1571625"/>
            <a:ext cx="2476509" cy="314325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9" name="Shape 15"/>
          <p:cNvSpPr/>
          <p:nvPr/>
        </p:nvSpPr>
        <p:spPr>
          <a:xfrm>
            <a:off x="3333759" y="1571625"/>
            <a:ext cx="2476509" cy="42863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20" name="Shape 16"/>
          <p:cNvSpPr/>
          <p:nvPr/>
        </p:nvSpPr>
        <p:spPr>
          <a:xfrm>
            <a:off x="4286250" y="1785938"/>
            <a:ext cx="571500" cy="5715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0915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413" y="1957388"/>
            <a:ext cx="257175" cy="228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011802" y="2464594"/>
            <a:ext cx="11204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Scripts Ad Hoc</a:t>
            </a:r>
            <a:endParaRPr lang="en-US" sz="1090" dirty="0"/>
          </a:p>
        </p:txBody>
      </p:sp>
      <p:sp>
        <p:nvSpPr>
          <p:cNvPr id="23" name="Text 18"/>
          <p:cNvSpPr/>
          <p:nvPr/>
        </p:nvSpPr>
        <p:spPr>
          <a:xfrm>
            <a:off x="3548072" y="2886075"/>
            <a:ext cx="6250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915A"/>
                </a:solidFill>
              </a:rPr>
              <a:t></a:t>
            </a:r>
            <a:endParaRPr lang="en-US" sz="683" dirty="0"/>
          </a:p>
        </p:txBody>
      </p:sp>
      <p:sp>
        <p:nvSpPr>
          <p:cNvPr id="24" name="Text 19"/>
          <p:cNvSpPr/>
          <p:nvPr/>
        </p:nvSpPr>
        <p:spPr>
          <a:xfrm>
            <a:off x="3726666" y="2859286"/>
            <a:ext cx="1577150" cy="535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Développement de scripts ponctuels pour le management.</a:t>
            </a:r>
            <a:endParaRPr lang="en-US" sz="942" dirty="0"/>
          </a:p>
        </p:txBody>
      </p:sp>
      <p:sp>
        <p:nvSpPr>
          <p:cNvPr id="25" name="Text 20"/>
          <p:cNvSpPr/>
          <p:nvPr/>
        </p:nvSpPr>
        <p:spPr>
          <a:xfrm>
            <a:off x="3548072" y="3533282"/>
            <a:ext cx="6250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915A"/>
                </a:solidFill>
              </a:rPr>
              <a:t></a:t>
            </a:r>
            <a:endParaRPr lang="en-US" sz="683" dirty="0"/>
          </a:p>
        </p:txBody>
      </p:sp>
      <p:sp>
        <p:nvSpPr>
          <p:cNvPr id="26" name="Text 21"/>
          <p:cNvSpPr/>
          <p:nvPr/>
        </p:nvSpPr>
        <p:spPr>
          <a:xfrm>
            <a:off x="3726666" y="3506493"/>
            <a:ext cx="1507834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Extractions de données spécifiques et nettoyage.</a:t>
            </a:r>
            <a:endParaRPr lang="en-US" sz="942" dirty="0"/>
          </a:p>
        </p:txBody>
      </p:sp>
      <p:sp>
        <p:nvSpPr>
          <p:cNvPr id="27" name="Text 22"/>
          <p:cNvSpPr/>
          <p:nvPr/>
        </p:nvSpPr>
        <p:spPr>
          <a:xfrm>
            <a:off x="3548072" y="4000472"/>
            <a:ext cx="6250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915A"/>
                </a:solidFill>
              </a:rPr>
              <a:t></a:t>
            </a:r>
            <a:endParaRPr lang="en-US" sz="683" dirty="0"/>
          </a:p>
        </p:txBody>
      </p:sp>
      <p:sp>
        <p:nvSpPr>
          <p:cNvPr id="28" name="Text 23"/>
          <p:cNvSpPr/>
          <p:nvPr/>
        </p:nvSpPr>
        <p:spPr>
          <a:xfrm>
            <a:off x="3726666" y="3973683"/>
            <a:ext cx="1652104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Production de chiffres pour aide à la décision rapide.</a:t>
            </a:r>
            <a:endParaRPr lang="en-US" sz="942" dirty="0"/>
          </a:p>
        </p:txBody>
      </p:sp>
      <p:sp>
        <p:nvSpPr>
          <p:cNvPr id="29" name="Shape 24"/>
          <p:cNvSpPr/>
          <p:nvPr/>
        </p:nvSpPr>
        <p:spPr>
          <a:xfrm>
            <a:off x="6096019" y="1571625"/>
            <a:ext cx="2476509" cy="314325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0" name="Shape 25"/>
          <p:cNvSpPr/>
          <p:nvPr/>
        </p:nvSpPr>
        <p:spPr>
          <a:xfrm>
            <a:off x="6096019" y="1571625"/>
            <a:ext cx="2476509" cy="42863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31" name="Shape 26"/>
          <p:cNvSpPr/>
          <p:nvPr/>
        </p:nvSpPr>
        <p:spPr>
          <a:xfrm>
            <a:off x="7048509" y="1785938"/>
            <a:ext cx="571500" cy="5715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0915A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384" y="1957388"/>
            <a:ext cx="285750" cy="2286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407302" y="2464594"/>
            <a:ext cx="185391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Support &amp; Amélioration</a:t>
            </a:r>
            <a:endParaRPr lang="en-US" sz="1090" dirty="0"/>
          </a:p>
        </p:txBody>
      </p:sp>
      <p:sp>
        <p:nvSpPr>
          <p:cNvPr id="34" name="Text 28"/>
          <p:cNvSpPr/>
          <p:nvPr/>
        </p:nvSpPr>
        <p:spPr>
          <a:xfrm>
            <a:off x="6310331" y="2886075"/>
            <a:ext cx="6250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915A"/>
                </a:solidFill>
              </a:rPr>
              <a:t></a:t>
            </a:r>
            <a:endParaRPr lang="en-US" sz="683" dirty="0"/>
          </a:p>
        </p:txBody>
      </p:sp>
      <p:sp>
        <p:nvSpPr>
          <p:cNvPr id="35" name="Text 29"/>
          <p:cNvSpPr/>
          <p:nvPr/>
        </p:nvSpPr>
        <p:spPr>
          <a:xfrm>
            <a:off x="6488925" y="2859286"/>
            <a:ext cx="1624199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Assistance technique quotidienne aux collègues.</a:t>
            </a:r>
            <a:endParaRPr lang="en-US" sz="942" dirty="0"/>
          </a:p>
        </p:txBody>
      </p:sp>
      <p:sp>
        <p:nvSpPr>
          <p:cNvPr id="36" name="Text 30"/>
          <p:cNvSpPr/>
          <p:nvPr/>
        </p:nvSpPr>
        <p:spPr>
          <a:xfrm>
            <a:off x="6310331" y="3353265"/>
            <a:ext cx="6250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915A"/>
                </a:solidFill>
              </a:rPr>
              <a:t></a:t>
            </a:r>
            <a:endParaRPr lang="en-US" sz="683" dirty="0"/>
          </a:p>
        </p:txBody>
      </p:sp>
      <p:sp>
        <p:nvSpPr>
          <p:cNvPr id="37" name="Text 31"/>
          <p:cNvSpPr/>
          <p:nvPr/>
        </p:nvSpPr>
        <p:spPr>
          <a:xfrm>
            <a:off x="6488925" y="3326476"/>
            <a:ext cx="1814903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Identification proactive d'opportunités d'optimisation.</a:t>
            </a:r>
            <a:endParaRPr lang="en-US" sz="942" dirty="0"/>
          </a:p>
        </p:txBody>
      </p:sp>
      <p:sp>
        <p:nvSpPr>
          <p:cNvPr id="38" name="Text 32"/>
          <p:cNvSpPr/>
          <p:nvPr/>
        </p:nvSpPr>
        <p:spPr>
          <a:xfrm>
            <a:off x="6310331" y="3820455"/>
            <a:ext cx="6250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915A"/>
                </a:solidFill>
              </a:rPr>
              <a:t></a:t>
            </a:r>
            <a:endParaRPr lang="en-US" sz="683" dirty="0"/>
          </a:p>
        </p:txBody>
      </p:sp>
      <p:sp>
        <p:nvSpPr>
          <p:cNvPr id="39" name="Text 33"/>
          <p:cNvSpPr/>
          <p:nvPr/>
        </p:nvSpPr>
        <p:spPr>
          <a:xfrm>
            <a:off x="6488925" y="3793666"/>
            <a:ext cx="1718463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Partage de connaissances et best practices Python/Excel.</a:t>
            </a:r>
            <a:endParaRPr lang="en-US" sz="94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3936792" cy="5089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09042"/>
            <a:ext cx="3936792" cy="28575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936792" cy="508992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2D2D"/>
                </a:solidFill>
              </a:rPr>
              <a:t>Handover &amp; Pérennisation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571500" y="980480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Assurer la continuité et l'évolution des solutions développées</a:t>
            </a:r>
            <a:endParaRPr lang="en-US" sz="1269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14450"/>
            <a:ext cx="196453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9391" y="1285875"/>
            <a:ext cx="26882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915A"/>
                </a:solidFill>
              </a:rPr>
              <a:t>Ce qui est livré (Package de sortie)</a:t>
            </a:r>
            <a:endParaRPr lang="en-US" sz="1090" dirty="0"/>
          </a:p>
        </p:txBody>
      </p:sp>
      <p:sp>
        <p:nvSpPr>
          <p:cNvPr id="9" name="Shape 5"/>
          <p:cNvSpPr/>
          <p:nvPr/>
        </p:nvSpPr>
        <p:spPr>
          <a:xfrm>
            <a:off x="571500" y="1643063"/>
            <a:ext cx="1914525" cy="1012236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1743075"/>
            <a:ext cx="200025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65061" y="2043113"/>
            <a:ext cx="92737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</a:rPr>
              <a:t>Scripts Python</a:t>
            </a:r>
            <a:endParaRPr lang="en-US" sz="885" dirty="0"/>
          </a:p>
        </p:txBody>
      </p:sp>
      <p:sp>
        <p:nvSpPr>
          <p:cNvPr id="12" name="Text 7"/>
          <p:cNvSpPr/>
          <p:nvPr/>
        </p:nvSpPr>
        <p:spPr>
          <a:xfrm>
            <a:off x="671513" y="2260997"/>
            <a:ext cx="17145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Code source commenté, structuré et versionné.</a:t>
            </a:r>
            <a:endParaRPr lang="en-US" sz="727" dirty="0"/>
          </a:p>
        </p:txBody>
      </p:sp>
      <p:sp>
        <p:nvSpPr>
          <p:cNvPr id="13" name="Shape 8"/>
          <p:cNvSpPr/>
          <p:nvPr/>
        </p:nvSpPr>
        <p:spPr>
          <a:xfrm>
            <a:off x="2600325" y="1643063"/>
            <a:ext cx="1914525" cy="1012236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7575" y="1743075"/>
            <a:ext cx="200025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011900" y="2043113"/>
            <a:ext cx="10913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</a:rPr>
              <a:t>Mode Opératoire</a:t>
            </a:r>
            <a:endParaRPr lang="en-US" sz="885" dirty="0"/>
          </a:p>
        </p:txBody>
      </p:sp>
      <p:sp>
        <p:nvSpPr>
          <p:cNvPr id="16" name="Text 10"/>
          <p:cNvSpPr/>
          <p:nvPr/>
        </p:nvSpPr>
        <p:spPr>
          <a:xfrm>
            <a:off x="2700338" y="2260997"/>
            <a:ext cx="17145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Documentation pas-à-pas pour l'exécution et la maintenance.</a:t>
            </a:r>
            <a:endParaRPr lang="en-US" sz="727" dirty="0"/>
          </a:p>
        </p:txBody>
      </p:sp>
      <p:sp>
        <p:nvSpPr>
          <p:cNvPr id="17" name="Shape 11"/>
          <p:cNvSpPr/>
          <p:nvPr/>
        </p:nvSpPr>
        <p:spPr>
          <a:xfrm>
            <a:off x="4629150" y="1643063"/>
            <a:ext cx="1914525" cy="1012236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0688" y="1743075"/>
            <a:ext cx="17145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55540" y="2043113"/>
            <a:ext cx="66171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</a:rPr>
              <a:t>Templates</a:t>
            </a:r>
            <a:endParaRPr lang="en-US" sz="885" dirty="0"/>
          </a:p>
        </p:txBody>
      </p:sp>
      <p:sp>
        <p:nvSpPr>
          <p:cNvPr id="20" name="Text 13"/>
          <p:cNvSpPr/>
          <p:nvPr/>
        </p:nvSpPr>
        <p:spPr>
          <a:xfrm>
            <a:off x="4729163" y="2260997"/>
            <a:ext cx="17145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Modèles Excel et Word standardisés et prêts à l'emploi.</a:t>
            </a:r>
            <a:endParaRPr lang="en-US" sz="727" dirty="0"/>
          </a:p>
        </p:txBody>
      </p:sp>
      <p:sp>
        <p:nvSpPr>
          <p:cNvPr id="21" name="Shape 14"/>
          <p:cNvSpPr/>
          <p:nvPr/>
        </p:nvSpPr>
        <p:spPr>
          <a:xfrm>
            <a:off x="6657975" y="1643063"/>
            <a:ext cx="1914525" cy="1012236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6650" y="1743075"/>
            <a:ext cx="257175" cy="2286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024622" y="2043113"/>
            <a:ext cx="118123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</a:rPr>
              <a:t>Structure Dossiers</a:t>
            </a:r>
            <a:endParaRPr lang="en-US" sz="885" dirty="0"/>
          </a:p>
        </p:txBody>
      </p:sp>
      <p:sp>
        <p:nvSpPr>
          <p:cNvPr id="24" name="Text 16"/>
          <p:cNvSpPr/>
          <p:nvPr/>
        </p:nvSpPr>
        <p:spPr>
          <a:xfrm>
            <a:off x="6757988" y="2260997"/>
            <a:ext cx="17145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Arborescence organisée pour garantir la traçabilité.</a:t>
            </a:r>
            <a:endParaRPr lang="en-US" sz="727" dirty="0"/>
          </a:p>
        </p:txBody>
      </p:sp>
      <p:sp>
        <p:nvSpPr>
          <p:cNvPr id="25" name="Shape 17"/>
          <p:cNvSpPr/>
          <p:nvPr/>
        </p:nvSpPr>
        <p:spPr>
          <a:xfrm>
            <a:off x="571500" y="2783886"/>
            <a:ext cx="8001000" cy="2216739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2953550"/>
            <a:ext cx="160734" cy="14287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75109" y="2926761"/>
            <a:ext cx="231630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Recommandations pour l'avenir</a:t>
            </a:r>
            <a:endParaRPr lang="en-US" sz="987" dirty="0"/>
          </a:p>
        </p:txBody>
      </p:sp>
      <p:sp>
        <p:nvSpPr>
          <p:cNvPr id="28" name="Shape 19"/>
          <p:cNvSpPr/>
          <p:nvPr/>
        </p:nvSpPr>
        <p:spPr>
          <a:xfrm>
            <a:off x="1071563" y="3471472"/>
            <a:ext cx="7000875" cy="1428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29" name="Text 20"/>
          <p:cNvSpPr/>
          <p:nvPr/>
        </p:nvSpPr>
        <p:spPr>
          <a:xfrm>
            <a:off x="714375" y="3671497"/>
            <a:ext cx="23145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15A"/>
                </a:solidFill>
              </a:rPr>
              <a:t>Court Terme</a:t>
            </a:r>
            <a:endParaRPr lang="en-US" sz="885" dirty="0"/>
          </a:p>
        </p:txBody>
      </p:sp>
      <p:sp>
        <p:nvSpPr>
          <p:cNvPr id="30" name="Text 21"/>
          <p:cNvSpPr/>
          <p:nvPr/>
        </p:nvSpPr>
        <p:spPr>
          <a:xfrm>
            <a:off x="714375" y="3903669"/>
            <a:ext cx="23145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Formation utilisateurs clés</a:t>
            </a:r>
            <a:endParaRPr lang="en-US" sz="780" dirty="0"/>
          </a:p>
        </p:txBody>
      </p:sp>
      <p:sp>
        <p:nvSpPr>
          <p:cNvPr id="31" name="Text 22"/>
          <p:cNvSpPr/>
          <p:nvPr/>
        </p:nvSpPr>
        <p:spPr>
          <a:xfrm>
            <a:off x="714375" y="4107266"/>
            <a:ext cx="23145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Documentation renforcée</a:t>
            </a:r>
            <a:endParaRPr lang="en-US" sz="780" dirty="0"/>
          </a:p>
        </p:txBody>
      </p:sp>
      <p:sp>
        <p:nvSpPr>
          <p:cNvPr id="32" name="Text 23"/>
          <p:cNvSpPr/>
          <p:nvPr/>
        </p:nvSpPr>
        <p:spPr>
          <a:xfrm>
            <a:off x="3414713" y="3671497"/>
            <a:ext cx="23145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15A"/>
                </a:solidFill>
              </a:rPr>
              <a:t>Moyen Terme</a:t>
            </a:r>
            <a:endParaRPr lang="en-US" sz="885" dirty="0"/>
          </a:p>
        </p:txBody>
      </p:sp>
      <p:sp>
        <p:nvSpPr>
          <p:cNvPr id="33" name="Text 24"/>
          <p:cNvSpPr/>
          <p:nvPr/>
        </p:nvSpPr>
        <p:spPr>
          <a:xfrm>
            <a:off x="3414713" y="3903669"/>
            <a:ext cx="23145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Industrialisation (Git)</a:t>
            </a:r>
            <a:endParaRPr lang="en-US" sz="780" dirty="0"/>
          </a:p>
        </p:txBody>
      </p:sp>
      <p:sp>
        <p:nvSpPr>
          <p:cNvPr id="34" name="Text 25"/>
          <p:cNvSpPr/>
          <p:nvPr/>
        </p:nvSpPr>
        <p:spPr>
          <a:xfrm>
            <a:off x="3414713" y="4107266"/>
            <a:ext cx="23145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CI/CD &amp; Tests auto</a:t>
            </a:r>
            <a:endParaRPr lang="en-US" sz="780" dirty="0"/>
          </a:p>
        </p:txBody>
      </p:sp>
      <p:sp>
        <p:nvSpPr>
          <p:cNvPr id="35" name="Text 26"/>
          <p:cNvSpPr/>
          <p:nvPr/>
        </p:nvSpPr>
        <p:spPr>
          <a:xfrm>
            <a:off x="3414713" y="4310862"/>
            <a:ext cx="23145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Extension à d'autres contrôles</a:t>
            </a:r>
            <a:endParaRPr lang="en-US" sz="780" dirty="0"/>
          </a:p>
        </p:txBody>
      </p:sp>
      <p:sp>
        <p:nvSpPr>
          <p:cNvPr id="36" name="Text 27"/>
          <p:cNvSpPr/>
          <p:nvPr/>
        </p:nvSpPr>
        <p:spPr>
          <a:xfrm>
            <a:off x="6115050" y="3671497"/>
            <a:ext cx="23145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915A"/>
                </a:solidFill>
              </a:rPr>
              <a:t>Long Terme</a:t>
            </a:r>
            <a:endParaRPr lang="en-US" sz="885" dirty="0"/>
          </a:p>
        </p:txBody>
      </p:sp>
      <p:sp>
        <p:nvSpPr>
          <p:cNvPr id="37" name="Text 28"/>
          <p:cNvSpPr/>
          <p:nvPr/>
        </p:nvSpPr>
        <p:spPr>
          <a:xfrm>
            <a:off x="6115050" y="3903669"/>
            <a:ext cx="23145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Intégration plateforme centralisée</a:t>
            </a:r>
            <a:endParaRPr lang="en-US" sz="780" dirty="0"/>
          </a:p>
        </p:txBody>
      </p:sp>
      <p:sp>
        <p:nvSpPr>
          <p:cNvPr id="38" name="Text 29"/>
          <p:cNvSpPr/>
          <p:nvPr/>
        </p:nvSpPr>
        <p:spPr>
          <a:xfrm>
            <a:off x="6115050" y="4107266"/>
            <a:ext cx="23145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Scalabilité &amp; Cloud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1874648" cy="56614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66192"/>
            <a:ext cx="1874648" cy="28575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1874648" cy="566142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D2D2D"/>
                </a:solidFill>
              </a:rPr>
              <a:t>Conclusion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037630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Une rotation marquée par l'impact et la valeur créée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414463"/>
            <a:ext cx="2571750" cy="2519958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414463"/>
            <a:ext cx="2571750" cy="42863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9" name="Shape 6"/>
          <p:cNvSpPr/>
          <p:nvPr/>
        </p:nvSpPr>
        <p:spPr>
          <a:xfrm>
            <a:off x="1571625" y="1500188"/>
            <a:ext cx="571500" cy="5715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788" y="1657350"/>
            <a:ext cx="257175" cy="2571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26158" y="2157413"/>
            <a:ext cx="126240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2D2D"/>
                </a:solidFill>
              </a:rPr>
              <a:t>Productivité</a:t>
            </a:r>
            <a:endParaRPr lang="en-US" sz="1193" dirty="0"/>
          </a:p>
        </p:txBody>
      </p:sp>
      <p:sp>
        <p:nvSpPr>
          <p:cNvPr id="12" name="Text 8"/>
          <p:cNvSpPr/>
          <p:nvPr/>
        </p:nvSpPr>
        <p:spPr>
          <a:xfrm>
            <a:off x="657225" y="2448520"/>
            <a:ext cx="24003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Moins de tâches répétitives, plus d'analyse à valeur ajoutée.</a:t>
            </a:r>
            <a:endParaRPr lang="en-US" sz="942" dirty="0"/>
          </a:p>
        </p:txBody>
      </p:sp>
      <p:sp>
        <p:nvSpPr>
          <p:cNvPr id="13" name="Shape 9"/>
          <p:cNvSpPr/>
          <p:nvPr/>
        </p:nvSpPr>
        <p:spPr>
          <a:xfrm>
            <a:off x="3286125" y="1414463"/>
            <a:ext cx="2571750" cy="2519958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4" name="Shape 10"/>
          <p:cNvSpPr/>
          <p:nvPr/>
        </p:nvSpPr>
        <p:spPr>
          <a:xfrm>
            <a:off x="3286125" y="1414463"/>
            <a:ext cx="2571750" cy="42863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15" name="Shape 11"/>
          <p:cNvSpPr/>
          <p:nvPr/>
        </p:nvSpPr>
        <p:spPr>
          <a:xfrm>
            <a:off x="4286250" y="1500188"/>
            <a:ext cx="571500" cy="5715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413" y="1657350"/>
            <a:ext cx="257175" cy="2571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01223" y="2157413"/>
            <a:ext cx="74152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2D2D"/>
                </a:solidFill>
              </a:rPr>
              <a:t>Qualité</a:t>
            </a:r>
            <a:endParaRPr lang="en-US" sz="1193" dirty="0"/>
          </a:p>
        </p:txBody>
      </p:sp>
      <p:sp>
        <p:nvSpPr>
          <p:cNvPr id="18" name="Text 13"/>
          <p:cNvSpPr/>
          <p:nvPr/>
        </p:nvSpPr>
        <p:spPr>
          <a:xfrm>
            <a:off x="3371850" y="2448520"/>
            <a:ext cx="24003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Contrôles plus fiables et conformité renforcée.</a:t>
            </a:r>
            <a:endParaRPr lang="en-US" sz="942" dirty="0"/>
          </a:p>
        </p:txBody>
      </p:sp>
      <p:sp>
        <p:nvSpPr>
          <p:cNvPr id="19" name="Shape 14"/>
          <p:cNvSpPr/>
          <p:nvPr/>
        </p:nvSpPr>
        <p:spPr>
          <a:xfrm>
            <a:off x="6000750" y="1414463"/>
            <a:ext cx="2571750" cy="2519958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000750" y="1414463"/>
            <a:ext cx="2571750" cy="42863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21" name="Shape 16"/>
          <p:cNvSpPr/>
          <p:nvPr/>
        </p:nvSpPr>
        <p:spPr>
          <a:xfrm>
            <a:off x="7000875" y="1500188"/>
            <a:ext cx="571500" cy="5715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891" y="1657350"/>
            <a:ext cx="321469" cy="2571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71372" y="2157413"/>
            <a:ext cx="163050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2D2D"/>
                </a:solidFill>
              </a:rPr>
              <a:t>Standardisation</a:t>
            </a:r>
            <a:endParaRPr lang="en-US" sz="1193" dirty="0"/>
          </a:p>
        </p:txBody>
      </p:sp>
      <p:sp>
        <p:nvSpPr>
          <p:cNvPr id="24" name="Text 18"/>
          <p:cNvSpPr/>
          <p:nvPr/>
        </p:nvSpPr>
        <p:spPr>
          <a:xfrm>
            <a:off x="6086475" y="2448520"/>
            <a:ext cx="24003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Méthodes harmonisées et meilleure traçabilité.</a:t>
            </a:r>
            <a:endParaRPr lang="en-US" sz="942" dirty="0"/>
          </a:p>
        </p:txBody>
      </p:sp>
      <p:sp>
        <p:nvSpPr>
          <p:cNvPr id="25" name="Shape 19"/>
          <p:cNvSpPr/>
          <p:nvPr/>
        </p:nvSpPr>
        <p:spPr>
          <a:xfrm>
            <a:off x="571500" y="4005858"/>
            <a:ext cx="8001000" cy="994767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6" name="Shape 20"/>
          <p:cNvSpPr/>
          <p:nvPr/>
        </p:nvSpPr>
        <p:spPr>
          <a:xfrm>
            <a:off x="571500" y="4005858"/>
            <a:ext cx="71438" cy="994767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27" name="Text 21"/>
          <p:cNvSpPr/>
          <p:nvPr/>
        </p:nvSpPr>
        <p:spPr>
          <a:xfrm>
            <a:off x="714375" y="4148733"/>
            <a:ext cx="77152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Merci pour votre confiance tout au long de cette rotation.</a:t>
            </a:r>
            <a:endParaRPr lang="en-US" sz="1486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4463" y="4554141"/>
            <a:ext cx="321469" cy="25717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363088" y="4507706"/>
            <a:ext cx="2846422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915A"/>
                </a:solidFill>
              </a:rPr>
              <a:t>Questions &amp; Réponses</a:t>
            </a:r>
            <a:endParaRPr lang="en-US" sz="180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2026-02-15T14:17:24Z</dcterms:created>
  <dcterms:modified xsi:type="dcterms:W3CDTF">2026-02-15T14:17:24Z</dcterms:modified>
</cp:coreProperties>
</file>