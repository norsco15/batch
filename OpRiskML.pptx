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1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62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Data Foundation</a:t>
            </a:r>
            <a:endParaRPr lang="en-US" sz="212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66" y="1285875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678781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INCIDENTS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571500" y="1923455"/>
            <a:ext cx="247648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event details capturing the "when" and "where" of failures.</a:t>
            </a:r>
            <a:endParaRPr lang="en-US" sz="72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097" y="1285875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33731" y="1678781"/>
            <a:ext cx="24765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CAUSES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3333731" y="1923455"/>
            <a:ext cx="247650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Identifying the underlying triggers and failures.</a:t>
            </a:r>
            <a:endParaRPr lang="en-US" sz="72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1356" y="1285875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95991" y="1678781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CONSEQUENCES</a:t>
            </a:r>
            <a:endParaRPr lang="en-US" sz="987" dirty="0"/>
          </a:p>
        </p:txBody>
      </p:sp>
      <p:sp>
        <p:nvSpPr>
          <p:cNvPr id="14" name="Text 8"/>
          <p:cNvSpPr/>
          <p:nvPr/>
        </p:nvSpPr>
        <p:spPr>
          <a:xfrm>
            <a:off x="6095991" y="1923455"/>
            <a:ext cx="24764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and non-financial impacts of the incident.</a:t>
            </a:r>
            <a:endParaRPr lang="en-US" sz="727" dirty="0"/>
          </a:p>
        </p:txBody>
      </p:sp>
      <p:sp>
        <p:nvSpPr>
          <p:cNvPr id="15" name="Shape 9"/>
          <p:cNvSpPr/>
          <p:nvPr/>
        </p:nvSpPr>
        <p:spPr>
          <a:xfrm>
            <a:off x="571500" y="2652117"/>
            <a:ext cx="8001000" cy="142875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0"/>
          <p:cNvSpPr/>
          <p:nvPr/>
        </p:nvSpPr>
        <p:spPr>
          <a:xfrm>
            <a:off x="571500" y="2652117"/>
            <a:ext cx="28575" cy="1428750"/>
          </a:xfrm>
          <a:prstGeom prst="rect">
            <a:avLst/>
          </a:prstGeom>
          <a:solidFill>
            <a:srgbClr val="0091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1"/>
          <p:cNvSpPr/>
          <p:nvPr/>
        </p:nvSpPr>
        <p:spPr>
          <a:xfrm>
            <a:off x="857250" y="2866430"/>
            <a:ext cx="342542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DATA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857250" y="3130748"/>
            <a:ext cx="3425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Dates, loss amounts, business unit codes, and Basel event types. Essential for regulatory reporting.</a:t>
            </a:r>
            <a:endParaRPr lang="en-US" sz="780" dirty="0"/>
          </a:p>
        </p:txBody>
      </p:sp>
      <p:sp>
        <p:nvSpPr>
          <p:cNvPr id="19" name="Text 13"/>
          <p:cNvSpPr/>
          <p:nvPr/>
        </p:nvSpPr>
        <p:spPr>
          <a:xfrm>
            <a:off x="4861322" y="2866430"/>
            <a:ext cx="342542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UNSTRUCTURED TEXT</a:t>
            </a:r>
            <a:endParaRPr lang="en-US" sz="885" dirty="0"/>
          </a:p>
        </p:txBody>
      </p:sp>
      <p:sp>
        <p:nvSpPr>
          <p:cNvPr id="20" name="Text 14"/>
          <p:cNvSpPr/>
          <p:nvPr/>
        </p:nvSpPr>
        <p:spPr>
          <a:xfrm>
            <a:off x="4861322" y="3130748"/>
            <a:ext cx="34254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734" b="1" dirty="0">
                <a:solidFill>
                  <a:srgbClr val="0091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 Field</a:t>
            </a:r>
            <a:r>
              <a:rPr lang="en-US" sz="78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especially valuable. It captures context, patterns, and root causes that structured fields alone miss.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Validation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428750"/>
            <a:ext cx="3711178" cy="12858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571500" y="1428750"/>
            <a:ext cx="28575" cy="1285875"/>
          </a:xfrm>
          <a:prstGeom prst="rect">
            <a:avLst/>
          </a:prstGeom>
          <a:solidFill>
            <a:srgbClr val="0091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85813" y="1643063"/>
            <a:ext cx="32825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 Vincenzo et al. (2023)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785813" y="1834158"/>
            <a:ext cx="328255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"A text analysis for Operational Risk loss descriptions"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85813" y="2312789"/>
            <a:ext cx="32825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ArXiv:2212.01285v3 [stat.AP]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571500" y="3000375"/>
            <a:ext cx="371117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71500" y="3352205"/>
            <a:ext cx="371117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discovery of this paper confirms the relevance of our idea and provides a structured methodology for extracting value from risk descriptions.</a:t>
            </a:r>
            <a:endParaRPr lang="en-US" sz="834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322" y="1498402"/>
            <a:ext cx="171450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5647" y="1428750"/>
            <a:ext cx="33968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Confirms Relevance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5175647" y="1639491"/>
            <a:ext cx="339685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Validates that unstructured descriptions are a primary source of intelligence for root-cause analysis.</a:t>
            </a:r>
            <a:endParaRPr lang="en-US" sz="727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322" y="2243472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647" y="2173821"/>
            <a:ext cx="33968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Gives Credibility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5175647" y="2384561"/>
            <a:ext cx="339685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robust, peer-reviewed foundation for BNP Paribas' internal risk analytics initiatives.</a:t>
            </a:r>
            <a:endParaRPr lang="en-US" sz="727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1322" y="2988543"/>
            <a:ext cx="192881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7078" y="2918892"/>
            <a:ext cx="337542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Methodology</a:t>
            </a:r>
            <a:endParaRPr lang="en-US" sz="885" dirty="0"/>
          </a:p>
        </p:txBody>
      </p:sp>
      <p:sp>
        <p:nvSpPr>
          <p:cNvPr id="21" name="Text 15"/>
          <p:cNvSpPr/>
          <p:nvPr/>
        </p:nvSpPr>
        <p:spPr>
          <a:xfrm>
            <a:off x="5197078" y="3129632"/>
            <a:ext cx="337542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Establishes a proven workflow (Cleaning → Vectorization → Clustering) ensuring implementation consistency.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707231"/>
            <a:ext cx="9144000" cy="71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3313408" cy="33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NLP Workflow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000125"/>
            <a:ext cx="24764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1280517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INGESTION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1491258"/>
            <a:ext cx="24764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Historical Incidents, Causes, and Consequences datasets.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3340875" y="1000125"/>
            <a:ext cx="24693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340875" y="1280517"/>
            <a:ext cx="2469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CLEANING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3340875" y="1491258"/>
            <a:ext cx="246936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Normalize text: lowercasing, stop-word removal, and lemmatization.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6103134" y="1000125"/>
            <a:ext cx="24693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6103134" y="1280517"/>
            <a:ext cx="2469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VECTORIZATION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103134" y="1491258"/>
            <a:ext cx="246933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 cleaned text into a basic word-frequency (TF-IDF) matrix.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571500" y="2436019"/>
            <a:ext cx="24764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71500" y="2716411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ENRICHMENT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571500" y="2927152"/>
            <a:ext cx="24764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Enrich matrix with synonym and semantic similarity information.</a:t>
            </a:r>
            <a:endParaRPr lang="en-US" sz="674" dirty="0"/>
          </a:p>
        </p:txBody>
      </p:sp>
      <p:sp>
        <p:nvSpPr>
          <p:cNvPr id="18" name="Text 15"/>
          <p:cNvSpPr/>
          <p:nvPr/>
        </p:nvSpPr>
        <p:spPr>
          <a:xfrm>
            <a:off x="3340875" y="2436019"/>
            <a:ext cx="24693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3340875" y="2716411"/>
            <a:ext cx="2469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2D PROJECTION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40875" y="2927152"/>
            <a:ext cx="246936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data into 2D for visual cluster exploration.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6103134" y="2436019"/>
            <a:ext cx="24693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6103134" y="2716411"/>
            <a:ext cx="2469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 LABELING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103134" y="2927152"/>
            <a:ext cx="246933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and label granular root-cause clusters from the map.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571500" y="3864769"/>
            <a:ext cx="24764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571500" y="4145161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AUTO-CLASSIFIER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71500" y="4355902"/>
            <a:ext cx="24764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a classifier to automatically tag new incidents with labels.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340875" y="3864769"/>
            <a:ext cx="246936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3340875" y="4145161"/>
            <a:ext cx="2469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RISK-SCORE MODEL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3340875" y="4355902"/>
            <a:ext cx="2469366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 text features with structured fields for predictive scoring.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6103134" y="3864769"/>
            <a:ext cx="246933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91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193" dirty="0"/>
          </a:p>
        </p:txBody>
      </p:sp>
      <p:sp>
        <p:nvSpPr>
          <p:cNvPr id="31" name="Text 28"/>
          <p:cNvSpPr/>
          <p:nvPr/>
        </p:nvSpPr>
        <p:spPr>
          <a:xfrm>
            <a:off x="6103134" y="4145161"/>
            <a:ext cx="24693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 &amp; DASHBOARDS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6103134" y="4355902"/>
            <a:ext cx="2469338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Expose results in dashboards and an API for real-time scoring.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57250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Business Outcomes</a:t>
            </a:r>
            <a:endParaRPr lang="en-US" sz="212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428750"/>
            <a:ext cx="2376469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4375" y="1950244"/>
            <a:ext cx="237646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INTELLIGENCE</a:t>
            </a:r>
            <a:endParaRPr lang="en-US" sz="109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61" y="2348508"/>
            <a:ext cx="85725" cy="857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6442" y="2319933"/>
            <a:ext cx="17252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granular root-cause groups.</a:t>
            </a:r>
            <a:endParaRPr lang="en-US" sz="72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61" y="2641402"/>
            <a:ext cx="85725" cy="857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36442" y="2612827"/>
            <a:ext cx="1496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Automatically tag new incidents.</a:t>
            </a:r>
            <a:endParaRPr lang="en-US" sz="727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561" y="2934295"/>
            <a:ext cx="85725" cy="857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6442" y="2905720"/>
            <a:ext cx="14698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hidden failure patterns.</a:t>
            </a:r>
            <a:endParaRPr lang="en-US" sz="727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738" y="1428750"/>
            <a:ext cx="2376497" cy="3429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383738" y="1950244"/>
            <a:ext cx="237649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PROACTIVITY</a:t>
            </a:r>
            <a:endParaRPr lang="en-US" sz="109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786" y="2348508"/>
            <a:ext cx="85725" cy="8572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848667" y="2319933"/>
            <a:ext cx="14216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severity and likelihood.</a:t>
            </a:r>
            <a:endParaRPr lang="en-US" sz="727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786" y="2641402"/>
            <a:ext cx="85725" cy="8572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848667" y="2612827"/>
            <a:ext cx="16394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early-warning risk scores.</a:t>
            </a:r>
            <a:endParaRPr lang="en-US" sz="727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786" y="2934295"/>
            <a:ext cx="85725" cy="857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848667" y="2905720"/>
            <a:ext cx="14769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mitigation dashboards.</a:t>
            </a:r>
            <a:endParaRPr lang="en-US" sz="727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128" y="1428750"/>
            <a:ext cx="2376469" cy="3429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053128" y="1950244"/>
            <a:ext cx="237646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4A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</a:t>
            </a:r>
            <a:endParaRPr lang="en-US" sz="109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113" y="2348508"/>
            <a:ext cx="85725" cy="8572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576994" y="2319933"/>
            <a:ext cx="15216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management reporting.</a:t>
            </a:r>
            <a:endParaRPr lang="en-US" sz="727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113" y="2641402"/>
            <a:ext cx="85725" cy="85725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6576994" y="2612827"/>
            <a:ext cx="14876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 regulatory compliance.</a:t>
            </a:r>
            <a:endParaRPr lang="en-US" sz="727" dirty="0"/>
          </a:p>
        </p:txBody>
      </p:sp>
      <p:pic>
        <p:nvPicPr>
          <p:cNvPr id="28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4113" y="2934295"/>
            <a:ext cx="85725" cy="85725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6576994" y="2905720"/>
            <a:ext cx="12608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control design.</a:t>
            </a:r>
            <a:endParaRPr lang="en-US" sz="727" dirty="0"/>
          </a:p>
        </p:txBody>
      </p:sp>
      <p:sp>
        <p:nvSpPr>
          <p:cNvPr id="30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4A9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Operational Risk into a Proactive Intelligence Engine.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368</Words>
  <Application>Microsoft Office PowerPoint</Application>
  <PresentationFormat>Affichage à l'écran (16:9)</PresentationFormat>
  <Paragraphs>69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Montserrat</vt:lpstr>
      <vt:lpstr>Open Sans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Hiba Mansour</cp:lastModifiedBy>
  <cp:revision>2</cp:revision>
  <dcterms:created xsi:type="dcterms:W3CDTF">2026-04-14T19:34:54Z</dcterms:created>
  <dcterms:modified xsi:type="dcterms:W3CDTF">2026-04-14T19:40:04Z</dcterms:modified>
</cp:coreProperties>
</file>