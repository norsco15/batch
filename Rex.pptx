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deux rotations, j'ai touché deux environnements très différents mais avec un fil conducteur : utiliser la donnée pour mieux maîtriser le risque.
Première rotation, chez BP2I, dans l'équipe Risk &amp; Control Management. Beaucoup de contrôles récurrents étaient faits à la main — chronophage et exposé aux erreurs. Je les ai industrialisés en Python. Au-delà de l'automatisation, l'enjeu était la fiabilité des données et la conformité. Et j'ai passé du temps sur la documentation et le transfert, pour que l'équipe reste autonome après mon départ.
Deuxième rotation, aujourd'hui, à l'équipe RISK sur le risque opérationnel. Le sujet : nos incidents contiennent des descriptions en texte libre très riches, mais quasiment jamais exploitées. On utilise du NLP pour les faire parler et faire émerger automatiquement des familles de risque récurrentes — y compris des familles que la taxonomie réglementaire ne voit pas.
Ce que j'en retiens, et c'est le conseil que je vous donnerais : la partie technique n'est jamais le plus difficile. Ce qui fait la différence, c'est de bien comprendre le besoin métier avant de coder, et de savoir embarquer les bonnes équipes. Sur ma rotation actuelle, une bonne partie du temps a été consacrée à obtenir l'accès aux outils — en banque, ça fait partie du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321040" cy="384048"/>
          </a:xfrm>
          <a:prstGeom prst="rect">
            <a:avLst/>
          </a:prstGeom>
          <a:noFill/>
          <a:ln/>
        </p:spPr>
        <p:txBody>
          <a:bodyPr wrap="square" lIns="0" tIns="0" rIns="0" bIns="0" rtlCol="0" anchor="ctr"/>
          <a:lstStyle/>
          <a:p>
            <a:pPr indent="0" marL="0">
              <a:buNone/>
            </a:pPr>
            <a:r>
              <a:rPr lang="en-US" sz="2200" b="1" dirty="0">
                <a:solidFill>
                  <a:srgbClr val="00915A"/>
                </a:solidFill>
                <a:latin typeface="Arial" pitchFamily="34" charset="0"/>
                <a:ea typeface="Arial" pitchFamily="34" charset="-122"/>
                <a:cs typeface="Arial" pitchFamily="34" charset="-120"/>
              </a:rPr>
              <a:t>Mon parcours — Graduate Programme IT</a:t>
            </a:r>
            <a:endParaRPr lang="en-US" sz="2200" dirty="0"/>
          </a:p>
        </p:txBody>
      </p:sp>
      <p:sp>
        <p:nvSpPr>
          <p:cNvPr id="3" name="Text 1"/>
          <p:cNvSpPr/>
          <p:nvPr/>
        </p:nvSpPr>
        <p:spPr>
          <a:xfrm>
            <a:off x="411480" y="585216"/>
            <a:ext cx="8321040" cy="274320"/>
          </a:xfrm>
          <a:prstGeom prst="rect">
            <a:avLst/>
          </a:prstGeom>
          <a:noFill/>
          <a:ln/>
        </p:spPr>
        <p:txBody>
          <a:bodyPr wrap="square" lIns="0" tIns="0" rIns="0" bIns="0" rtlCol="0" anchor="ctr"/>
          <a:lstStyle/>
          <a:p>
            <a:pPr indent="0" marL="0">
              <a:buNone/>
            </a:pPr>
            <a:r>
              <a:rPr lang="en-US" sz="1050" i="1" dirty="0">
                <a:solidFill>
                  <a:srgbClr val="5C5C5C"/>
                </a:solidFill>
                <a:latin typeface="Arial" pitchFamily="34" charset="0"/>
                <a:ea typeface="Arial" pitchFamily="34" charset="-122"/>
                <a:cs typeface="Arial" pitchFamily="34" charset="-120"/>
              </a:rPr>
              <a:t>Deux rotations, deux environnements, un même fil conducteur : la donnée au service du contrôle du risque</a:t>
            </a:r>
            <a:endParaRPr lang="en-US" sz="1050" dirty="0"/>
          </a:p>
        </p:txBody>
      </p:sp>
      <p:sp>
        <p:nvSpPr>
          <p:cNvPr id="4" name="Shape 2"/>
          <p:cNvSpPr/>
          <p:nvPr/>
        </p:nvSpPr>
        <p:spPr>
          <a:xfrm>
            <a:off x="411480" y="987552"/>
            <a:ext cx="4000500" cy="2761488"/>
          </a:xfrm>
          <a:prstGeom prst="rect">
            <a:avLst/>
          </a:prstGeom>
          <a:solidFill>
            <a:srgbClr val="FFFFFF"/>
          </a:solidFill>
          <a:ln w="12700">
            <a:solidFill>
              <a:srgbClr val="DCE3E0"/>
            </a:solidFill>
            <a:prstDash val="solid"/>
          </a:ln>
        </p:spPr>
      </p:sp>
      <p:sp>
        <p:nvSpPr>
          <p:cNvPr id="5" name="Shape 3"/>
          <p:cNvSpPr/>
          <p:nvPr/>
        </p:nvSpPr>
        <p:spPr>
          <a:xfrm>
            <a:off x="411480" y="987552"/>
            <a:ext cx="64008" cy="2761488"/>
          </a:xfrm>
          <a:prstGeom prst="rect">
            <a:avLst/>
          </a:prstGeom>
          <a:solidFill>
            <a:srgbClr val="00915A"/>
          </a:solidFill>
          <a:ln w="12700">
            <a:solidFill>
              <a:srgbClr val="00915A"/>
            </a:solidFill>
            <a:prstDash val="solid"/>
          </a:ln>
        </p:spPr>
      </p:sp>
      <p:sp>
        <p:nvSpPr>
          <p:cNvPr id="6" name="Text 4"/>
          <p:cNvSpPr/>
          <p:nvPr/>
        </p:nvSpPr>
        <p:spPr>
          <a:xfrm>
            <a:off x="685800" y="1188720"/>
            <a:ext cx="1828800" cy="219456"/>
          </a:xfrm>
          <a:prstGeom prst="rect">
            <a:avLst/>
          </a:prstGeom>
          <a:noFill/>
          <a:ln/>
        </p:spPr>
        <p:txBody>
          <a:bodyPr wrap="square" lIns="0" tIns="0" rIns="0" bIns="0" rtlCol="0" anchor="ctr"/>
          <a:lstStyle/>
          <a:p>
            <a:pPr indent="0" marL="0">
              <a:buNone/>
            </a:pPr>
            <a:r>
              <a:rPr lang="en-US" sz="900" b="1" spc="200" kern="0" dirty="0">
                <a:solidFill>
                  <a:srgbClr val="00915A"/>
                </a:solidFill>
                <a:latin typeface="Arial" pitchFamily="34" charset="0"/>
                <a:ea typeface="Arial" pitchFamily="34" charset="-122"/>
                <a:cs typeface="Arial" pitchFamily="34" charset="-120"/>
              </a:rPr>
              <a:t>ROTATION 1</a:t>
            </a:r>
            <a:endParaRPr lang="en-US" sz="900" dirty="0"/>
          </a:p>
        </p:txBody>
      </p:sp>
      <p:pic>
        <p:nvPicPr>
          <p:cNvPr id="7" name="Image 0" descr="preencoded.png">    </p:cNvPr>
          <p:cNvPicPr>
            <a:picLocks noChangeAspect="1"/>
          </p:cNvPicPr>
          <p:nvPr/>
        </p:nvPicPr>
        <p:blipFill>
          <a:blip r:embed="rId1"/>
          <a:stretch>
            <a:fillRect/>
          </a:stretch>
        </p:blipFill>
        <p:spPr>
          <a:xfrm>
            <a:off x="3845052" y="1170432"/>
            <a:ext cx="274320" cy="274320"/>
          </a:xfrm>
          <a:prstGeom prst="rect">
            <a:avLst/>
          </a:prstGeom>
        </p:spPr>
      </p:pic>
      <p:sp>
        <p:nvSpPr>
          <p:cNvPr id="8" name="Text 5"/>
          <p:cNvSpPr/>
          <p:nvPr/>
        </p:nvSpPr>
        <p:spPr>
          <a:xfrm>
            <a:off x="685800" y="1444752"/>
            <a:ext cx="3451860" cy="310896"/>
          </a:xfrm>
          <a:prstGeom prst="rect">
            <a:avLst/>
          </a:prstGeom>
          <a:noFill/>
          <a:ln/>
        </p:spPr>
        <p:txBody>
          <a:bodyPr wrap="square" lIns="0" tIns="0" rIns="0" bIns="0" rtlCol="0" anchor="ctr"/>
          <a:lstStyle/>
          <a:p>
            <a:pPr indent="0" marL="0">
              <a:buNone/>
            </a:pPr>
            <a:r>
              <a:rPr lang="en-US" sz="1500" b="1" dirty="0">
                <a:solidFill>
                  <a:srgbClr val="262626"/>
                </a:solidFill>
                <a:latin typeface="Arial" pitchFamily="34" charset="0"/>
                <a:ea typeface="Arial" pitchFamily="34" charset="-122"/>
                <a:cs typeface="Arial" pitchFamily="34" charset="-120"/>
              </a:rPr>
              <a:t>Risk &amp; Control Management</a:t>
            </a:r>
            <a:endParaRPr lang="en-US" sz="1500" dirty="0"/>
          </a:p>
        </p:txBody>
      </p:sp>
      <p:sp>
        <p:nvSpPr>
          <p:cNvPr id="9" name="Text 6"/>
          <p:cNvSpPr/>
          <p:nvPr/>
        </p:nvSpPr>
        <p:spPr>
          <a:xfrm>
            <a:off x="685800" y="1755648"/>
            <a:ext cx="3451860" cy="219456"/>
          </a:xfrm>
          <a:prstGeom prst="rect">
            <a:avLst/>
          </a:prstGeom>
          <a:noFill/>
          <a:ln/>
        </p:spPr>
        <p:txBody>
          <a:bodyPr wrap="square" lIns="0" tIns="0" rIns="0" bIns="0" rtlCol="0" anchor="ctr"/>
          <a:lstStyle/>
          <a:p>
            <a:pPr indent="0" marL="0">
              <a:buNone/>
            </a:pPr>
            <a:r>
              <a:rPr lang="en-US" sz="1000" dirty="0">
                <a:solidFill>
                  <a:srgbClr val="8C8C8C"/>
                </a:solidFill>
                <a:latin typeface="Arial" pitchFamily="34" charset="0"/>
                <a:ea typeface="Arial" pitchFamily="34" charset="-122"/>
                <a:cs typeface="Arial" pitchFamily="34" charset="-120"/>
              </a:rPr>
              <a:t>BP2I</a:t>
            </a:r>
            <a:endParaRPr lang="en-US" sz="1000" dirty="0"/>
          </a:p>
        </p:txBody>
      </p:sp>
      <p:sp>
        <p:nvSpPr>
          <p:cNvPr id="10" name="Shape 7"/>
          <p:cNvSpPr/>
          <p:nvPr/>
        </p:nvSpPr>
        <p:spPr>
          <a:xfrm>
            <a:off x="685800" y="2029968"/>
            <a:ext cx="3451860" cy="0"/>
          </a:xfrm>
          <a:prstGeom prst="line">
            <a:avLst/>
          </a:prstGeom>
          <a:noFill/>
          <a:ln w="12700">
            <a:solidFill>
              <a:srgbClr val="DCE3E0"/>
            </a:solidFill>
            <a:prstDash val="solid"/>
          </a:ln>
        </p:spPr>
      </p:sp>
      <p:sp>
        <p:nvSpPr>
          <p:cNvPr id="11" name="Shape 8"/>
          <p:cNvSpPr/>
          <p:nvPr/>
        </p:nvSpPr>
        <p:spPr>
          <a:xfrm>
            <a:off x="685800" y="2267712"/>
            <a:ext cx="82296" cy="82296"/>
          </a:xfrm>
          <a:prstGeom prst="rect">
            <a:avLst/>
          </a:prstGeom>
          <a:solidFill>
            <a:srgbClr val="00915A"/>
          </a:solidFill>
          <a:ln w="12700">
            <a:solidFill>
              <a:srgbClr val="00915A"/>
            </a:solidFill>
            <a:prstDash val="solid"/>
          </a:ln>
        </p:spPr>
      </p:sp>
      <p:sp>
        <p:nvSpPr>
          <p:cNvPr id="12" name="Text 9"/>
          <p:cNvSpPr/>
          <p:nvPr/>
        </p:nvSpPr>
        <p:spPr>
          <a:xfrm>
            <a:off x="868680" y="2157984"/>
            <a:ext cx="3268980" cy="36576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Automatisation des contrôles récurrents</a:t>
            </a:r>
            <a:endParaRPr lang="en-US" sz="1100" dirty="0"/>
          </a:p>
        </p:txBody>
      </p:sp>
      <p:sp>
        <p:nvSpPr>
          <p:cNvPr id="13" name="Shape 10"/>
          <p:cNvSpPr/>
          <p:nvPr/>
        </p:nvSpPr>
        <p:spPr>
          <a:xfrm>
            <a:off x="685800" y="2670048"/>
            <a:ext cx="82296" cy="82296"/>
          </a:xfrm>
          <a:prstGeom prst="rect">
            <a:avLst/>
          </a:prstGeom>
          <a:solidFill>
            <a:srgbClr val="00915A"/>
          </a:solidFill>
          <a:ln w="12700">
            <a:solidFill>
              <a:srgbClr val="00915A"/>
            </a:solidFill>
            <a:prstDash val="solid"/>
          </a:ln>
        </p:spPr>
      </p:sp>
      <p:sp>
        <p:nvSpPr>
          <p:cNvPr id="14" name="Text 11"/>
          <p:cNvSpPr/>
          <p:nvPr/>
        </p:nvSpPr>
        <p:spPr>
          <a:xfrm>
            <a:off x="868680" y="2560320"/>
            <a:ext cx="3268980" cy="36576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Fiabilité et conformité des données</a:t>
            </a:r>
            <a:endParaRPr lang="en-US" sz="1100" dirty="0"/>
          </a:p>
        </p:txBody>
      </p:sp>
      <p:sp>
        <p:nvSpPr>
          <p:cNvPr id="15" name="Shape 12"/>
          <p:cNvSpPr/>
          <p:nvPr/>
        </p:nvSpPr>
        <p:spPr>
          <a:xfrm>
            <a:off x="685800" y="3072384"/>
            <a:ext cx="82296" cy="82296"/>
          </a:xfrm>
          <a:prstGeom prst="rect">
            <a:avLst/>
          </a:prstGeom>
          <a:solidFill>
            <a:srgbClr val="00915A"/>
          </a:solidFill>
          <a:ln w="12700">
            <a:solidFill>
              <a:srgbClr val="00915A"/>
            </a:solidFill>
            <a:prstDash val="solid"/>
          </a:ln>
        </p:spPr>
      </p:sp>
      <p:sp>
        <p:nvSpPr>
          <p:cNvPr id="16" name="Text 13"/>
          <p:cNvSpPr/>
          <p:nvPr/>
        </p:nvSpPr>
        <p:spPr>
          <a:xfrm>
            <a:off x="868680" y="2962656"/>
            <a:ext cx="3268980" cy="36576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Documentation et transfert à l'équipe</a:t>
            </a:r>
            <a:endParaRPr lang="en-US" sz="1100" dirty="0"/>
          </a:p>
        </p:txBody>
      </p:sp>
      <p:sp>
        <p:nvSpPr>
          <p:cNvPr id="17" name="Text 14"/>
          <p:cNvSpPr/>
          <p:nvPr/>
        </p:nvSpPr>
        <p:spPr>
          <a:xfrm>
            <a:off x="685800" y="3383280"/>
            <a:ext cx="3451860" cy="237744"/>
          </a:xfrm>
          <a:prstGeom prst="rect">
            <a:avLst/>
          </a:prstGeom>
          <a:noFill/>
          <a:ln/>
        </p:spPr>
        <p:txBody>
          <a:bodyPr wrap="square" lIns="0" tIns="0" rIns="0" bIns="0" rtlCol="0" anchor="ctr"/>
          <a:lstStyle/>
          <a:p>
            <a:pPr indent="0" marL="0">
              <a:buNone/>
            </a:pPr>
            <a:r>
              <a:rPr lang="en-US" sz="900" i="1" dirty="0">
                <a:solidFill>
                  <a:srgbClr val="8C8C8C"/>
                </a:solidFill>
                <a:latin typeface="Arial" pitchFamily="34" charset="0"/>
                <a:ea typeface="Arial" pitchFamily="34" charset="-122"/>
                <a:cs typeface="Arial" pitchFamily="34" charset="-120"/>
              </a:rPr>
              <a:t>Manager : [à compléter]</a:t>
            </a:r>
            <a:endParaRPr lang="en-US" sz="900" dirty="0"/>
          </a:p>
        </p:txBody>
      </p:sp>
      <p:sp>
        <p:nvSpPr>
          <p:cNvPr id="18" name="Shape 15"/>
          <p:cNvSpPr/>
          <p:nvPr/>
        </p:nvSpPr>
        <p:spPr>
          <a:xfrm>
            <a:off x="4732020" y="987552"/>
            <a:ext cx="4000500" cy="2761488"/>
          </a:xfrm>
          <a:prstGeom prst="rect">
            <a:avLst/>
          </a:prstGeom>
          <a:solidFill>
            <a:srgbClr val="FFFFFF"/>
          </a:solidFill>
          <a:ln w="12700">
            <a:solidFill>
              <a:srgbClr val="DCE3E0"/>
            </a:solidFill>
            <a:prstDash val="solid"/>
          </a:ln>
        </p:spPr>
      </p:sp>
      <p:sp>
        <p:nvSpPr>
          <p:cNvPr id="19" name="Shape 16"/>
          <p:cNvSpPr/>
          <p:nvPr/>
        </p:nvSpPr>
        <p:spPr>
          <a:xfrm>
            <a:off x="4732020" y="987552"/>
            <a:ext cx="64008" cy="2761488"/>
          </a:xfrm>
          <a:prstGeom prst="rect">
            <a:avLst/>
          </a:prstGeom>
          <a:solidFill>
            <a:srgbClr val="00915A"/>
          </a:solidFill>
          <a:ln w="12700">
            <a:solidFill>
              <a:srgbClr val="00915A"/>
            </a:solidFill>
            <a:prstDash val="solid"/>
          </a:ln>
        </p:spPr>
      </p:sp>
      <p:sp>
        <p:nvSpPr>
          <p:cNvPr id="20" name="Text 17"/>
          <p:cNvSpPr/>
          <p:nvPr/>
        </p:nvSpPr>
        <p:spPr>
          <a:xfrm>
            <a:off x="5006340" y="1188720"/>
            <a:ext cx="1828800" cy="219456"/>
          </a:xfrm>
          <a:prstGeom prst="rect">
            <a:avLst/>
          </a:prstGeom>
          <a:noFill/>
          <a:ln/>
        </p:spPr>
        <p:txBody>
          <a:bodyPr wrap="square" lIns="0" tIns="0" rIns="0" bIns="0" rtlCol="0" anchor="ctr"/>
          <a:lstStyle/>
          <a:p>
            <a:pPr indent="0" marL="0">
              <a:buNone/>
            </a:pPr>
            <a:r>
              <a:rPr lang="en-US" sz="900" b="1" spc="200" kern="0" dirty="0">
                <a:solidFill>
                  <a:srgbClr val="00915A"/>
                </a:solidFill>
                <a:latin typeface="Arial" pitchFamily="34" charset="0"/>
                <a:ea typeface="Arial" pitchFamily="34" charset="-122"/>
                <a:cs typeface="Arial" pitchFamily="34" charset="-120"/>
              </a:rPr>
              <a:t>ROTATION 2</a:t>
            </a:r>
            <a:endParaRPr lang="en-US" sz="900" dirty="0"/>
          </a:p>
        </p:txBody>
      </p:sp>
      <p:pic>
        <p:nvPicPr>
          <p:cNvPr id="21" name="Image 1" descr="preencoded.png">    </p:cNvPr>
          <p:cNvPicPr>
            <a:picLocks noChangeAspect="1"/>
          </p:cNvPicPr>
          <p:nvPr/>
        </p:nvPicPr>
        <p:blipFill>
          <a:blip r:embed="rId2"/>
          <a:stretch>
            <a:fillRect/>
          </a:stretch>
        </p:blipFill>
        <p:spPr>
          <a:xfrm>
            <a:off x="8165592" y="1170432"/>
            <a:ext cx="274320" cy="274320"/>
          </a:xfrm>
          <a:prstGeom prst="rect">
            <a:avLst/>
          </a:prstGeom>
        </p:spPr>
      </p:pic>
      <p:sp>
        <p:nvSpPr>
          <p:cNvPr id="22" name="Text 18"/>
          <p:cNvSpPr/>
          <p:nvPr/>
        </p:nvSpPr>
        <p:spPr>
          <a:xfrm>
            <a:off x="5006340" y="1444752"/>
            <a:ext cx="3451860" cy="310896"/>
          </a:xfrm>
          <a:prstGeom prst="rect">
            <a:avLst/>
          </a:prstGeom>
          <a:noFill/>
          <a:ln/>
        </p:spPr>
        <p:txBody>
          <a:bodyPr wrap="square" lIns="0" tIns="0" rIns="0" bIns="0" rtlCol="0" anchor="ctr"/>
          <a:lstStyle/>
          <a:p>
            <a:pPr indent="0" marL="0">
              <a:buNone/>
            </a:pPr>
            <a:r>
              <a:rPr lang="en-US" sz="1500" b="1" dirty="0">
                <a:solidFill>
                  <a:srgbClr val="262626"/>
                </a:solidFill>
                <a:latin typeface="Arial" pitchFamily="34" charset="0"/>
                <a:ea typeface="Arial" pitchFamily="34" charset="-122"/>
                <a:cs typeface="Arial" pitchFamily="34" charset="-120"/>
              </a:rPr>
              <a:t>Data Science &amp; NLP</a:t>
            </a:r>
            <a:endParaRPr lang="en-US" sz="1500" dirty="0"/>
          </a:p>
        </p:txBody>
      </p:sp>
      <p:sp>
        <p:nvSpPr>
          <p:cNvPr id="23" name="Text 19"/>
          <p:cNvSpPr/>
          <p:nvPr/>
        </p:nvSpPr>
        <p:spPr>
          <a:xfrm>
            <a:off x="5006340" y="1755648"/>
            <a:ext cx="3451860" cy="219456"/>
          </a:xfrm>
          <a:prstGeom prst="rect">
            <a:avLst/>
          </a:prstGeom>
          <a:noFill/>
          <a:ln/>
        </p:spPr>
        <p:txBody>
          <a:bodyPr wrap="square" lIns="0" tIns="0" rIns="0" bIns="0" rtlCol="0" anchor="ctr"/>
          <a:lstStyle/>
          <a:p>
            <a:pPr indent="0" marL="0">
              <a:buNone/>
            </a:pPr>
            <a:r>
              <a:rPr lang="en-US" sz="1000" dirty="0">
                <a:solidFill>
                  <a:srgbClr val="8C8C8C"/>
                </a:solidFill>
                <a:latin typeface="Arial" pitchFamily="34" charset="0"/>
                <a:ea typeface="Arial" pitchFamily="34" charset="-122"/>
                <a:cs typeface="Arial" pitchFamily="34" charset="-120"/>
              </a:rPr>
              <a:t>RISK — Risque Opérationnel</a:t>
            </a:r>
            <a:endParaRPr lang="en-US" sz="1000" dirty="0"/>
          </a:p>
        </p:txBody>
      </p:sp>
      <p:sp>
        <p:nvSpPr>
          <p:cNvPr id="24" name="Shape 20"/>
          <p:cNvSpPr/>
          <p:nvPr/>
        </p:nvSpPr>
        <p:spPr>
          <a:xfrm>
            <a:off x="5006340" y="2029968"/>
            <a:ext cx="3451860" cy="0"/>
          </a:xfrm>
          <a:prstGeom prst="line">
            <a:avLst/>
          </a:prstGeom>
          <a:noFill/>
          <a:ln w="12700">
            <a:solidFill>
              <a:srgbClr val="DCE3E0"/>
            </a:solidFill>
            <a:prstDash val="solid"/>
          </a:ln>
        </p:spPr>
      </p:sp>
      <p:sp>
        <p:nvSpPr>
          <p:cNvPr id="25" name="Shape 21"/>
          <p:cNvSpPr/>
          <p:nvPr/>
        </p:nvSpPr>
        <p:spPr>
          <a:xfrm>
            <a:off x="5006340" y="2267712"/>
            <a:ext cx="82296" cy="82296"/>
          </a:xfrm>
          <a:prstGeom prst="rect">
            <a:avLst/>
          </a:prstGeom>
          <a:solidFill>
            <a:srgbClr val="00915A"/>
          </a:solidFill>
          <a:ln w="12700">
            <a:solidFill>
              <a:srgbClr val="00915A"/>
            </a:solidFill>
            <a:prstDash val="solid"/>
          </a:ln>
        </p:spPr>
      </p:sp>
      <p:sp>
        <p:nvSpPr>
          <p:cNvPr id="26" name="Text 22"/>
          <p:cNvSpPr/>
          <p:nvPr/>
        </p:nvSpPr>
        <p:spPr>
          <a:xfrm>
            <a:off x="5189220" y="2157984"/>
            <a:ext cx="3268980" cy="36576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Valorisation de la donnée non structurée</a:t>
            </a:r>
            <a:endParaRPr lang="en-US" sz="1100" dirty="0"/>
          </a:p>
        </p:txBody>
      </p:sp>
      <p:sp>
        <p:nvSpPr>
          <p:cNvPr id="27" name="Shape 23"/>
          <p:cNvSpPr/>
          <p:nvPr/>
        </p:nvSpPr>
        <p:spPr>
          <a:xfrm>
            <a:off x="5006340" y="2670048"/>
            <a:ext cx="82296" cy="82296"/>
          </a:xfrm>
          <a:prstGeom prst="rect">
            <a:avLst/>
          </a:prstGeom>
          <a:solidFill>
            <a:srgbClr val="00915A"/>
          </a:solidFill>
          <a:ln w="12700">
            <a:solidFill>
              <a:srgbClr val="00915A"/>
            </a:solidFill>
            <a:prstDash val="solid"/>
          </a:ln>
        </p:spPr>
      </p:sp>
      <p:sp>
        <p:nvSpPr>
          <p:cNvPr id="28" name="Text 24"/>
          <p:cNvSpPr/>
          <p:nvPr/>
        </p:nvSpPr>
        <p:spPr>
          <a:xfrm>
            <a:off x="5189220" y="2560320"/>
            <a:ext cx="3268980" cy="36576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Détection de familles de risque récurrentes</a:t>
            </a:r>
            <a:endParaRPr lang="en-US" sz="1100" dirty="0"/>
          </a:p>
        </p:txBody>
      </p:sp>
      <p:sp>
        <p:nvSpPr>
          <p:cNvPr id="29" name="Shape 25"/>
          <p:cNvSpPr/>
          <p:nvPr/>
        </p:nvSpPr>
        <p:spPr>
          <a:xfrm>
            <a:off x="5006340" y="3072384"/>
            <a:ext cx="82296" cy="82296"/>
          </a:xfrm>
          <a:prstGeom prst="rect">
            <a:avLst/>
          </a:prstGeom>
          <a:solidFill>
            <a:srgbClr val="00915A"/>
          </a:solidFill>
          <a:ln w="12700">
            <a:solidFill>
              <a:srgbClr val="00915A"/>
            </a:solidFill>
            <a:prstDash val="solid"/>
          </a:ln>
        </p:spPr>
      </p:sp>
      <p:sp>
        <p:nvSpPr>
          <p:cNvPr id="30" name="Text 26"/>
          <p:cNvSpPr/>
          <p:nvPr/>
        </p:nvSpPr>
        <p:spPr>
          <a:xfrm>
            <a:off x="5189220" y="2962656"/>
            <a:ext cx="3268980" cy="365760"/>
          </a:xfrm>
          <a:prstGeom prst="rect">
            <a:avLst/>
          </a:prstGeom>
          <a:noFill/>
          <a:ln/>
        </p:spPr>
        <p:txBody>
          <a:bodyPr wrap="square" lIns="0" tIns="0" rIns="0" bIns="0" rtlCol="0" anchor="t"/>
          <a:lstStyle/>
          <a:p>
            <a:pPr indent="0" marL="0">
              <a:buNone/>
            </a:pPr>
            <a:r>
              <a:rPr lang="en-US" sz="1100" dirty="0">
                <a:solidFill>
                  <a:srgbClr val="262626"/>
                </a:solidFill>
                <a:latin typeface="Arial" pitchFamily="34" charset="0"/>
                <a:ea typeface="Arial" pitchFamily="34" charset="-122"/>
                <a:cs typeface="Arial" pitchFamily="34" charset="-120"/>
              </a:rPr>
              <a:t>Coordination avec les équipes IT du Groupe</a:t>
            </a:r>
            <a:endParaRPr lang="en-US" sz="1100" dirty="0"/>
          </a:p>
        </p:txBody>
      </p:sp>
      <p:sp>
        <p:nvSpPr>
          <p:cNvPr id="31" name="Text 27"/>
          <p:cNvSpPr/>
          <p:nvPr/>
        </p:nvSpPr>
        <p:spPr>
          <a:xfrm>
            <a:off x="5006340" y="3383280"/>
            <a:ext cx="3451860" cy="237744"/>
          </a:xfrm>
          <a:prstGeom prst="rect">
            <a:avLst/>
          </a:prstGeom>
          <a:noFill/>
          <a:ln/>
        </p:spPr>
        <p:txBody>
          <a:bodyPr wrap="square" lIns="0" tIns="0" rIns="0" bIns="0" rtlCol="0" anchor="ctr"/>
          <a:lstStyle/>
          <a:p>
            <a:pPr indent="0" marL="0">
              <a:buNone/>
            </a:pPr>
            <a:r>
              <a:rPr lang="en-US" sz="900" i="1" dirty="0">
                <a:solidFill>
                  <a:srgbClr val="8C8C8C"/>
                </a:solidFill>
                <a:latin typeface="Arial" pitchFamily="34" charset="0"/>
                <a:ea typeface="Arial" pitchFamily="34" charset="-122"/>
                <a:cs typeface="Arial" pitchFamily="34" charset="-120"/>
              </a:rPr>
              <a:t>Manager : Fabrice MAZZINI</a:t>
            </a:r>
            <a:endParaRPr lang="en-US" sz="900" dirty="0"/>
          </a:p>
        </p:txBody>
      </p:sp>
      <p:sp>
        <p:nvSpPr>
          <p:cNvPr id="32" name="Shape 28"/>
          <p:cNvSpPr/>
          <p:nvPr/>
        </p:nvSpPr>
        <p:spPr>
          <a:xfrm>
            <a:off x="411480" y="3913632"/>
            <a:ext cx="8321040" cy="658368"/>
          </a:xfrm>
          <a:prstGeom prst="rect">
            <a:avLst/>
          </a:prstGeom>
          <a:solidFill>
            <a:srgbClr val="F1F8F4"/>
          </a:solidFill>
          <a:ln w="12700">
            <a:solidFill>
              <a:srgbClr val="00915A"/>
            </a:solidFill>
            <a:prstDash val="solid"/>
          </a:ln>
        </p:spPr>
      </p:sp>
      <p:sp>
        <p:nvSpPr>
          <p:cNvPr id="33" name="Text 29"/>
          <p:cNvSpPr/>
          <p:nvPr/>
        </p:nvSpPr>
        <p:spPr>
          <a:xfrm>
            <a:off x="640080" y="4005072"/>
            <a:ext cx="1828800" cy="201168"/>
          </a:xfrm>
          <a:prstGeom prst="rect">
            <a:avLst/>
          </a:prstGeom>
          <a:noFill/>
          <a:ln/>
        </p:spPr>
        <p:txBody>
          <a:bodyPr wrap="square" lIns="0" tIns="0" rIns="0" bIns="0" rtlCol="0" anchor="ctr"/>
          <a:lstStyle/>
          <a:p>
            <a:pPr indent="0" marL="0">
              <a:buNone/>
            </a:pPr>
            <a:r>
              <a:rPr lang="en-US" sz="850" b="1" spc="200" kern="0" dirty="0">
                <a:solidFill>
                  <a:srgbClr val="00915A"/>
                </a:solidFill>
                <a:latin typeface="Arial" pitchFamily="34" charset="0"/>
                <a:ea typeface="Arial" pitchFamily="34" charset="-122"/>
                <a:cs typeface="Arial" pitchFamily="34" charset="-120"/>
              </a:rPr>
              <a:t>CE QUE J'EN RETIENS</a:t>
            </a:r>
            <a:endParaRPr lang="en-US" sz="850" dirty="0"/>
          </a:p>
        </p:txBody>
      </p:sp>
      <p:sp>
        <p:nvSpPr>
          <p:cNvPr id="34" name="Text 30"/>
          <p:cNvSpPr/>
          <p:nvPr/>
        </p:nvSpPr>
        <p:spPr>
          <a:xfrm>
            <a:off x="640080" y="4224528"/>
            <a:ext cx="7863840" cy="256032"/>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La compréhension du besoin métier avant la technique</a:t>
            </a:r>
            <a:pPr indent="0" marL="0">
              <a:buNone/>
            </a:pPr>
            <a:r>
              <a:rPr lang="en-US" sz="1100" dirty="0">
                <a:solidFill>
                  <a:srgbClr val="262626"/>
                </a:solidFill>
                <a:latin typeface="Arial" pitchFamily="34" charset="0"/>
                <a:ea typeface="Arial" pitchFamily="34" charset="-122"/>
                <a:cs typeface="Arial" pitchFamily="34" charset="-120"/>
              </a:rPr>
              <a:t>   ·   et l'adhésion des bonnes équipes.</a:t>
            </a:r>
            <a:endParaRPr lang="en-US" sz="1100" dirty="0"/>
          </a:p>
        </p:txBody>
      </p:sp>
      <p:sp>
        <p:nvSpPr>
          <p:cNvPr id="35" name="Shape 31"/>
          <p:cNvSpPr/>
          <p:nvPr/>
        </p:nvSpPr>
        <p:spPr>
          <a:xfrm>
            <a:off x="411480" y="4668012"/>
            <a:ext cx="8321040" cy="0"/>
          </a:xfrm>
          <a:prstGeom prst="line">
            <a:avLst/>
          </a:prstGeom>
          <a:noFill/>
          <a:ln w="9525">
            <a:solidFill>
              <a:srgbClr val="D8D8D8"/>
            </a:solidFill>
            <a:prstDash val="solid"/>
          </a:ln>
        </p:spPr>
      </p:sp>
      <p:sp>
        <p:nvSpPr>
          <p:cNvPr id="36" name="Text 32"/>
          <p:cNvSpPr/>
          <p:nvPr/>
        </p:nvSpPr>
        <p:spPr>
          <a:xfrm>
            <a:off x="411480" y="4732020"/>
            <a:ext cx="1463040" cy="219456"/>
          </a:xfrm>
          <a:prstGeom prst="rect">
            <a:avLst/>
          </a:prstGeom>
          <a:noFill/>
          <a:ln/>
        </p:spPr>
        <p:txBody>
          <a:bodyPr wrap="square" lIns="0" tIns="0" rIns="0" bIns="0" rtlCol="0" anchor="ctr"/>
          <a:lstStyle/>
          <a:p>
            <a:pPr indent="0" marL="0">
              <a:buNone/>
            </a:pPr>
            <a:r>
              <a:rPr lang="en-US" sz="900" b="1" dirty="0">
                <a:solidFill>
                  <a:srgbClr val="262626"/>
                </a:solidFill>
                <a:latin typeface="Arial" pitchFamily="34" charset="0"/>
                <a:ea typeface="Arial" pitchFamily="34" charset="-122"/>
                <a:cs typeface="Arial" pitchFamily="34" charset="-120"/>
              </a:rPr>
              <a:t>BNP PARIBAS</a:t>
            </a:r>
            <a:endParaRPr lang="en-US" sz="900" dirty="0"/>
          </a:p>
        </p:txBody>
      </p:sp>
      <p:sp>
        <p:nvSpPr>
          <p:cNvPr id="37" name="Text 33"/>
          <p:cNvSpPr/>
          <p:nvPr/>
        </p:nvSpPr>
        <p:spPr>
          <a:xfrm>
            <a:off x="3383280" y="4732020"/>
            <a:ext cx="2377440" cy="219456"/>
          </a:xfrm>
          <a:prstGeom prst="rect">
            <a:avLst/>
          </a:prstGeom>
          <a:noFill/>
          <a:ln/>
        </p:spPr>
        <p:txBody>
          <a:bodyPr wrap="square" lIns="0" tIns="0" rIns="0" bIns="0" rtlCol="0" anchor="ctr"/>
          <a:lstStyle/>
          <a:p>
            <a:pPr algn="ctr" indent="0" marL="0">
              <a:buNone/>
            </a:pPr>
            <a:r>
              <a:rPr lang="en-US" sz="850" dirty="0">
                <a:solidFill>
                  <a:srgbClr val="262626"/>
                </a:solidFill>
                <a:latin typeface="Arial" pitchFamily="34" charset="0"/>
                <a:ea typeface="Arial" pitchFamily="34" charset="-122"/>
                <a:cs typeface="Arial" pitchFamily="34" charset="-120"/>
              </a:rPr>
              <a:t>la banque d'un monde qui change</a:t>
            </a:r>
            <a:endParaRPr lang="en-US" sz="850" dirty="0"/>
          </a:p>
        </p:txBody>
      </p:sp>
      <p:sp>
        <p:nvSpPr>
          <p:cNvPr id="38" name="Text 34"/>
          <p:cNvSpPr/>
          <p:nvPr/>
        </p:nvSpPr>
        <p:spPr>
          <a:xfrm>
            <a:off x="8229600" y="4704588"/>
            <a:ext cx="457200" cy="182880"/>
          </a:xfrm>
          <a:prstGeom prst="rect">
            <a:avLst/>
          </a:prstGeom>
          <a:noFill/>
          <a:ln/>
        </p:spPr>
        <p:txBody>
          <a:bodyPr wrap="square" lIns="0" tIns="0" rIns="0" bIns="0" rtlCol="0" anchor="ctr"/>
          <a:lstStyle/>
          <a:p>
            <a:pPr algn="r" indent="0" marL="0">
              <a:buNone/>
            </a:pPr>
            <a:r>
              <a:rPr lang="en-US" sz="900" b="1" dirty="0">
                <a:solidFill>
                  <a:srgbClr val="262626"/>
                </a:solidFill>
                <a:latin typeface="Arial" pitchFamily="34" charset="0"/>
                <a:ea typeface="Arial" pitchFamily="34" charset="-122"/>
                <a:cs typeface="Arial" pitchFamily="34" charset="-120"/>
              </a:rPr>
              <a:t>1</a:t>
            </a:r>
            <a:endParaRPr lang="en-US" sz="900" dirty="0"/>
          </a:p>
        </p:txBody>
      </p:sp>
      <p:sp>
        <p:nvSpPr>
          <p:cNvPr id="39" name="Text 35"/>
          <p:cNvSpPr/>
          <p:nvPr/>
        </p:nvSpPr>
        <p:spPr>
          <a:xfrm>
            <a:off x="7452360" y="4887468"/>
            <a:ext cx="1280160" cy="164592"/>
          </a:xfrm>
          <a:prstGeom prst="rect">
            <a:avLst/>
          </a:prstGeom>
          <a:noFill/>
          <a:ln/>
        </p:spPr>
        <p:txBody>
          <a:bodyPr wrap="square" lIns="0" tIns="0" rIns="0" bIns="0" rtlCol="0" anchor="ctr"/>
          <a:lstStyle/>
          <a:p>
            <a:pPr algn="r" indent="0" marL="0">
              <a:buNone/>
            </a:pPr>
            <a:r>
              <a:rPr lang="en-US" sz="650" dirty="0">
                <a:solidFill>
                  <a:srgbClr val="4472C4"/>
                </a:solidFill>
                <a:latin typeface="Arial" pitchFamily="34" charset="0"/>
                <a:ea typeface="Arial" pitchFamily="34" charset="-122"/>
                <a:cs typeface="Arial" pitchFamily="34" charset="-120"/>
              </a:rPr>
              <a:t>Classification : Internal</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REX Graduate Programme</dc:title>
  <dc:subject>PptxGenJS Presentation</dc:subject>
  <dc:creator>Zakaria GUAAYBESS</dc:creator>
  <cp:lastModifiedBy>Zakaria GUAAYBESS</cp:lastModifiedBy>
  <cp:revision>1</cp:revision>
  <dcterms:created xsi:type="dcterms:W3CDTF">2026-09-20T23:22:12Z</dcterms:created>
  <dcterms:modified xsi:type="dcterms:W3CDTF">2026-09-20T23:22:12Z</dcterms:modified>
</cp:coreProperties>
</file>