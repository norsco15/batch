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status: the main technical blocker is behind us. Thanks to ITG, the NLP model is installed in Dataiku, and we've already used it to process all 10,000 incident descriptions. Steps 1 to 3 of our 6-step workflow are done. The remaining steps run on standard tools we already have, so there's no further dependency on external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did with the model: it reads each incident description and converts it into a signature of 768 numbers. Think of it as a very precise 'meaning fingerprint'. The key property is that two incidents that describe the same kind of problem get very similar fingerprints, even when they use completely different words — customer vs client, complaint vs claim. This is exactly what allows the machine to group incidents by what they mean, not just by which words they contain.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the model on everything, we validated it with a simple test. We gave it three sentences: two that describe the same kind of issue with different words, and one about the weather. The model scored the two related sentences as clearly similar — 0.65 on a scale of 0 to 1 — and correctly gave near-zero scores to the unrelated pairs. This confirms the model understands meaning, not just keywords. We then ran it on all 10,000 incidents.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next, in plain terms. First, we condense each incident's signature from 768 numbers to about 50, keeping the essential meaning and removing noise. Second, we draw the map: all 10,000 incidents placed on a single 2D chart where similar incidents sit close together. Third, we let the algorithms detect the natural families of incidents — and we'll compare several grouping methods to keep the most reliable one. And fourth, the key step: we review these families with the OpRisk analysts, name them, and validate that they make business sense. Everything here runs on standard tools we already have. At the next checkpoint, you'll see the real map with real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789920" y="320040"/>
            <a:ext cx="1005840" cy="457200"/>
          </a:xfrm>
          <a:prstGeom prst="rect">
            <a:avLst/>
          </a:prstGeom>
          <a:noFill/>
          <a:ln/>
        </p:spPr>
        <p:txBody>
          <a:bodyPr wrap="square" lIns="0" tIns="0" rIns="0" bIns="0" rtlCol="0" anchor="ctr"/>
          <a:lstStyle/>
          <a:p>
            <a:pPr algn="r" indent="0" marL="0">
              <a:buNone/>
            </a:pPr>
            <a:r>
              <a:rPr lang="en-US" sz="2800" b="1" dirty="0">
                <a:solidFill>
                  <a:srgbClr val="00915A"/>
                </a:solidFill>
                <a:latin typeface="Arial" pitchFamily="34" charset="0"/>
                <a:ea typeface="Arial" pitchFamily="34" charset="-122"/>
                <a:cs typeface="Arial" pitchFamily="34" charset="-120"/>
              </a:rPr>
              <a:t>RISK</a:t>
            </a:r>
            <a:endParaRPr lang="en-US" sz="2800" dirty="0"/>
          </a:p>
        </p:txBody>
      </p:sp>
      <p:sp>
        <p:nvSpPr>
          <p:cNvPr id="3" name="Shape 1"/>
          <p:cNvSpPr/>
          <p:nvPr/>
        </p:nvSpPr>
        <p:spPr>
          <a:xfrm>
            <a:off x="10789920" y="749808"/>
            <a:ext cx="1005840" cy="0"/>
          </a:xfrm>
          <a:prstGeom prst="line">
            <a:avLst/>
          </a:prstGeom>
          <a:noFill/>
          <a:ln w="25400">
            <a:solidFill>
              <a:srgbClr val="00915A"/>
            </a:solidFill>
            <a:prstDash val="solid"/>
          </a:ln>
        </p:spPr>
      </p:sp>
      <p:sp>
        <p:nvSpPr>
          <p:cNvPr id="4" name="Text 2"/>
          <p:cNvSpPr/>
          <p:nvPr/>
        </p:nvSpPr>
        <p:spPr>
          <a:xfrm>
            <a:off x="548640" y="274320"/>
            <a:ext cx="9601200" cy="640080"/>
          </a:xfrm>
          <a:prstGeom prst="rect">
            <a:avLst/>
          </a:prstGeom>
          <a:noFill/>
          <a:ln/>
        </p:spPr>
        <p:txBody>
          <a:bodyPr wrap="square" lIns="0" tIns="0" rIns="0" bIns="0" rtlCol="0" anchor="ctr"/>
          <a:lstStyle/>
          <a:p>
            <a:pPr indent="0" marL="0">
              <a:buNone/>
            </a:pPr>
            <a:r>
              <a:rPr lang="en-US" sz="3200" b="1" dirty="0">
                <a:solidFill>
                  <a:srgbClr val="00915A"/>
                </a:solidFill>
                <a:latin typeface="Arial" pitchFamily="34" charset="0"/>
                <a:ea typeface="Arial" pitchFamily="34" charset="-122"/>
                <a:cs typeface="Arial" pitchFamily="34" charset="-120"/>
              </a:rPr>
              <a:t>MLION Checkpoint — Where We Stand</a:t>
            </a:r>
            <a:endParaRPr lang="en-US" sz="3200" dirty="0"/>
          </a:p>
        </p:txBody>
      </p:sp>
      <p:sp>
        <p:nvSpPr>
          <p:cNvPr id="5" name="Text 3"/>
          <p:cNvSpPr/>
          <p:nvPr/>
        </p:nvSpPr>
        <p:spPr>
          <a:xfrm>
            <a:off x="548640" y="914400"/>
            <a:ext cx="10972800" cy="320040"/>
          </a:xfrm>
          <a:prstGeom prst="rect">
            <a:avLst/>
          </a:prstGeom>
          <a:noFill/>
          <a:ln/>
        </p:spPr>
        <p:txBody>
          <a:bodyPr wrap="square" lIns="0" tIns="0" rIns="0" bIns="0" rtlCol="0" anchor="ctr"/>
          <a:lstStyle/>
          <a:p>
            <a:pPr indent="0" marL="0">
              <a:buNone/>
            </a:pPr>
            <a:r>
              <a:rPr lang="en-US" sz="1400" i="1" dirty="0">
                <a:solidFill>
                  <a:srgbClr val="595959"/>
                </a:solidFill>
                <a:latin typeface="Arial" pitchFamily="34" charset="0"/>
                <a:ea typeface="Arial" pitchFamily="34" charset="-122"/>
                <a:cs typeface="Arial" pitchFamily="34" charset="-120"/>
              </a:rPr>
              <a:t>The technical blocker is resolved — the NLP model is installed and working in Dataiku</a:t>
            </a:r>
            <a:endParaRPr lang="en-US" sz="1400" dirty="0"/>
          </a:p>
        </p:txBody>
      </p:sp>
      <p:sp>
        <p:nvSpPr>
          <p:cNvPr id="6" name="Shape 4"/>
          <p:cNvSpPr/>
          <p:nvPr/>
        </p:nvSpPr>
        <p:spPr>
          <a:xfrm>
            <a:off x="996696" y="1737360"/>
            <a:ext cx="1481328" cy="1371600"/>
          </a:xfrm>
          <a:prstGeom prst="roundRect">
            <a:avLst>
              <a:gd name="adj" fmla="val 6667"/>
            </a:avLst>
          </a:prstGeom>
          <a:solidFill>
            <a:srgbClr val="F0F8F4"/>
          </a:solidFill>
          <a:ln w="19050">
            <a:solidFill>
              <a:srgbClr val="00915A"/>
            </a:solidFill>
            <a:prstDash val="solid"/>
          </a:ln>
        </p:spPr>
      </p:sp>
      <p:sp>
        <p:nvSpPr>
          <p:cNvPr id="7" name="Text 5"/>
          <p:cNvSpPr/>
          <p:nvPr/>
        </p:nvSpPr>
        <p:spPr>
          <a:xfrm>
            <a:off x="996696" y="1847088"/>
            <a:ext cx="1481328" cy="365760"/>
          </a:xfrm>
          <a:prstGeom prst="rect">
            <a:avLst/>
          </a:prstGeom>
          <a:noFill/>
          <a:ln/>
        </p:spPr>
        <p:txBody>
          <a:bodyPr wrap="square" lIns="0" tIns="0" rIns="0" bIns="0" rtlCol="0" anchor="ctr"/>
          <a:lstStyle/>
          <a:p>
            <a:pPr algn="ctr" indent="0" marL="0">
              <a:buNone/>
            </a:pPr>
            <a:r>
              <a:rPr lang="en-US" sz="2000" b="1" dirty="0">
                <a:solidFill>
                  <a:srgbClr val="00915A"/>
                </a:solidFill>
                <a:latin typeface="Arial" pitchFamily="34" charset="0"/>
                <a:ea typeface="Arial" pitchFamily="34" charset="-122"/>
                <a:cs typeface="Arial" pitchFamily="34" charset="-120"/>
              </a:rPr>
              <a:t>1</a:t>
            </a:r>
            <a:endParaRPr lang="en-US" sz="2000" dirty="0"/>
          </a:p>
        </p:txBody>
      </p:sp>
      <p:sp>
        <p:nvSpPr>
          <p:cNvPr id="8" name="Text 6"/>
          <p:cNvSpPr/>
          <p:nvPr/>
        </p:nvSpPr>
        <p:spPr>
          <a:xfrm>
            <a:off x="1042416" y="2240280"/>
            <a:ext cx="1389888" cy="548640"/>
          </a:xfrm>
          <a:prstGeom prst="rect">
            <a:avLst/>
          </a:prstGeom>
          <a:noFill/>
          <a:ln/>
        </p:spPr>
        <p:txBody>
          <a:bodyPr wrap="square" lIns="0" tIns="0" rIns="0" bIns="0" rtlCol="0" anchor="t"/>
          <a:lstStyle/>
          <a:p>
            <a:pPr algn="ctr" indent="0" marL="0">
              <a:buNone/>
            </a:pPr>
            <a:r>
              <a:rPr lang="en-US" sz="1100" b="1" dirty="0">
                <a:solidFill>
                  <a:srgbClr val="262626"/>
                </a:solidFill>
                <a:latin typeface="Arial" pitchFamily="34" charset="0"/>
                <a:ea typeface="Arial" pitchFamily="34" charset="-122"/>
                <a:cs typeface="Arial" pitchFamily="34" charset="-120"/>
              </a:rPr>
              <a:t>Descriptions</a:t>
            </a:r>
            <a:endParaRPr lang="en-US" sz="1100" dirty="0"/>
          </a:p>
          <a:p>
            <a:pPr algn="ctr" indent="0" marL="0">
              <a:buNone/>
            </a:pPr>
            <a:r>
              <a:rPr lang="en-US" sz="1100" b="1" dirty="0">
                <a:solidFill>
                  <a:srgbClr val="262626"/>
                </a:solidFill>
                <a:latin typeface="Arial" pitchFamily="34" charset="0"/>
                <a:ea typeface="Arial" pitchFamily="34" charset="-122"/>
                <a:cs typeface="Arial" pitchFamily="34" charset="-120"/>
              </a:rPr>
              <a:t>cleaning</a:t>
            </a:r>
            <a:endParaRPr lang="en-US" sz="1100" dirty="0"/>
          </a:p>
        </p:txBody>
      </p:sp>
      <p:pic>
        <p:nvPicPr>
          <p:cNvPr id="9" name="Image 0" descr="preencoded.png">    </p:cNvPr>
          <p:cNvPicPr>
            <a:picLocks noChangeAspect="1"/>
          </p:cNvPicPr>
          <p:nvPr/>
        </p:nvPicPr>
        <p:blipFill>
          <a:blip r:embed="rId1"/>
          <a:stretch>
            <a:fillRect/>
          </a:stretch>
        </p:blipFill>
        <p:spPr>
          <a:xfrm>
            <a:off x="1618488" y="2779776"/>
            <a:ext cx="237744" cy="237744"/>
          </a:xfrm>
          <a:prstGeom prst="rect">
            <a:avLst/>
          </a:prstGeom>
        </p:spPr>
      </p:pic>
      <p:sp>
        <p:nvSpPr>
          <p:cNvPr id="10" name="Shape 7"/>
          <p:cNvSpPr/>
          <p:nvPr/>
        </p:nvSpPr>
        <p:spPr>
          <a:xfrm rot="5400000">
            <a:off x="2514600" y="2350008"/>
            <a:ext cx="164592" cy="146304"/>
          </a:xfrm>
          <a:prstGeom prst="rtTriangle">
            <a:avLst/>
          </a:prstGeom>
          <a:solidFill>
            <a:srgbClr val="8C8C8C"/>
          </a:solidFill>
          <a:ln w="12700">
            <a:solidFill>
              <a:srgbClr val="8C8C8C"/>
            </a:solidFill>
            <a:prstDash val="solid"/>
          </a:ln>
        </p:spPr>
      </p:sp>
      <p:sp>
        <p:nvSpPr>
          <p:cNvPr id="11" name="Shape 8"/>
          <p:cNvSpPr/>
          <p:nvPr/>
        </p:nvSpPr>
        <p:spPr>
          <a:xfrm>
            <a:off x="2734056" y="1737360"/>
            <a:ext cx="1481328" cy="1371600"/>
          </a:xfrm>
          <a:prstGeom prst="roundRect">
            <a:avLst>
              <a:gd name="adj" fmla="val 6667"/>
            </a:avLst>
          </a:prstGeom>
          <a:solidFill>
            <a:srgbClr val="F0F8F4"/>
          </a:solidFill>
          <a:ln w="19050">
            <a:solidFill>
              <a:srgbClr val="00915A"/>
            </a:solidFill>
            <a:prstDash val="solid"/>
          </a:ln>
        </p:spPr>
      </p:sp>
      <p:sp>
        <p:nvSpPr>
          <p:cNvPr id="12" name="Text 9"/>
          <p:cNvSpPr/>
          <p:nvPr/>
        </p:nvSpPr>
        <p:spPr>
          <a:xfrm>
            <a:off x="2734056" y="1847088"/>
            <a:ext cx="1481328" cy="365760"/>
          </a:xfrm>
          <a:prstGeom prst="rect">
            <a:avLst/>
          </a:prstGeom>
          <a:noFill/>
          <a:ln/>
        </p:spPr>
        <p:txBody>
          <a:bodyPr wrap="square" lIns="0" tIns="0" rIns="0" bIns="0" rtlCol="0" anchor="ctr"/>
          <a:lstStyle/>
          <a:p>
            <a:pPr algn="ctr" indent="0" marL="0">
              <a:buNone/>
            </a:pPr>
            <a:r>
              <a:rPr lang="en-US" sz="2000" b="1" dirty="0">
                <a:solidFill>
                  <a:srgbClr val="00915A"/>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2779776" y="2240280"/>
            <a:ext cx="1389888" cy="548640"/>
          </a:xfrm>
          <a:prstGeom prst="rect">
            <a:avLst/>
          </a:prstGeom>
          <a:noFill/>
          <a:ln/>
        </p:spPr>
        <p:txBody>
          <a:bodyPr wrap="square" lIns="0" tIns="0" rIns="0" bIns="0" rtlCol="0" anchor="t"/>
          <a:lstStyle/>
          <a:p>
            <a:pPr algn="ctr" indent="0" marL="0">
              <a:buNone/>
            </a:pPr>
            <a:r>
              <a:rPr lang="en-US" sz="1100" b="1" dirty="0">
                <a:solidFill>
                  <a:srgbClr val="262626"/>
                </a:solidFill>
                <a:latin typeface="Arial" pitchFamily="34" charset="0"/>
                <a:ea typeface="Arial" pitchFamily="34" charset="-122"/>
                <a:cs typeface="Arial" pitchFamily="34" charset="-120"/>
              </a:rPr>
              <a:t>Vectorization</a:t>
            </a:r>
            <a:endParaRPr lang="en-US" sz="1100" dirty="0"/>
          </a:p>
        </p:txBody>
      </p:sp>
      <p:pic>
        <p:nvPicPr>
          <p:cNvPr id="14" name="Image 1" descr="preencoded.png">    </p:cNvPr>
          <p:cNvPicPr>
            <a:picLocks noChangeAspect="1"/>
          </p:cNvPicPr>
          <p:nvPr/>
        </p:nvPicPr>
        <p:blipFill>
          <a:blip r:embed="rId2"/>
          <a:stretch>
            <a:fillRect/>
          </a:stretch>
        </p:blipFill>
        <p:spPr>
          <a:xfrm>
            <a:off x="3355848" y="2779776"/>
            <a:ext cx="237744" cy="237744"/>
          </a:xfrm>
          <a:prstGeom prst="rect">
            <a:avLst/>
          </a:prstGeom>
        </p:spPr>
      </p:pic>
      <p:sp>
        <p:nvSpPr>
          <p:cNvPr id="15" name="Shape 11"/>
          <p:cNvSpPr/>
          <p:nvPr/>
        </p:nvSpPr>
        <p:spPr>
          <a:xfrm rot="5400000">
            <a:off x="4251960" y="2350008"/>
            <a:ext cx="164592" cy="146304"/>
          </a:xfrm>
          <a:prstGeom prst="rtTriangle">
            <a:avLst/>
          </a:prstGeom>
          <a:solidFill>
            <a:srgbClr val="8C8C8C"/>
          </a:solidFill>
          <a:ln w="12700">
            <a:solidFill>
              <a:srgbClr val="8C8C8C"/>
            </a:solidFill>
            <a:prstDash val="solid"/>
          </a:ln>
        </p:spPr>
      </p:sp>
      <p:sp>
        <p:nvSpPr>
          <p:cNvPr id="16" name="Shape 12"/>
          <p:cNvSpPr/>
          <p:nvPr/>
        </p:nvSpPr>
        <p:spPr>
          <a:xfrm>
            <a:off x="4471416" y="1737360"/>
            <a:ext cx="1481328" cy="1371600"/>
          </a:xfrm>
          <a:prstGeom prst="roundRect">
            <a:avLst>
              <a:gd name="adj" fmla="val 6667"/>
            </a:avLst>
          </a:prstGeom>
          <a:solidFill>
            <a:srgbClr val="F0F8F4"/>
          </a:solidFill>
          <a:ln w="19050">
            <a:solidFill>
              <a:srgbClr val="00915A"/>
            </a:solidFill>
            <a:prstDash val="solid"/>
          </a:ln>
        </p:spPr>
      </p:sp>
      <p:sp>
        <p:nvSpPr>
          <p:cNvPr id="17" name="Text 13"/>
          <p:cNvSpPr/>
          <p:nvPr/>
        </p:nvSpPr>
        <p:spPr>
          <a:xfrm>
            <a:off x="4471416" y="1847088"/>
            <a:ext cx="1481328" cy="365760"/>
          </a:xfrm>
          <a:prstGeom prst="rect">
            <a:avLst/>
          </a:prstGeom>
          <a:noFill/>
          <a:ln/>
        </p:spPr>
        <p:txBody>
          <a:bodyPr wrap="square" lIns="0" tIns="0" rIns="0" bIns="0" rtlCol="0" anchor="ctr"/>
          <a:lstStyle/>
          <a:p>
            <a:pPr algn="ctr" indent="0" marL="0">
              <a:buNone/>
            </a:pPr>
            <a:r>
              <a:rPr lang="en-US" sz="2000" b="1" dirty="0">
                <a:solidFill>
                  <a:srgbClr val="00915A"/>
                </a:solidFill>
                <a:latin typeface="Arial" pitchFamily="34" charset="0"/>
                <a:ea typeface="Arial" pitchFamily="34" charset="-122"/>
                <a:cs typeface="Arial" pitchFamily="34" charset="-120"/>
              </a:rPr>
              <a:t>3</a:t>
            </a:r>
            <a:endParaRPr lang="en-US" sz="2000" dirty="0"/>
          </a:p>
        </p:txBody>
      </p:sp>
      <p:sp>
        <p:nvSpPr>
          <p:cNvPr id="18" name="Text 14"/>
          <p:cNvSpPr/>
          <p:nvPr/>
        </p:nvSpPr>
        <p:spPr>
          <a:xfrm>
            <a:off x="4517136" y="2240280"/>
            <a:ext cx="1389888" cy="548640"/>
          </a:xfrm>
          <a:prstGeom prst="rect">
            <a:avLst/>
          </a:prstGeom>
          <a:noFill/>
          <a:ln/>
        </p:spPr>
        <p:txBody>
          <a:bodyPr wrap="square" lIns="0" tIns="0" rIns="0" bIns="0" rtlCol="0" anchor="t"/>
          <a:lstStyle/>
          <a:p>
            <a:pPr algn="ctr" indent="0" marL="0">
              <a:buNone/>
            </a:pPr>
            <a:r>
              <a:rPr lang="en-US" sz="1100" b="1" dirty="0">
                <a:solidFill>
                  <a:srgbClr val="262626"/>
                </a:solidFill>
                <a:latin typeface="Arial" pitchFamily="34" charset="0"/>
                <a:ea typeface="Arial" pitchFamily="34" charset="-122"/>
                <a:cs typeface="Arial" pitchFamily="34" charset="-120"/>
              </a:rPr>
              <a:t>Semantic</a:t>
            </a:r>
            <a:endParaRPr lang="en-US" sz="1100" dirty="0"/>
          </a:p>
          <a:p>
            <a:pPr algn="ctr" indent="0" marL="0">
              <a:buNone/>
            </a:pPr>
            <a:r>
              <a:rPr lang="en-US" sz="1100" b="1" dirty="0">
                <a:solidFill>
                  <a:srgbClr val="262626"/>
                </a:solidFill>
                <a:latin typeface="Arial" pitchFamily="34" charset="0"/>
                <a:ea typeface="Arial" pitchFamily="34" charset="-122"/>
                <a:cs typeface="Arial" pitchFamily="34" charset="-120"/>
              </a:rPr>
              <a:t>adjustment</a:t>
            </a:r>
            <a:endParaRPr lang="en-US" sz="1100" dirty="0"/>
          </a:p>
        </p:txBody>
      </p:sp>
      <p:pic>
        <p:nvPicPr>
          <p:cNvPr id="19" name="Image 2" descr="preencoded.png">    </p:cNvPr>
          <p:cNvPicPr>
            <a:picLocks noChangeAspect="1"/>
          </p:cNvPicPr>
          <p:nvPr/>
        </p:nvPicPr>
        <p:blipFill>
          <a:blip r:embed="rId3"/>
          <a:stretch>
            <a:fillRect/>
          </a:stretch>
        </p:blipFill>
        <p:spPr>
          <a:xfrm>
            <a:off x="5093208" y="2779776"/>
            <a:ext cx="237744" cy="237744"/>
          </a:xfrm>
          <a:prstGeom prst="rect">
            <a:avLst/>
          </a:prstGeom>
        </p:spPr>
      </p:pic>
      <p:sp>
        <p:nvSpPr>
          <p:cNvPr id="20" name="Shape 15"/>
          <p:cNvSpPr/>
          <p:nvPr/>
        </p:nvSpPr>
        <p:spPr>
          <a:xfrm rot="5400000">
            <a:off x="5989320" y="2350008"/>
            <a:ext cx="164592" cy="146304"/>
          </a:xfrm>
          <a:prstGeom prst="rtTriangle">
            <a:avLst/>
          </a:prstGeom>
          <a:solidFill>
            <a:srgbClr val="8C8C8C"/>
          </a:solidFill>
          <a:ln w="12700">
            <a:solidFill>
              <a:srgbClr val="8C8C8C"/>
            </a:solidFill>
            <a:prstDash val="solid"/>
          </a:ln>
        </p:spPr>
      </p:sp>
      <p:sp>
        <p:nvSpPr>
          <p:cNvPr id="21" name="Shape 16"/>
          <p:cNvSpPr/>
          <p:nvPr/>
        </p:nvSpPr>
        <p:spPr>
          <a:xfrm>
            <a:off x="6208776" y="1737360"/>
            <a:ext cx="1481328" cy="1371600"/>
          </a:xfrm>
          <a:prstGeom prst="roundRect">
            <a:avLst>
              <a:gd name="adj" fmla="val 6667"/>
            </a:avLst>
          </a:prstGeom>
          <a:solidFill>
            <a:srgbClr val="F7F9FA"/>
          </a:solidFill>
          <a:ln w="12700">
            <a:solidFill>
              <a:srgbClr val="E1E5E8"/>
            </a:solidFill>
            <a:prstDash val="solid"/>
          </a:ln>
        </p:spPr>
      </p:sp>
      <p:sp>
        <p:nvSpPr>
          <p:cNvPr id="22" name="Text 17"/>
          <p:cNvSpPr/>
          <p:nvPr/>
        </p:nvSpPr>
        <p:spPr>
          <a:xfrm>
            <a:off x="6208776" y="1847088"/>
            <a:ext cx="1481328" cy="365760"/>
          </a:xfrm>
          <a:prstGeom prst="rect">
            <a:avLst/>
          </a:prstGeom>
          <a:noFill/>
          <a:ln/>
        </p:spPr>
        <p:txBody>
          <a:bodyPr wrap="square" lIns="0" tIns="0" rIns="0" bIns="0" rtlCol="0" anchor="ctr"/>
          <a:lstStyle/>
          <a:p>
            <a:pPr algn="ctr" indent="0" marL="0">
              <a:buNone/>
            </a:pPr>
            <a:r>
              <a:rPr lang="en-US" sz="2000" b="1" dirty="0">
                <a:solidFill>
                  <a:srgbClr val="8C8C8C"/>
                </a:solidFill>
                <a:latin typeface="Arial" pitchFamily="34" charset="0"/>
                <a:ea typeface="Arial" pitchFamily="34" charset="-122"/>
                <a:cs typeface="Arial" pitchFamily="34" charset="-120"/>
              </a:rPr>
              <a:t>4</a:t>
            </a:r>
            <a:endParaRPr lang="en-US" sz="2000" dirty="0"/>
          </a:p>
        </p:txBody>
      </p:sp>
      <p:sp>
        <p:nvSpPr>
          <p:cNvPr id="23" name="Text 18"/>
          <p:cNvSpPr/>
          <p:nvPr/>
        </p:nvSpPr>
        <p:spPr>
          <a:xfrm>
            <a:off x="6254496" y="2240280"/>
            <a:ext cx="1389888" cy="548640"/>
          </a:xfrm>
          <a:prstGeom prst="rect">
            <a:avLst/>
          </a:prstGeom>
          <a:noFill/>
          <a:ln/>
        </p:spPr>
        <p:txBody>
          <a:bodyPr wrap="square" lIns="0" tIns="0" rIns="0" bIns="0" rtlCol="0" anchor="t"/>
          <a:lstStyle/>
          <a:p>
            <a:pPr algn="ctr" indent="0" marL="0">
              <a:buNone/>
            </a:pPr>
            <a:r>
              <a:rPr lang="en-US" sz="1100" dirty="0">
                <a:solidFill>
                  <a:srgbClr val="595959"/>
                </a:solidFill>
                <a:latin typeface="Arial" pitchFamily="34" charset="0"/>
                <a:ea typeface="Arial" pitchFamily="34" charset="-122"/>
                <a:cs typeface="Arial" pitchFamily="34" charset="-120"/>
              </a:rPr>
              <a:t>Dimensions</a:t>
            </a:r>
            <a:endParaRPr lang="en-US" sz="1100" dirty="0"/>
          </a:p>
          <a:p>
            <a:pPr algn="ctr" indent="0" marL="0">
              <a:buNone/>
            </a:pPr>
            <a:r>
              <a:rPr lang="en-US" sz="1100" dirty="0">
                <a:solidFill>
                  <a:srgbClr val="595959"/>
                </a:solidFill>
                <a:latin typeface="Arial" pitchFamily="34" charset="0"/>
                <a:ea typeface="Arial" pitchFamily="34" charset="-122"/>
                <a:cs typeface="Arial" pitchFamily="34" charset="-120"/>
              </a:rPr>
              <a:t>reduction</a:t>
            </a:r>
            <a:endParaRPr lang="en-US" sz="1100" dirty="0"/>
          </a:p>
        </p:txBody>
      </p:sp>
      <p:sp>
        <p:nvSpPr>
          <p:cNvPr id="24" name="Shape 19"/>
          <p:cNvSpPr/>
          <p:nvPr/>
        </p:nvSpPr>
        <p:spPr>
          <a:xfrm rot="5400000">
            <a:off x="7726680" y="2350008"/>
            <a:ext cx="164592" cy="146304"/>
          </a:xfrm>
          <a:prstGeom prst="rtTriangle">
            <a:avLst/>
          </a:prstGeom>
          <a:solidFill>
            <a:srgbClr val="8C8C8C"/>
          </a:solidFill>
          <a:ln w="12700">
            <a:solidFill>
              <a:srgbClr val="8C8C8C"/>
            </a:solidFill>
            <a:prstDash val="solid"/>
          </a:ln>
        </p:spPr>
      </p:sp>
      <p:sp>
        <p:nvSpPr>
          <p:cNvPr id="25" name="Shape 20"/>
          <p:cNvSpPr/>
          <p:nvPr/>
        </p:nvSpPr>
        <p:spPr>
          <a:xfrm>
            <a:off x="7946136" y="1737360"/>
            <a:ext cx="1481328" cy="1371600"/>
          </a:xfrm>
          <a:prstGeom prst="roundRect">
            <a:avLst>
              <a:gd name="adj" fmla="val 6667"/>
            </a:avLst>
          </a:prstGeom>
          <a:solidFill>
            <a:srgbClr val="F7F9FA"/>
          </a:solidFill>
          <a:ln w="12700">
            <a:solidFill>
              <a:srgbClr val="E1E5E8"/>
            </a:solidFill>
            <a:prstDash val="solid"/>
          </a:ln>
        </p:spPr>
      </p:sp>
      <p:sp>
        <p:nvSpPr>
          <p:cNvPr id="26" name="Text 21"/>
          <p:cNvSpPr/>
          <p:nvPr/>
        </p:nvSpPr>
        <p:spPr>
          <a:xfrm>
            <a:off x="7946136" y="1847088"/>
            <a:ext cx="1481328" cy="365760"/>
          </a:xfrm>
          <a:prstGeom prst="rect">
            <a:avLst/>
          </a:prstGeom>
          <a:noFill/>
          <a:ln/>
        </p:spPr>
        <p:txBody>
          <a:bodyPr wrap="square" lIns="0" tIns="0" rIns="0" bIns="0" rtlCol="0" anchor="ctr"/>
          <a:lstStyle/>
          <a:p>
            <a:pPr algn="ctr" indent="0" marL="0">
              <a:buNone/>
            </a:pPr>
            <a:r>
              <a:rPr lang="en-US" sz="2000" b="1" dirty="0">
                <a:solidFill>
                  <a:srgbClr val="8C8C8C"/>
                </a:solidFill>
                <a:latin typeface="Arial" pitchFamily="34" charset="0"/>
                <a:ea typeface="Arial" pitchFamily="34" charset="-122"/>
                <a:cs typeface="Arial" pitchFamily="34" charset="-120"/>
              </a:rPr>
              <a:t>5</a:t>
            </a:r>
            <a:endParaRPr lang="en-US" sz="2000" dirty="0"/>
          </a:p>
        </p:txBody>
      </p:sp>
      <p:sp>
        <p:nvSpPr>
          <p:cNvPr id="27" name="Text 22"/>
          <p:cNvSpPr/>
          <p:nvPr/>
        </p:nvSpPr>
        <p:spPr>
          <a:xfrm>
            <a:off x="7991856" y="2240280"/>
            <a:ext cx="1389888" cy="548640"/>
          </a:xfrm>
          <a:prstGeom prst="rect">
            <a:avLst/>
          </a:prstGeom>
          <a:noFill/>
          <a:ln/>
        </p:spPr>
        <p:txBody>
          <a:bodyPr wrap="square" lIns="0" tIns="0" rIns="0" bIns="0" rtlCol="0" anchor="t"/>
          <a:lstStyle/>
          <a:p>
            <a:pPr algn="ctr" indent="0" marL="0">
              <a:buNone/>
            </a:pPr>
            <a:r>
              <a:rPr lang="en-US" sz="1100" dirty="0">
                <a:solidFill>
                  <a:srgbClr val="595959"/>
                </a:solidFill>
                <a:latin typeface="Arial" pitchFamily="34" charset="0"/>
                <a:ea typeface="Arial" pitchFamily="34" charset="-122"/>
                <a:cs typeface="Arial" pitchFamily="34" charset="-120"/>
              </a:rPr>
              <a:t>Cluster</a:t>
            </a:r>
            <a:endParaRPr lang="en-US" sz="1100" dirty="0"/>
          </a:p>
          <a:p>
            <a:pPr algn="ctr" indent="0" marL="0">
              <a:buNone/>
            </a:pPr>
            <a:r>
              <a:rPr lang="en-US" sz="1100" dirty="0">
                <a:solidFill>
                  <a:srgbClr val="595959"/>
                </a:solidFill>
                <a:latin typeface="Arial" pitchFamily="34" charset="0"/>
                <a:ea typeface="Arial" pitchFamily="34" charset="-122"/>
                <a:cs typeface="Arial" pitchFamily="34" charset="-120"/>
              </a:rPr>
              <a:t>selection</a:t>
            </a:r>
            <a:endParaRPr lang="en-US" sz="1100" dirty="0"/>
          </a:p>
        </p:txBody>
      </p:sp>
      <p:sp>
        <p:nvSpPr>
          <p:cNvPr id="28" name="Shape 23"/>
          <p:cNvSpPr/>
          <p:nvPr/>
        </p:nvSpPr>
        <p:spPr>
          <a:xfrm rot="5400000">
            <a:off x="9464040" y="2350008"/>
            <a:ext cx="164592" cy="146304"/>
          </a:xfrm>
          <a:prstGeom prst="rtTriangle">
            <a:avLst/>
          </a:prstGeom>
          <a:solidFill>
            <a:srgbClr val="8C8C8C"/>
          </a:solidFill>
          <a:ln w="12700">
            <a:solidFill>
              <a:srgbClr val="8C8C8C"/>
            </a:solidFill>
            <a:prstDash val="solid"/>
          </a:ln>
        </p:spPr>
      </p:sp>
      <p:sp>
        <p:nvSpPr>
          <p:cNvPr id="29" name="Shape 24"/>
          <p:cNvSpPr/>
          <p:nvPr/>
        </p:nvSpPr>
        <p:spPr>
          <a:xfrm>
            <a:off x="9683496" y="1737360"/>
            <a:ext cx="1481328" cy="1371600"/>
          </a:xfrm>
          <a:prstGeom prst="roundRect">
            <a:avLst>
              <a:gd name="adj" fmla="val 6667"/>
            </a:avLst>
          </a:prstGeom>
          <a:solidFill>
            <a:srgbClr val="F7F9FA"/>
          </a:solidFill>
          <a:ln w="12700">
            <a:solidFill>
              <a:srgbClr val="E1E5E8"/>
            </a:solidFill>
            <a:prstDash val="solid"/>
          </a:ln>
        </p:spPr>
      </p:sp>
      <p:sp>
        <p:nvSpPr>
          <p:cNvPr id="30" name="Text 25"/>
          <p:cNvSpPr/>
          <p:nvPr/>
        </p:nvSpPr>
        <p:spPr>
          <a:xfrm>
            <a:off x="9683496" y="1847088"/>
            <a:ext cx="1481328" cy="365760"/>
          </a:xfrm>
          <a:prstGeom prst="rect">
            <a:avLst/>
          </a:prstGeom>
          <a:noFill/>
          <a:ln/>
        </p:spPr>
        <p:txBody>
          <a:bodyPr wrap="square" lIns="0" tIns="0" rIns="0" bIns="0" rtlCol="0" anchor="ctr"/>
          <a:lstStyle/>
          <a:p>
            <a:pPr algn="ctr" indent="0" marL="0">
              <a:buNone/>
            </a:pPr>
            <a:r>
              <a:rPr lang="en-US" sz="2000" b="1" dirty="0">
                <a:solidFill>
                  <a:srgbClr val="8C8C8C"/>
                </a:solidFill>
                <a:latin typeface="Arial" pitchFamily="34" charset="0"/>
                <a:ea typeface="Arial" pitchFamily="34" charset="-122"/>
                <a:cs typeface="Arial" pitchFamily="34" charset="-120"/>
              </a:rPr>
              <a:t>6</a:t>
            </a:r>
            <a:endParaRPr lang="en-US" sz="2000" dirty="0"/>
          </a:p>
        </p:txBody>
      </p:sp>
      <p:sp>
        <p:nvSpPr>
          <p:cNvPr id="31" name="Text 26"/>
          <p:cNvSpPr/>
          <p:nvPr/>
        </p:nvSpPr>
        <p:spPr>
          <a:xfrm>
            <a:off x="9729216" y="2240280"/>
            <a:ext cx="1389888" cy="548640"/>
          </a:xfrm>
          <a:prstGeom prst="rect">
            <a:avLst/>
          </a:prstGeom>
          <a:noFill/>
          <a:ln/>
        </p:spPr>
        <p:txBody>
          <a:bodyPr wrap="square" lIns="0" tIns="0" rIns="0" bIns="0" rtlCol="0" anchor="t"/>
          <a:lstStyle/>
          <a:p>
            <a:pPr algn="ctr" indent="0" marL="0">
              <a:buNone/>
            </a:pPr>
            <a:r>
              <a:rPr lang="en-US" sz="1100" dirty="0">
                <a:solidFill>
                  <a:srgbClr val="595959"/>
                </a:solidFill>
                <a:latin typeface="Arial" pitchFamily="34" charset="0"/>
                <a:ea typeface="Arial" pitchFamily="34" charset="-122"/>
                <a:cs typeface="Arial" pitchFamily="34" charset="-120"/>
              </a:rPr>
              <a:t>Cluster</a:t>
            </a:r>
            <a:endParaRPr lang="en-US" sz="1100" dirty="0"/>
          </a:p>
          <a:p>
            <a:pPr algn="ctr" indent="0" marL="0">
              <a:buNone/>
            </a:pPr>
            <a:r>
              <a:rPr lang="en-US" sz="1100" dirty="0">
                <a:solidFill>
                  <a:srgbClr val="595959"/>
                </a:solidFill>
                <a:latin typeface="Arial" pitchFamily="34" charset="0"/>
                <a:ea typeface="Arial" pitchFamily="34" charset="-122"/>
                <a:cs typeface="Arial" pitchFamily="34" charset="-120"/>
              </a:rPr>
              <a:t>validation</a:t>
            </a:r>
            <a:endParaRPr lang="en-US" sz="1100" dirty="0"/>
          </a:p>
        </p:txBody>
      </p:sp>
      <p:sp>
        <p:nvSpPr>
          <p:cNvPr id="32" name="Text 27"/>
          <p:cNvSpPr/>
          <p:nvPr/>
        </p:nvSpPr>
        <p:spPr>
          <a:xfrm>
            <a:off x="4288536" y="3246120"/>
            <a:ext cx="1847088" cy="274320"/>
          </a:xfrm>
          <a:prstGeom prst="rect">
            <a:avLst/>
          </a:prstGeom>
          <a:noFill/>
          <a:ln/>
        </p:spPr>
        <p:txBody>
          <a:bodyPr wrap="square" lIns="0" tIns="0" rIns="0" bIns="0" rtlCol="0" anchor="ctr"/>
          <a:lstStyle/>
          <a:p>
            <a:pPr algn="ctr" indent="0" marL="0">
              <a:buNone/>
            </a:pPr>
            <a:r>
              <a:rPr lang="en-US" sz="1200" b="1" i="1" dirty="0">
                <a:solidFill>
                  <a:srgbClr val="00915A"/>
                </a:solidFill>
                <a:latin typeface="Arial" pitchFamily="34" charset="0"/>
                <a:ea typeface="Arial" pitchFamily="34" charset="-122"/>
                <a:cs typeface="Arial" pitchFamily="34" charset="-120"/>
              </a:rPr>
              <a:t>TODAY</a:t>
            </a:r>
            <a:endParaRPr lang="en-US" sz="1200" dirty="0"/>
          </a:p>
        </p:txBody>
      </p:sp>
      <p:sp>
        <p:nvSpPr>
          <p:cNvPr id="33" name="Shape 28"/>
          <p:cNvSpPr/>
          <p:nvPr/>
        </p:nvSpPr>
        <p:spPr>
          <a:xfrm>
            <a:off x="914400" y="3977640"/>
            <a:ext cx="10332720" cy="1737360"/>
          </a:xfrm>
          <a:prstGeom prst="roundRect">
            <a:avLst>
              <a:gd name="adj" fmla="val 5263"/>
            </a:avLst>
          </a:prstGeom>
          <a:solidFill>
            <a:srgbClr val="F7F9FA"/>
          </a:solidFill>
          <a:ln w="12700">
            <a:solidFill>
              <a:srgbClr val="E1E5E8"/>
            </a:solidFill>
            <a:prstDash val="solid"/>
          </a:ln>
        </p:spPr>
      </p:sp>
      <p:sp>
        <p:nvSpPr>
          <p:cNvPr id="34" name="Text 29"/>
          <p:cNvSpPr/>
          <p:nvPr/>
        </p:nvSpPr>
        <p:spPr>
          <a:xfrm>
            <a:off x="1280160" y="4206240"/>
            <a:ext cx="9601200" cy="137160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62626"/>
                </a:solidFill>
                <a:latin typeface="Arial" pitchFamily="34" charset="0"/>
                <a:ea typeface="Arial" pitchFamily="34" charset="-122"/>
                <a:cs typeface="Arial" pitchFamily="34" charset="-120"/>
              </a:rPr>
              <a:t>The NLP model (all-mpnet-base-v2) is installed in Dataiku thanks to ITG — the project's main external dependency is resolved.</a:t>
            </a:r>
            <a:endParaRPr lang="en-US" sz="1350" dirty="0"/>
          </a:p>
          <a:p>
            <a:pPr indent="0" marL="0">
              <a:spcAft>
                <a:spcPts val="400"/>
              </a:spcAft>
              <a:buNone/>
            </a:pPr>
            <a:r>
              <a:rPr lang="en-US" sz="800" dirty="0">
                <a:solidFill>
                  <a:srgbClr val="262626"/>
                </a:solidFill>
                <a:latin typeface="Arial" pitchFamily="34" charset="0"/>
                <a:ea typeface="Arial" pitchFamily="34" charset="-122"/>
                <a:cs typeface="Arial" pitchFamily="34" charset="-120"/>
              </a:rPr>
              <a:t> </a:t>
            </a:r>
            <a:endParaRPr lang="en-US" sz="1350" dirty="0"/>
          </a:p>
          <a:p>
            <a:pPr marL="342900" indent="-342900">
              <a:spcAft>
                <a:spcPts val="400"/>
              </a:spcAft>
              <a:buSzPct val="100000"/>
              <a:buChar char="■"/>
            </a:pPr>
            <a:r>
              <a:rPr lang="en-US" sz="1350" dirty="0">
                <a:solidFill>
                  <a:srgbClr val="262626"/>
                </a:solidFill>
                <a:latin typeface="Arial" pitchFamily="34" charset="0"/>
                <a:ea typeface="Arial" pitchFamily="34" charset="-122"/>
                <a:cs typeface="Arial" pitchFamily="34" charset="-120"/>
              </a:rPr>
              <a:t>All 10,000 incident descriptions have been successfully converted into their numerical representation (steps 1 to 3 complete).</a:t>
            </a:r>
            <a:endParaRPr lang="en-US" sz="1350" dirty="0"/>
          </a:p>
          <a:p>
            <a:pPr indent="0" marL="0">
              <a:spcAft>
                <a:spcPts val="400"/>
              </a:spcAft>
              <a:buNone/>
            </a:pPr>
            <a:r>
              <a:rPr lang="en-US" sz="800" dirty="0">
                <a:solidFill>
                  <a:srgbClr val="262626"/>
                </a:solidFill>
                <a:latin typeface="Arial" pitchFamily="34" charset="0"/>
                <a:ea typeface="Arial" pitchFamily="34" charset="-122"/>
                <a:cs typeface="Arial" pitchFamily="34" charset="-120"/>
              </a:rPr>
              <a:t> </a:t>
            </a:r>
            <a:endParaRPr lang="en-US" sz="1350" dirty="0"/>
          </a:p>
          <a:p>
            <a:pPr marL="342900" indent="-342900">
              <a:spcAft>
                <a:spcPts val="400"/>
              </a:spcAft>
              <a:buSzPct val="100000"/>
              <a:buChar char="■"/>
            </a:pPr>
            <a:r>
              <a:rPr lang="en-US" sz="1350" dirty="0">
                <a:solidFill>
                  <a:srgbClr val="262626"/>
                </a:solidFill>
                <a:latin typeface="Arial" pitchFamily="34" charset="0"/>
                <a:ea typeface="Arial" pitchFamily="34" charset="-122"/>
                <a:cs typeface="Arial" pitchFamily="34" charset="-120"/>
              </a:rPr>
              <a:t>The remaining steps use standard, already-available tools — no further installation or external request needed.</a:t>
            </a:r>
            <a:endParaRPr lang="en-US" sz="1350" dirty="0"/>
          </a:p>
        </p:txBody>
      </p:sp>
      <p:sp>
        <p:nvSpPr>
          <p:cNvPr id="35" name="Shape 30"/>
          <p:cNvSpPr/>
          <p:nvPr/>
        </p:nvSpPr>
        <p:spPr>
          <a:xfrm>
            <a:off x="548640" y="6217920"/>
            <a:ext cx="11064240" cy="0"/>
          </a:xfrm>
          <a:prstGeom prst="line">
            <a:avLst/>
          </a:prstGeom>
          <a:noFill/>
          <a:ln w="9525">
            <a:solidFill>
              <a:srgbClr val="E1E5E8"/>
            </a:solidFill>
            <a:prstDash val="solid"/>
          </a:ln>
        </p:spPr>
      </p:sp>
      <p:sp>
        <p:nvSpPr>
          <p:cNvPr id="36" name="Text 31"/>
          <p:cNvSpPr/>
          <p:nvPr/>
        </p:nvSpPr>
        <p:spPr>
          <a:xfrm>
            <a:off x="548640" y="6355080"/>
            <a:ext cx="1828800" cy="27432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BNP PARIBAS</a:t>
            </a:r>
            <a:endParaRPr lang="en-US" sz="1100" dirty="0"/>
          </a:p>
        </p:txBody>
      </p:sp>
      <p:sp>
        <p:nvSpPr>
          <p:cNvPr id="37" name="Text 32"/>
          <p:cNvSpPr/>
          <p:nvPr/>
        </p:nvSpPr>
        <p:spPr>
          <a:xfrm>
            <a:off x="4709160" y="6355080"/>
            <a:ext cx="2743200" cy="274320"/>
          </a:xfrm>
          <a:prstGeom prst="rect">
            <a:avLst/>
          </a:prstGeom>
          <a:noFill/>
          <a:ln/>
        </p:spPr>
        <p:txBody>
          <a:bodyPr wrap="square" lIns="0" tIns="0" rIns="0" bIns="0" rtlCol="0" anchor="ctr"/>
          <a:lstStyle/>
          <a:p>
            <a:pPr algn="ctr" indent="0" marL="0">
              <a:buNone/>
            </a:pPr>
            <a:r>
              <a:rPr lang="en-US" sz="1000" i="1" dirty="0">
                <a:solidFill>
                  <a:srgbClr val="262626"/>
                </a:solidFill>
                <a:latin typeface="Arial" pitchFamily="34" charset="0"/>
                <a:ea typeface="Arial" pitchFamily="34" charset="-122"/>
                <a:cs typeface="Arial" pitchFamily="34" charset="-120"/>
              </a:rPr>
              <a:t>The bank for a changing world</a:t>
            </a:r>
            <a:endParaRPr lang="en-US" sz="1000" dirty="0"/>
          </a:p>
        </p:txBody>
      </p:sp>
      <p:sp>
        <p:nvSpPr>
          <p:cNvPr id="38" name="Text 33"/>
          <p:cNvSpPr/>
          <p:nvPr/>
        </p:nvSpPr>
        <p:spPr>
          <a:xfrm>
            <a:off x="10789920" y="6309360"/>
            <a:ext cx="914400" cy="228600"/>
          </a:xfrm>
          <a:prstGeom prst="rect">
            <a:avLst/>
          </a:prstGeom>
          <a:noFill/>
          <a:ln/>
        </p:spPr>
        <p:txBody>
          <a:bodyPr wrap="square" lIns="0" tIns="0" rIns="0" bIns="0" rtlCol="0" anchor="ctr"/>
          <a:lstStyle/>
          <a:p>
            <a:pPr algn="r" indent="0" marL="0">
              <a:buNone/>
            </a:pPr>
            <a:r>
              <a:rPr lang="en-US" sz="1100" b="1" dirty="0">
                <a:solidFill>
                  <a:srgbClr val="262626"/>
                </a:solidFill>
                <a:latin typeface="Arial" pitchFamily="34" charset="0"/>
                <a:ea typeface="Arial" pitchFamily="34" charset="-122"/>
                <a:cs typeface="Arial" pitchFamily="34" charset="-120"/>
              </a:rPr>
              <a:t>1</a:t>
            </a:r>
            <a:endParaRPr lang="en-US" sz="1100" dirty="0"/>
          </a:p>
        </p:txBody>
      </p:sp>
      <p:sp>
        <p:nvSpPr>
          <p:cNvPr id="39" name="Text 34"/>
          <p:cNvSpPr/>
          <p:nvPr/>
        </p:nvSpPr>
        <p:spPr>
          <a:xfrm>
            <a:off x="9875520" y="6537960"/>
            <a:ext cx="1828800" cy="228600"/>
          </a:xfrm>
          <a:prstGeom prst="rect">
            <a:avLst/>
          </a:prstGeom>
          <a:noFill/>
          <a:ln/>
        </p:spPr>
        <p:txBody>
          <a:bodyPr wrap="square" lIns="0" tIns="0" rIns="0" bIns="0" rtlCol="0" anchor="ctr"/>
          <a:lstStyle/>
          <a:p>
            <a:pPr algn="r" indent="0" marL="0">
              <a:buNone/>
            </a:pPr>
            <a:r>
              <a:rPr lang="en-US" sz="900" dirty="0">
                <a:solidFill>
                  <a:srgbClr val="4472C4"/>
                </a:solidFill>
                <a:latin typeface="Arial" pitchFamily="34" charset="0"/>
                <a:ea typeface="Arial" pitchFamily="34" charset="-122"/>
                <a:cs typeface="Arial" pitchFamily="34" charset="-120"/>
              </a:rPr>
              <a:t>Classification : Internal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789920" y="320040"/>
            <a:ext cx="1005840" cy="457200"/>
          </a:xfrm>
          <a:prstGeom prst="rect">
            <a:avLst/>
          </a:prstGeom>
          <a:noFill/>
          <a:ln/>
        </p:spPr>
        <p:txBody>
          <a:bodyPr wrap="square" lIns="0" tIns="0" rIns="0" bIns="0" rtlCol="0" anchor="ctr"/>
          <a:lstStyle/>
          <a:p>
            <a:pPr algn="r" indent="0" marL="0">
              <a:buNone/>
            </a:pPr>
            <a:r>
              <a:rPr lang="en-US" sz="2800" b="1" dirty="0">
                <a:solidFill>
                  <a:srgbClr val="00915A"/>
                </a:solidFill>
                <a:latin typeface="Arial" pitchFamily="34" charset="0"/>
                <a:ea typeface="Arial" pitchFamily="34" charset="-122"/>
                <a:cs typeface="Arial" pitchFamily="34" charset="-120"/>
              </a:rPr>
              <a:t>RISK</a:t>
            </a:r>
            <a:endParaRPr lang="en-US" sz="2800" dirty="0"/>
          </a:p>
        </p:txBody>
      </p:sp>
      <p:sp>
        <p:nvSpPr>
          <p:cNvPr id="3" name="Shape 1"/>
          <p:cNvSpPr/>
          <p:nvPr/>
        </p:nvSpPr>
        <p:spPr>
          <a:xfrm>
            <a:off x="10789920" y="749808"/>
            <a:ext cx="1005840" cy="0"/>
          </a:xfrm>
          <a:prstGeom prst="line">
            <a:avLst/>
          </a:prstGeom>
          <a:noFill/>
          <a:ln w="25400">
            <a:solidFill>
              <a:srgbClr val="00915A"/>
            </a:solidFill>
            <a:prstDash val="solid"/>
          </a:ln>
        </p:spPr>
      </p:sp>
      <p:sp>
        <p:nvSpPr>
          <p:cNvPr id="4" name="Text 2"/>
          <p:cNvSpPr/>
          <p:nvPr/>
        </p:nvSpPr>
        <p:spPr>
          <a:xfrm>
            <a:off x="548640" y="274320"/>
            <a:ext cx="10058400" cy="640080"/>
          </a:xfrm>
          <a:prstGeom prst="rect">
            <a:avLst/>
          </a:prstGeom>
          <a:noFill/>
          <a:ln/>
        </p:spPr>
        <p:txBody>
          <a:bodyPr wrap="square" lIns="0" tIns="0" rIns="0" bIns="0" rtlCol="0" anchor="ctr"/>
          <a:lstStyle/>
          <a:p>
            <a:pPr indent="0" marL="0">
              <a:buNone/>
            </a:pPr>
            <a:r>
              <a:rPr lang="en-US" sz="3200" b="1" dirty="0">
                <a:solidFill>
                  <a:srgbClr val="00915A"/>
                </a:solidFill>
                <a:latin typeface="Arial" pitchFamily="34" charset="0"/>
                <a:ea typeface="Arial" pitchFamily="34" charset="-122"/>
                <a:cs typeface="Arial" pitchFamily="34" charset="-120"/>
              </a:rPr>
              <a:t>What We Did: Teaching the Machine to Read</a:t>
            </a:r>
            <a:endParaRPr lang="en-US" sz="3200" dirty="0"/>
          </a:p>
        </p:txBody>
      </p:sp>
      <p:sp>
        <p:nvSpPr>
          <p:cNvPr id="5" name="Text 3"/>
          <p:cNvSpPr/>
          <p:nvPr/>
        </p:nvSpPr>
        <p:spPr>
          <a:xfrm>
            <a:off x="548640" y="914400"/>
            <a:ext cx="10972800" cy="320040"/>
          </a:xfrm>
          <a:prstGeom prst="rect">
            <a:avLst/>
          </a:prstGeom>
          <a:noFill/>
          <a:ln/>
        </p:spPr>
        <p:txBody>
          <a:bodyPr wrap="square" lIns="0" tIns="0" rIns="0" bIns="0" rtlCol="0" anchor="ctr"/>
          <a:lstStyle/>
          <a:p>
            <a:pPr indent="0" marL="0">
              <a:buNone/>
            </a:pPr>
            <a:r>
              <a:rPr lang="en-US" sz="1400" i="1" dirty="0">
                <a:solidFill>
                  <a:srgbClr val="595959"/>
                </a:solidFill>
                <a:latin typeface="Arial" pitchFamily="34" charset="0"/>
                <a:ea typeface="Arial" pitchFamily="34" charset="-122"/>
                <a:cs typeface="Arial" pitchFamily="34" charset="-120"/>
              </a:rPr>
              <a:t>The model converts each incident description into a list of 768 numbers that captures its meaning</a:t>
            </a:r>
            <a:endParaRPr lang="en-US" sz="1400" dirty="0"/>
          </a:p>
        </p:txBody>
      </p:sp>
      <p:sp>
        <p:nvSpPr>
          <p:cNvPr id="6" name="Shape 4"/>
          <p:cNvSpPr/>
          <p:nvPr/>
        </p:nvSpPr>
        <p:spPr>
          <a:xfrm>
            <a:off x="822960" y="1554480"/>
            <a:ext cx="3108960" cy="1920240"/>
          </a:xfrm>
          <a:prstGeom prst="roundRect">
            <a:avLst>
              <a:gd name="adj" fmla="val 3810"/>
            </a:avLst>
          </a:prstGeom>
          <a:solidFill>
            <a:srgbClr val="FFFFFF"/>
          </a:solidFill>
          <a:ln w="12700">
            <a:solidFill>
              <a:srgbClr val="E1E5E8"/>
            </a:solidFill>
            <a:prstDash val="solid"/>
          </a:ln>
        </p:spPr>
      </p:sp>
      <p:pic>
        <p:nvPicPr>
          <p:cNvPr id="7" name="Image 0" descr="preencoded.png">    </p:cNvPr>
          <p:cNvPicPr>
            <a:picLocks noChangeAspect="1"/>
          </p:cNvPicPr>
          <p:nvPr/>
        </p:nvPicPr>
        <p:blipFill>
          <a:blip r:embed="rId1"/>
          <a:stretch>
            <a:fillRect/>
          </a:stretch>
        </p:blipFill>
        <p:spPr>
          <a:xfrm>
            <a:off x="1005840" y="1719072"/>
            <a:ext cx="237744" cy="237744"/>
          </a:xfrm>
          <a:prstGeom prst="rect">
            <a:avLst/>
          </a:prstGeom>
        </p:spPr>
      </p:pic>
      <p:sp>
        <p:nvSpPr>
          <p:cNvPr id="8" name="Text 5"/>
          <p:cNvSpPr/>
          <p:nvPr/>
        </p:nvSpPr>
        <p:spPr>
          <a:xfrm>
            <a:off x="1325880" y="1691640"/>
            <a:ext cx="2468880" cy="274320"/>
          </a:xfrm>
          <a:prstGeom prst="rect">
            <a:avLst/>
          </a:prstGeom>
          <a:noFill/>
          <a:ln/>
        </p:spPr>
        <p:txBody>
          <a:bodyPr wrap="square" lIns="0" tIns="0" rIns="0" bIns="0" rtlCol="0" anchor="ctr"/>
          <a:lstStyle/>
          <a:p>
            <a:pPr indent="0" marL="0">
              <a:buNone/>
            </a:pPr>
            <a:r>
              <a:rPr lang="en-US" sz="1100" b="1" i="1" dirty="0">
                <a:solidFill>
                  <a:srgbClr val="8C8C8C"/>
                </a:solidFill>
                <a:latin typeface="Arial" pitchFamily="34" charset="0"/>
                <a:ea typeface="Arial" pitchFamily="34" charset="-122"/>
                <a:cs typeface="Arial" pitchFamily="34" charset="-120"/>
              </a:rPr>
              <a:t>Incident description</a:t>
            </a:r>
            <a:endParaRPr lang="en-US" sz="1100" dirty="0"/>
          </a:p>
        </p:txBody>
      </p:sp>
      <p:sp>
        <p:nvSpPr>
          <p:cNvPr id="9" name="Text 6"/>
          <p:cNvSpPr/>
          <p:nvPr/>
        </p:nvSpPr>
        <p:spPr>
          <a:xfrm>
            <a:off x="1051560" y="2103120"/>
            <a:ext cx="2651760" cy="1188720"/>
          </a:xfrm>
          <a:prstGeom prst="rect">
            <a:avLst/>
          </a:prstGeom>
          <a:noFill/>
          <a:ln/>
        </p:spPr>
        <p:txBody>
          <a:bodyPr wrap="square" lIns="0" tIns="0" rIns="0" bIns="0" rtlCol="0" anchor="t"/>
          <a:lstStyle/>
          <a:p>
            <a:pPr indent="0" marL="0">
              <a:buNone/>
            </a:pPr>
            <a:r>
              <a:rPr lang="en-US" sz="1250" i="1" dirty="0">
                <a:solidFill>
                  <a:srgbClr val="262626"/>
                </a:solidFill>
                <a:latin typeface="Arial" pitchFamily="34" charset="0"/>
                <a:ea typeface="Arial" pitchFamily="34" charset="-122"/>
                <a:cs typeface="Arial" pitchFamily="34" charset="-120"/>
              </a:rPr>
              <a:t>“The customer filed a complaint about the interest rate calculation on their mortgage...”</a:t>
            </a:r>
            <a:endParaRPr lang="en-US" sz="1250" dirty="0"/>
          </a:p>
        </p:txBody>
      </p:sp>
      <p:sp>
        <p:nvSpPr>
          <p:cNvPr id="10" name="Shape 7"/>
          <p:cNvSpPr/>
          <p:nvPr/>
        </p:nvSpPr>
        <p:spPr>
          <a:xfrm rot="5400000">
            <a:off x="4096512" y="2404872"/>
            <a:ext cx="256032" cy="219456"/>
          </a:xfrm>
          <a:prstGeom prst="rtTriangle">
            <a:avLst/>
          </a:prstGeom>
          <a:solidFill>
            <a:srgbClr val="00915A"/>
          </a:solidFill>
          <a:ln w="12700">
            <a:solidFill>
              <a:srgbClr val="00915A"/>
            </a:solidFill>
            <a:prstDash val="solid"/>
          </a:ln>
        </p:spPr>
      </p:sp>
      <p:sp>
        <p:nvSpPr>
          <p:cNvPr id="11" name="Shape 8"/>
          <p:cNvSpPr/>
          <p:nvPr/>
        </p:nvSpPr>
        <p:spPr>
          <a:xfrm>
            <a:off x="4526280" y="1783080"/>
            <a:ext cx="2651760" cy="1463040"/>
          </a:xfrm>
          <a:prstGeom prst="roundRect">
            <a:avLst>
              <a:gd name="adj" fmla="val 6250"/>
            </a:avLst>
          </a:prstGeom>
          <a:solidFill>
            <a:srgbClr val="F0F8F4"/>
          </a:solidFill>
          <a:ln w="19050">
            <a:solidFill>
              <a:srgbClr val="00915A"/>
            </a:solidFill>
            <a:prstDash val="solid"/>
          </a:ln>
        </p:spPr>
      </p:sp>
      <p:pic>
        <p:nvPicPr>
          <p:cNvPr id="12" name="Image 1" descr="preencoded.png">    </p:cNvPr>
          <p:cNvPicPr>
            <a:picLocks noChangeAspect="1"/>
          </p:cNvPicPr>
          <p:nvPr/>
        </p:nvPicPr>
        <p:blipFill>
          <a:blip r:embed="rId2"/>
          <a:stretch>
            <a:fillRect/>
          </a:stretch>
        </p:blipFill>
        <p:spPr>
          <a:xfrm>
            <a:off x="5577840" y="2011680"/>
            <a:ext cx="548640" cy="548640"/>
          </a:xfrm>
          <a:prstGeom prst="rect">
            <a:avLst/>
          </a:prstGeom>
        </p:spPr>
      </p:pic>
      <p:sp>
        <p:nvSpPr>
          <p:cNvPr id="13" name="Text 9"/>
          <p:cNvSpPr/>
          <p:nvPr/>
        </p:nvSpPr>
        <p:spPr>
          <a:xfrm>
            <a:off x="4526280" y="2606040"/>
            <a:ext cx="2651760" cy="274320"/>
          </a:xfrm>
          <a:prstGeom prst="rect">
            <a:avLst/>
          </a:prstGeom>
          <a:noFill/>
          <a:ln/>
        </p:spPr>
        <p:txBody>
          <a:bodyPr wrap="square" lIns="0" tIns="0" rIns="0" bIns="0" rtlCol="0" anchor="ctr"/>
          <a:lstStyle/>
          <a:p>
            <a:pPr algn="ctr" indent="0" marL="0">
              <a:buNone/>
            </a:pPr>
            <a:r>
              <a:rPr lang="en-US" sz="1400" b="1" dirty="0">
                <a:solidFill>
                  <a:srgbClr val="1F3864"/>
                </a:solidFill>
                <a:latin typeface="Arial" pitchFamily="34" charset="0"/>
                <a:ea typeface="Arial" pitchFamily="34" charset="-122"/>
                <a:cs typeface="Arial" pitchFamily="34" charset="-120"/>
              </a:rPr>
              <a:t>NLP model</a:t>
            </a:r>
            <a:endParaRPr lang="en-US" sz="1400" dirty="0"/>
          </a:p>
        </p:txBody>
      </p:sp>
      <p:sp>
        <p:nvSpPr>
          <p:cNvPr id="14" name="Text 10"/>
          <p:cNvSpPr/>
          <p:nvPr/>
        </p:nvSpPr>
        <p:spPr>
          <a:xfrm>
            <a:off x="4526280" y="2852928"/>
            <a:ext cx="2651760" cy="228600"/>
          </a:xfrm>
          <a:prstGeom prst="rect">
            <a:avLst/>
          </a:prstGeom>
          <a:noFill/>
          <a:ln/>
        </p:spPr>
        <p:txBody>
          <a:bodyPr wrap="square" lIns="0" tIns="0" rIns="0" bIns="0" rtlCol="0" anchor="ctr"/>
          <a:lstStyle/>
          <a:p>
            <a:pPr algn="ctr" indent="0" marL="0">
              <a:buNone/>
            </a:pPr>
            <a:r>
              <a:rPr lang="en-US" sz="1000" dirty="0">
                <a:solidFill>
                  <a:srgbClr val="595959"/>
                </a:solidFill>
                <a:latin typeface="Courier New" pitchFamily="34" charset="0"/>
                <a:ea typeface="Courier New" pitchFamily="34" charset="-122"/>
                <a:cs typeface="Courier New" pitchFamily="34" charset="-120"/>
              </a:rPr>
              <a:t>(all-mpnet-base-v2)</a:t>
            </a:r>
            <a:endParaRPr lang="en-US" sz="1000" dirty="0"/>
          </a:p>
        </p:txBody>
      </p:sp>
      <p:sp>
        <p:nvSpPr>
          <p:cNvPr id="15" name="Shape 11"/>
          <p:cNvSpPr/>
          <p:nvPr/>
        </p:nvSpPr>
        <p:spPr>
          <a:xfrm rot="5400000">
            <a:off x="7342632" y="2404872"/>
            <a:ext cx="256032" cy="219456"/>
          </a:xfrm>
          <a:prstGeom prst="rtTriangle">
            <a:avLst/>
          </a:prstGeom>
          <a:solidFill>
            <a:srgbClr val="00915A"/>
          </a:solidFill>
          <a:ln w="12700">
            <a:solidFill>
              <a:srgbClr val="00915A"/>
            </a:solidFill>
            <a:prstDash val="solid"/>
          </a:ln>
        </p:spPr>
      </p:sp>
      <p:sp>
        <p:nvSpPr>
          <p:cNvPr id="16" name="Shape 12"/>
          <p:cNvSpPr/>
          <p:nvPr/>
        </p:nvSpPr>
        <p:spPr>
          <a:xfrm>
            <a:off x="7772400" y="1554480"/>
            <a:ext cx="3566160" cy="1920240"/>
          </a:xfrm>
          <a:prstGeom prst="roundRect">
            <a:avLst>
              <a:gd name="adj" fmla="val 3810"/>
            </a:avLst>
          </a:prstGeom>
          <a:solidFill>
            <a:srgbClr val="FFFFFF"/>
          </a:solidFill>
          <a:ln w="12700">
            <a:solidFill>
              <a:srgbClr val="E1E5E8"/>
            </a:solidFill>
            <a:prstDash val="solid"/>
          </a:ln>
        </p:spPr>
      </p:sp>
      <p:sp>
        <p:nvSpPr>
          <p:cNvPr id="17" name="Text 13"/>
          <p:cNvSpPr/>
          <p:nvPr/>
        </p:nvSpPr>
        <p:spPr>
          <a:xfrm>
            <a:off x="8001000" y="1691640"/>
            <a:ext cx="3108960" cy="274320"/>
          </a:xfrm>
          <a:prstGeom prst="rect">
            <a:avLst/>
          </a:prstGeom>
          <a:noFill/>
          <a:ln/>
        </p:spPr>
        <p:txBody>
          <a:bodyPr wrap="square" lIns="0" tIns="0" rIns="0" bIns="0" rtlCol="0" anchor="ctr"/>
          <a:lstStyle/>
          <a:p>
            <a:pPr indent="0" marL="0">
              <a:buNone/>
            </a:pPr>
            <a:r>
              <a:rPr lang="en-US" sz="1100" b="1" i="1" dirty="0">
                <a:solidFill>
                  <a:srgbClr val="8C8C8C"/>
                </a:solidFill>
                <a:latin typeface="Arial" pitchFamily="34" charset="0"/>
                <a:ea typeface="Arial" pitchFamily="34" charset="-122"/>
                <a:cs typeface="Arial" pitchFamily="34" charset="-120"/>
              </a:rPr>
              <a:t>Its “meaning signature”</a:t>
            </a:r>
            <a:endParaRPr lang="en-US" sz="1100" dirty="0"/>
          </a:p>
        </p:txBody>
      </p:sp>
      <p:sp>
        <p:nvSpPr>
          <p:cNvPr id="18" name="Text 14"/>
          <p:cNvSpPr/>
          <p:nvPr/>
        </p:nvSpPr>
        <p:spPr>
          <a:xfrm>
            <a:off x="8092440" y="2057400"/>
            <a:ext cx="2926080" cy="1234440"/>
          </a:xfrm>
          <a:prstGeom prst="rect">
            <a:avLst/>
          </a:prstGeom>
          <a:noFill/>
          <a:ln/>
        </p:spPr>
        <p:txBody>
          <a:bodyPr wrap="square" lIns="0" tIns="0" rIns="0" bIns="0" rtlCol="0" anchor="t"/>
          <a:lstStyle/>
          <a:p>
            <a:pPr indent="0" marL="0">
              <a:buNone/>
            </a:pPr>
            <a:r>
              <a:rPr lang="en-US" sz="1300" b="1" dirty="0">
                <a:solidFill>
                  <a:srgbClr val="1F3864"/>
                </a:solidFill>
                <a:latin typeface="Courier New" pitchFamily="34" charset="0"/>
                <a:ea typeface="Courier New" pitchFamily="34" charset="-122"/>
                <a:cs typeface="Courier New" pitchFamily="34" charset="-120"/>
              </a:rPr>
              <a:t>[ 0.12,  -0.87,  0.44,</a:t>
            </a:r>
            <a:endParaRPr lang="en-US" sz="1300" dirty="0"/>
          </a:p>
          <a:p>
            <a:pPr indent="0" marL="0">
              <a:buNone/>
            </a:pPr>
            <a:r>
              <a:rPr lang="en-US" sz="1300" b="1" dirty="0">
                <a:solidFill>
                  <a:srgbClr val="1F3864"/>
                </a:solidFill>
                <a:latin typeface="Courier New" pitchFamily="34" charset="0"/>
                <a:ea typeface="Courier New" pitchFamily="34" charset="-122"/>
                <a:cs typeface="Courier New" pitchFamily="34" charset="-120"/>
              </a:rPr>
              <a:t>  0.03,   0.51,  -0.29,</a:t>
            </a:r>
            <a:endParaRPr lang="en-US" sz="1300" dirty="0"/>
          </a:p>
          <a:p>
            <a:pPr indent="0" marL="0">
              <a:buNone/>
            </a:pPr>
            <a:r>
              <a:rPr lang="en-US" sz="1300" b="1" dirty="0">
                <a:solidFill>
                  <a:srgbClr val="1F3864"/>
                </a:solidFill>
                <a:latin typeface="Courier New" pitchFamily="34" charset="0"/>
                <a:ea typeface="Courier New" pitchFamily="34" charset="-122"/>
                <a:cs typeface="Courier New" pitchFamily="34" charset="-120"/>
              </a:rPr>
              <a:t>  ...</a:t>
            </a:r>
            <a:endParaRPr lang="en-US" sz="1300" dirty="0"/>
          </a:p>
          <a:p>
            <a:pPr indent="0" marL="0">
              <a:buNone/>
            </a:pPr>
            <a:r>
              <a:rPr lang="en-US" sz="1300" b="1" dirty="0">
                <a:solidFill>
                  <a:srgbClr val="1F3864"/>
                </a:solidFill>
                <a:latin typeface="Courier New" pitchFamily="34" charset="0"/>
                <a:ea typeface="Courier New" pitchFamily="34" charset="-122"/>
                <a:cs typeface="Courier New" pitchFamily="34" charset="-120"/>
              </a:rPr>
              <a:t>  768 numbers ]</a:t>
            </a:r>
            <a:endParaRPr lang="en-US" sz="1300" dirty="0"/>
          </a:p>
        </p:txBody>
      </p:sp>
      <p:sp>
        <p:nvSpPr>
          <p:cNvPr id="19" name="Shape 15"/>
          <p:cNvSpPr/>
          <p:nvPr/>
        </p:nvSpPr>
        <p:spPr>
          <a:xfrm>
            <a:off x="822960" y="3794760"/>
            <a:ext cx="6492240" cy="1965960"/>
          </a:xfrm>
          <a:prstGeom prst="roundRect">
            <a:avLst>
              <a:gd name="adj" fmla="val 4651"/>
            </a:avLst>
          </a:prstGeom>
          <a:solidFill>
            <a:srgbClr val="F7F9FA"/>
          </a:solidFill>
          <a:ln w="12700">
            <a:solidFill>
              <a:srgbClr val="E1E5E8"/>
            </a:solidFill>
            <a:prstDash val="solid"/>
          </a:ln>
        </p:spPr>
      </p:sp>
      <p:pic>
        <p:nvPicPr>
          <p:cNvPr id="20" name="Image 2" descr="preencoded.png">    </p:cNvPr>
          <p:cNvPicPr>
            <a:picLocks noChangeAspect="1"/>
          </p:cNvPicPr>
          <p:nvPr/>
        </p:nvPicPr>
        <p:blipFill>
          <a:blip r:embed="rId3"/>
          <a:stretch>
            <a:fillRect/>
          </a:stretch>
        </p:blipFill>
        <p:spPr>
          <a:xfrm>
            <a:off x="1051560" y="4023360"/>
            <a:ext cx="274320" cy="274320"/>
          </a:xfrm>
          <a:prstGeom prst="rect">
            <a:avLst/>
          </a:prstGeom>
        </p:spPr>
      </p:pic>
      <p:sp>
        <p:nvSpPr>
          <p:cNvPr id="21" name="Text 16"/>
          <p:cNvSpPr/>
          <p:nvPr/>
        </p:nvSpPr>
        <p:spPr>
          <a:xfrm>
            <a:off x="1417320" y="3995928"/>
            <a:ext cx="3657600" cy="320040"/>
          </a:xfrm>
          <a:prstGeom prst="rect">
            <a:avLst/>
          </a:prstGeom>
          <a:noFill/>
          <a:ln/>
        </p:spPr>
        <p:txBody>
          <a:bodyPr wrap="square" lIns="0" tIns="0" rIns="0" bIns="0" rtlCol="0" anchor="ctr"/>
          <a:lstStyle/>
          <a:p>
            <a:pPr indent="0" marL="0">
              <a:buNone/>
            </a:pPr>
            <a:r>
              <a:rPr lang="en-US" sz="1500" b="1" dirty="0">
                <a:solidFill>
                  <a:srgbClr val="00915A"/>
                </a:solidFill>
                <a:latin typeface="Arial" pitchFamily="34" charset="0"/>
                <a:ea typeface="Arial" pitchFamily="34" charset="-122"/>
                <a:cs typeface="Arial" pitchFamily="34" charset="-120"/>
              </a:rPr>
              <a:t>The key idea</a:t>
            </a:r>
            <a:endParaRPr lang="en-US" sz="1500" dirty="0"/>
          </a:p>
        </p:txBody>
      </p:sp>
      <p:sp>
        <p:nvSpPr>
          <p:cNvPr id="22" name="Text 17"/>
          <p:cNvSpPr/>
          <p:nvPr/>
        </p:nvSpPr>
        <p:spPr>
          <a:xfrm>
            <a:off x="1051560" y="4389120"/>
            <a:ext cx="5943600" cy="1234440"/>
          </a:xfrm>
          <a:prstGeom prst="rect">
            <a:avLst/>
          </a:prstGeom>
          <a:noFill/>
          <a:ln/>
        </p:spPr>
        <p:txBody>
          <a:bodyPr wrap="square" lIns="0" tIns="0" rIns="0" bIns="0" rtlCol="0" anchor="t"/>
          <a:lstStyle/>
          <a:p>
            <a:pPr indent="0" marL="0">
              <a:buNone/>
            </a:pPr>
            <a:r>
              <a:rPr lang="en-US" sz="1300" dirty="0">
                <a:solidFill>
                  <a:srgbClr val="262626"/>
                </a:solidFill>
                <a:latin typeface="Arial" pitchFamily="34" charset="0"/>
                <a:ea typeface="Arial" pitchFamily="34" charset="-122"/>
                <a:cs typeface="Arial" pitchFamily="34" charset="-120"/>
              </a:rPr>
              <a:t>Two incidents that mean the same thing get very similar numbers — even if they use completely different words.</a:t>
            </a:r>
            <a:endParaRPr lang="en-US" sz="1300" dirty="0"/>
          </a:p>
          <a:p>
            <a:pPr indent="0" marL="0">
              <a:buNone/>
            </a:pPr>
            <a:r>
              <a:rPr lang="en-US" sz="700" dirty="0">
                <a:solidFill>
                  <a:srgbClr val="262626"/>
                </a:solidFill>
                <a:latin typeface="Arial" pitchFamily="34" charset="0"/>
                <a:ea typeface="Arial" pitchFamily="34" charset="-122"/>
                <a:cs typeface="Arial" pitchFamily="34" charset="-120"/>
              </a:rPr>
              <a:t> </a:t>
            </a:r>
            <a:endParaRPr lang="en-US" sz="1300" dirty="0"/>
          </a:p>
          <a:p>
            <a:pPr indent="0" marL="0">
              <a:buNone/>
            </a:pPr>
            <a:r>
              <a:rPr lang="en-US" sz="1300" i="1" dirty="0">
                <a:solidFill>
                  <a:srgbClr val="262626"/>
                </a:solidFill>
                <a:latin typeface="Arial" pitchFamily="34" charset="0"/>
                <a:ea typeface="Arial" pitchFamily="34" charset="-122"/>
                <a:cs typeface="Arial" pitchFamily="34" charset="-120"/>
              </a:rPr>
              <a:t>“customer” and “client”, “complaint” and “claim”: the machine now understands they are related.</a:t>
            </a:r>
            <a:endParaRPr lang="en-US" sz="1300" dirty="0"/>
          </a:p>
        </p:txBody>
      </p:sp>
      <p:sp>
        <p:nvSpPr>
          <p:cNvPr id="23" name="Shape 18"/>
          <p:cNvSpPr/>
          <p:nvPr/>
        </p:nvSpPr>
        <p:spPr>
          <a:xfrm>
            <a:off x="7680960" y="3794760"/>
            <a:ext cx="3657600" cy="1965960"/>
          </a:xfrm>
          <a:prstGeom prst="roundRect">
            <a:avLst>
              <a:gd name="adj" fmla="val 4651"/>
            </a:avLst>
          </a:prstGeom>
          <a:solidFill>
            <a:srgbClr val="FFFFFF"/>
          </a:solidFill>
          <a:ln w="12700">
            <a:solidFill>
              <a:srgbClr val="E1E5E8"/>
            </a:solidFill>
            <a:prstDash val="solid"/>
          </a:ln>
        </p:spPr>
      </p:sp>
      <p:sp>
        <p:nvSpPr>
          <p:cNvPr id="24" name="Text 19"/>
          <p:cNvSpPr/>
          <p:nvPr/>
        </p:nvSpPr>
        <p:spPr>
          <a:xfrm>
            <a:off x="7680960" y="3904488"/>
            <a:ext cx="3657600" cy="274320"/>
          </a:xfrm>
          <a:prstGeom prst="rect">
            <a:avLst/>
          </a:prstGeom>
          <a:noFill/>
          <a:ln/>
        </p:spPr>
        <p:txBody>
          <a:bodyPr wrap="square" lIns="0" tIns="0" rIns="0" bIns="0" rtlCol="0" anchor="ctr"/>
          <a:lstStyle/>
          <a:p>
            <a:pPr algn="ctr" indent="0" marL="0">
              <a:buNone/>
            </a:pPr>
            <a:r>
              <a:rPr lang="en-US" sz="1100" b="1" i="1" dirty="0">
                <a:solidFill>
                  <a:srgbClr val="8C8C8C"/>
                </a:solidFill>
                <a:latin typeface="Arial" pitchFamily="34" charset="0"/>
                <a:ea typeface="Arial" pitchFamily="34" charset="-122"/>
                <a:cs typeface="Arial" pitchFamily="34" charset="-120"/>
              </a:rPr>
              <a:t>Similar meaning = close together</a:t>
            </a:r>
            <a:endParaRPr lang="en-US" sz="1100" dirty="0"/>
          </a:p>
        </p:txBody>
      </p:sp>
      <p:sp>
        <p:nvSpPr>
          <p:cNvPr id="25" name="Shape 20"/>
          <p:cNvSpPr/>
          <p:nvPr/>
        </p:nvSpPr>
        <p:spPr>
          <a:xfrm>
            <a:off x="8503920" y="4572000"/>
            <a:ext cx="201168" cy="201168"/>
          </a:xfrm>
          <a:prstGeom prst="ellipse">
            <a:avLst/>
          </a:prstGeom>
          <a:solidFill>
            <a:srgbClr val="3E5FAF"/>
          </a:solidFill>
          <a:ln w="12700">
            <a:solidFill>
              <a:srgbClr val="3E5FAF"/>
            </a:solidFill>
            <a:prstDash val="solid"/>
          </a:ln>
        </p:spPr>
      </p:sp>
      <p:sp>
        <p:nvSpPr>
          <p:cNvPr id="26" name="Shape 21"/>
          <p:cNvSpPr/>
          <p:nvPr/>
        </p:nvSpPr>
        <p:spPr>
          <a:xfrm>
            <a:off x="8823960" y="4754880"/>
            <a:ext cx="201168" cy="201168"/>
          </a:xfrm>
          <a:prstGeom prst="ellipse">
            <a:avLst/>
          </a:prstGeom>
          <a:solidFill>
            <a:srgbClr val="3E5FAF"/>
          </a:solidFill>
          <a:ln w="12700">
            <a:solidFill>
              <a:srgbClr val="3E5FAF"/>
            </a:solidFill>
            <a:prstDash val="solid"/>
          </a:ln>
        </p:spPr>
      </p:sp>
      <p:sp>
        <p:nvSpPr>
          <p:cNvPr id="27" name="Text 22"/>
          <p:cNvSpPr/>
          <p:nvPr/>
        </p:nvSpPr>
        <p:spPr>
          <a:xfrm>
            <a:off x="8001000" y="5029200"/>
            <a:ext cx="1554480" cy="502920"/>
          </a:xfrm>
          <a:prstGeom prst="rect">
            <a:avLst/>
          </a:prstGeom>
          <a:noFill/>
          <a:ln/>
        </p:spPr>
        <p:txBody>
          <a:bodyPr wrap="square" lIns="0" tIns="0" rIns="0" bIns="0" rtlCol="0" anchor="t"/>
          <a:lstStyle/>
          <a:p>
            <a:pPr algn="ctr" indent="0" marL="0">
              <a:buNone/>
            </a:pPr>
            <a:r>
              <a:rPr lang="en-US" sz="950" dirty="0">
                <a:solidFill>
                  <a:srgbClr val="3E5FAF"/>
                </a:solidFill>
                <a:latin typeface="Arial" pitchFamily="34" charset="0"/>
                <a:ea typeface="Arial" pitchFamily="34" charset="-122"/>
                <a:cs typeface="Arial" pitchFamily="34" charset="-120"/>
              </a:rPr>
              <a:t>interest rate</a:t>
            </a:r>
            <a:endParaRPr lang="en-US" sz="950" dirty="0"/>
          </a:p>
          <a:p>
            <a:pPr algn="ctr" indent="0" marL="0">
              <a:buNone/>
            </a:pPr>
            <a:r>
              <a:rPr lang="en-US" sz="950" dirty="0">
                <a:solidFill>
                  <a:srgbClr val="3E5FAF"/>
                </a:solidFill>
                <a:latin typeface="Arial" pitchFamily="34" charset="0"/>
                <a:ea typeface="Arial" pitchFamily="34" charset="-122"/>
                <a:cs typeface="Arial" pitchFamily="34" charset="-120"/>
              </a:rPr>
              <a:t>disputes</a:t>
            </a:r>
            <a:endParaRPr lang="en-US" sz="950" dirty="0"/>
          </a:p>
        </p:txBody>
      </p:sp>
      <p:sp>
        <p:nvSpPr>
          <p:cNvPr id="28" name="Shape 23"/>
          <p:cNvSpPr/>
          <p:nvPr/>
        </p:nvSpPr>
        <p:spPr>
          <a:xfrm>
            <a:off x="10424160" y="4434840"/>
            <a:ext cx="201168" cy="201168"/>
          </a:xfrm>
          <a:prstGeom prst="ellipse">
            <a:avLst/>
          </a:prstGeom>
          <a:solidFill>
            <a:srgbClr val="C63D3D"/>
          </a:solidFill>
          <a:ln w="12700">
            <a:solidFill>
              <a:srgbClr val="C63D3D"/>
            </a:solidFill>
            <a:prstDash val="solid"/>
          </a:ln>
        </p:spPr>
      </p:sp>
      <p:sp>
        <p:nvSpPr>
          <p:cNvPr id="29" name="Text 24"/>
          <p:cNvSpPr/>
          <p:nvPr/>
        </p:nvSpPr>
        <p:spPr>
          <a:xfrm>
            <a:off x="9921240" y="4709160"/>
            <a:ext cx="1188720" cy="274320"/>
          </a:xfrm>
          <a:prstGeom prst="rect">
            <a:avLst/>
          </a:prstGeom>
          <a:noFill/>
          <a:ln/>
        </p:spPr>
        <p:txBody>
          <a:bodyPr wrap="square" lIns="0" tIns="0" rIns="0" bIns="0" rtlCol="0" anchor="t"/>
          <a:lstStyle/>
          <a:p>
            <a:pPr algn="ctr" indent="0" marL="0">
              <a:buNone/>
            </a:pPr>
            <a:r>
              <a:rPr lang="en-US" sz="950" dirty="0">
                <a:solidFill>
                  <a:srgbClr val="C63D3D"/>
                </a:solidFill>
                <a:latin typeface="Arial" pitchFamily="34" charset="0"/>
                <a:ea typeface="Arial" pitchFamily="34" charset="-122"/>
                <a:cs typeface="Arial" pitchFamily="34" charset="-120"/>
              </a:rPr>
              <a:t>card fraud</a:t>
            </a:r>
            <a:endParaRPr lang="en-US" sz="950" dirty="0"/>
          </a:p>
        </p:txBody>
      </p:sp>
      <p:sp>
        <p:nvSpPr>
          <p:cNvPr id="30" name="Shape 25"/>
          <p:cNvSpPr/>
          <p:nvPr/>
        </p:nvSpPr>
        <p:spPr>
          <a:xfrm>
            <a:off x="548640" y="6217920"/>
            <a:ext cx="11064240" cy="0"/>
          </a:xfrm>
          <a:prstGeom prst="line">
            <a:avLst/>
          </a:prstGeom>
          <a:noFill/>
          <a:ln w="9525">
            <a:solidFill>
              <a:srgbClr val="E1E5E8"/>
            </a:solidFill>
            <a:prstDash val="solid"/>
          </a:ln>
        </p:spPr>
      </p:sp>
      <p:sp>
        <p:nvSpPr>
          <p:cNvPr id="31" name="Text 26"/>
          <p:cNvSpPr/>
          <p:nvPr/>
        </p:nvSpPr>
        <p:spPr>
          <a:xfrm>
            <a:off x="548640" y="6355080"/>
            <a:ext cx="1828800" cy="27432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BNP PARIBAS</a:t>
            </a:r>
            <a:endParaRPr lang="en-US" sz="1100" dirty="0"/>
          </a:p>
        </p:txBody>
      </p:sp>
      <p:sp>
        <p:nvSpPr>
          <p:cNvPr id="32" name="Text 27"/>
          <p:cNvSpPr/>
          <p:nvPr/>
        </p:nvSpPr>
        <p:spPr>
          <a:xfrm>
            <a:off x="4709160" y="6355080"/>
            <a:ext cx="2743200" cy="274320"/>
          </a:xfrm>
          <a:prstGeom prst="rect">
            <a:avLst/>
          </a:prstGeom>
          <a:noFill/>
          <a:ln/>
        </p:spPr>
        <p:txBody>
          <a:bodyPr wrap="square" lIns="0" tIns="0" rIns="0" bIns="0" rtlCol="0" anchor="ctr"/>
          <a:lstStyle/>
          <a:p>
            <a:pPr algn="ctr" indent="0" marL="0">
              <a:buNone/>
            </a:pPr>
            <a:r>
              <a:rPr lang="en-US" sz="1000" i="1" dirty="0">
                <a:solidFill>
                  <a:srgbClr val="262626"/>
                </a:solidFill>
                <a:latin typeface="Arial" pitchFamily="34" charset="0"/>
                <a:ea typeface="Arial" pitchFamily="34" charset="-122"/>
                <a:cs typeface="Arial" pitchFamily="34" charset="-120"/>
              </a:rPr>
              <a:t>The bank for a changing world</a:t>
            </a:r>
            <a:endParaRPr lang="en-US" sz="1000" dirty="0"/>
          </a:p>
        </p:txBody>
      </p:sp>
      <p:sp>
        <p:nvSpPr>
          <p:cNvPr id="33" name="Text 28"/>
          <p:cNvSpPr/>
          <p:nvPr/>
        </p:nvSpPr>
        <p:spPr>
          <a:xfrm>
            <a:off x="10789920" y="6309360"/>
            <a:ext cx="914400" cy="228600"/>
          </a:xfrm>
          <a:prstGeom prst="rect">
            <a:avLst/>
          </a:prstGeom>
          <a:noFill/>
          <a:ln/>
        </p:spPr>
        <p:txBody>
          <a:bodyPr wrap="square" lIns="0" tIns="0" rIns="0" bIns="0" rtlCol="0" anchor="ctr"/>
          <a:lstStyle/>
          <a:p>
            <a:pPr algn="r" indent="0" marL="0">
              <a:buNone/>
            </a:pPr>
            <a:r>
              <a:rPr lang="en-US" sz="1100" b="1" dirty="0">
                <a:solidFill>
                  <a:srgbClr val="262626"/>
                </a:solidFill>
                <a:latin typeface="Arial" pitchFamily="34" charset="0"/>
                <a:ea typeface="Arial" pitchFamily="34" charset="-122"/>
                <a:cs typeface="Arial" pitchFamily="34" charset="-120"/>
              </a:rPr>
              <a:t>2</a:t>
            </a:r>
            <a:endParaRPr lang="en-US" sz="1100" dirty="0"/>
          </a:p>
        </p:txBody>
      </p:sp>
      <p:sp>
        <p:nvSpPr>
          <p:cNvPr id="34" name="Text 29"/>
          <p:cNvSpPr/>
          <p:nvPr/>
        </p:nvSpPr>
        <p:spPr>
          <a:xfrm>
            <a:off x="9875520" y="6537960"/>
            <a:ext cx="1828800" cy="228600"/>
          </a:xfrm>
          <a:prstGeom prst="rect">
            <a:avLst/>
          </a:prstGeom>
          <a:noFill/>
          <a:ln/>
        </p:spPr>
        <p:txBody>
          <a:bodyPr wrap="square" lIns="0" tIns="0" rIns="0" bIns="0" rtlCol="0" anchor="ctr"/>
          <a:lstStyle/>
          <a:p>
            <a:pPr algn="r" indent="0" marL="0">
              <a:buNone/>
            </a:pPr>
            <a:r>
              <a:rPr lang="en-US" sz="900" dirty="0">
                <a:solidFill>
                  <a:srgbClr val="4472C4"/>
                </a:solidFill>
                <a:latin typeface="Arial" pitchFamily="34" charset="0"/>
                <a:ea typeface="Arial" pitchFamily="34" charset="-122"/>
                <a:cs typeface="Arial" pitchFamily="34" charset="-120"/>
              </a:rPr>
              <a:t>Classification : Internal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789920" y="320040"/>
            <a:ext cx="1005840" cy="457200"/>
          </a:xfrm>
          <a:prstGeom prst="rect">
            <a:avLst/>
          </a:prstGeom>
          <a:noFill/>
          <a:ln/>
        </p:spPr>
        <p:txBody>
          <a:bodyPr wrap="square" lIns="0" tIns="0" rIns="0" bIns="0" rtlCol="0" anchor="ctr"/>
          <a:lstStyle/>
          <a:p>
            <a:pPr algn="r" indent="0" marL="0">
              <a:buNone/>
            </a:pPr>
            <a:r>
              <a:rPr lang="en-US" sz="2800" b="1" dirty="0">
                <a:solidFill>
                  <a:srgbClr val="00915A"/>
                </a:solidFill>
                <a:latin typeface="Arial" pitchFamily="34" charset="0"/>
                <a:ea typeface="Arial" pitchFamily="34" charset="-122"/>
                <a:cs typeface="Arial" pitchFamily="34" charset="-120"/>
              </a:rPr>
              <a:t>RISK</a:t>
            </a:r>
            <a:endParaRPr lang="en-US" sz="2800" dirty="0"/>
          </a:p>
        </p:txBody>
      </p:sp>
      <p:sp>
        <p:nvSpPr>
          <p:cNvPr id="3" name="Shape 1"/>
          <p:cNvSpPr/>
          <p:nvPr/>
        </p:nvSpPr>
        <p:spPr>
          <a:xfrm>
            <a:off x="10789920" y="749808"/>
            <a:ext cx="1005840" cy="0"/>
          </a:xfrm>
          <a:prstGeom prst="line">
            <a:avLst/>
          </a:prstGeom>
          <a:noFill/>
          <a:ln w="25400">
            <a:solidFill>
              <a:srgbClr val="00915A"/>
            </a:solidFill>
            <a:prstDash val="solid"/>
          </a:ln>
        </p:spPr>
      </p:sp>
      <p:sp>
        <p:nvSpPr>
          <p:cNvPr id="4" name="Text 2"/>
          <p:cNvSpPr/>
          <p:nvPr/>
        </p:nvSpPr>
        <p:spPr>
          <a:xfrm>
            <a:off x="548640" y="274320"/>
            <a:ext cx="10058400" cy="640080"/>
          </a:xfrm>
          <a:prstGeom prst="rect">
            <a:avLst/>
          </a:prstGeom>
          <a:noFill/>
          <a:ln/>
        </p:spPr>
        <p:txBody>
          <a:bodyPr wrap="square" lIns="0" tIns="0" rIns="0" bIns="0" rtlCol="0" anchor="ctr"/>
          <a:lstStyle/>
          <a:p>
            <a:pPr indent="0" marL="0">
              <a:buNone/>
            </a:pPr>
            <a:r>
              <a:rPr lang="en-US" sz="3200" b="1" dirty="0">
                <a:solidFill>
                  <a:srgbClr val="00915A"/>
                </a:solidFill>
                <a:latin typeface="Arial" pitchFamily="34" charset="0"/>
                <a:ea typeface="Arial" pitchFamily="34" charset="-122"/>
                <a:cs typeface="Arial" pitchFamily="34" charset="-120"/>
              </a:rPr>
              <a:t>Proof It Works — Live Test on Real Sentences</a:t>
            </a:r>
            <a:endParaRPr lang="en-US" sz="3200" dirty="0"/>
          </a:p>
        </p:txBody>
      </p:sp>
      <p:sp>
        <p:nvSpPr>
          <p:cNvPr id="5" name="Text 3"/>
          <p:cNvSpPr/>
          <p:nvPr/>
        </p:nvSpPr>
        <p:spPr>
          <a:xfrm>
            <a:off x="548640" y="914400"/>
            <a:ext cx="10972800" cy="320040"/>
          </a:xfrm>
          <a:prstGeom prst="rect">
            <a:avLst/>
          </a:prstGeom>
          <a:noFill/>
          <a:ln/>
        </p:spPr>
        <p:txBody>
          <a:bodyPr wrap="square" lIns="0" tIns="0" rIns="0" bIns="0" rtlCol="0" anchor="ctr"/>
          <a:lstStyle/>
          <a:p>
            <a:pPr indent="0" marL="0">
              <a:buNone/>
            </a:pPr>
            <a:r>
              <a:rPr lang="en-US" sz="1400" i="1" dirty="0">
                <a:solidFill>
                  <a:srgbClr val="595959"/>
                </a:solidFill>
                <a:latin typeface="Arial" pitchFamily="34" charset="0"/>
                <a:ea typeface="Arial" pitchFamily="34" charset="-122"/>
                <a:cs typeface="Arial" pitchFamily="34" charset="-120"/>
              </a:rPr>
              <a:t>We asked the model to score how similar sentences are (1 = same meaning, 0 = unrelated)</a:t>
            </a:r>
            <a:endParaRPr lang="en-US" sz="1400" dirty="0"/>
          </a:p>
        </p:txBody>
      </p:sp>
      <p:sp>
        <p:nvSpPr>
          <p:cNvPr id="6" name="Shape 4"/>
          <p:cNvSpPr/>
          <p:nvPr/>
        </p:nvSpPr>
        <p:spPr>
          <a:xfrm>
            <a:off x="822960" y="1563624"/>
            <a:ext cx="347472" cy="347472"/>
          </a:xfrm>
          <a:prstGeom prst="ellipse">
            <a:avLst/>
          </a:prstGeom>
          <a:solidFill>
            <a:srgbClr val="3E5FAF"/>
          </a:solidFill>
          <a:ln w="12700">
            <a:solidFill>
              <a:srgbClr val="3E5FAF"/>
            </a:solidFill>
            <a:prstDash val="solid"/>
          </a:ln>
        </p:spPr>
      </p:sp>
      <p:sp>
        <p:nvSpPr>
          <p:cNvPr id="7" name="Text 5"/>
          <p:cNvSpPr/>
          <p:nvPr/>
        </p:nvSpPr>
        <p:spPr>
          <a:xfrm>
            <a:off x="822960" y="156362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a:t>
            </a:r>
            <a:endParaRPr lang="en-US" sz="1500" dirty="0"/>
          </a:p>
        </p:txBody>
      </p:sp>
      <p:sp>
        <p:nvSpPr>
          <p:cNvPr id="8" name="Text 6"/>
          <p:cNvSpPr/>
          <p:nvPr/>
        </p:nvSpPr>
        <p:spPr>
          <a:xfrm>
            <a:off x="1325880" y="1508760"/>
            <a:ext cx="9601200" cy="457200"/>
          </a:xfrm>
          <a:prstGeom prst="rect">
            <a:avLst/>
          </a:prstGeom>
          <a:noFill/>
          <a:ln/>
        </p:spPr>
        <p:txBody>
          <a:bodyPr wrap="square" lIns="0" tIns="0" rIns="0" bIns="0" rtlCol="0" anchor="ctr"/>
          <a:lstStyle/>
          <a:p>
            <a:pPr indent="0" marL="0">
              <a:buNone/>
            </a:pPr>
            <a:r>
              <a:rPr lang="en-US" sz="1400" i="1" dirty="0">
                <a:solidFill>
                  <a:srgbClr val="262626"/>
                </a:solidFill>
                <a:latin typeface="Arial" pitchFamily="34" charset="0"/>
                <a:ea typeface="Arial" pitchFamily="34" charset="-122"/>
                <a:cs typeface="Arial" pitchFamily="34" charset="-120"/>
              </a:rPr>
              <a:t>“The customer filed a complaint about the interest rate.”</a:t>
            </a:r>
            <a:endParaRPr lang="en-US" sz="1400" dirty="0"/>
          </a:p>
        </p:txBody>
      </p:sp>
      <p:sp>
        <p:nvSpPr>
          <p:cNvPr id="9" name="Shape 7"/>
          <p:cNvSpPr/>
          <p:nvPr/>
        </p:nvSpPr>
        <p:spPr>
          <a:xfrm>
            <a:off x="822960" y="2066544"/>
            <a:ext cx="347472" cy="347472"/>
          </a:xfrm>
          <a:prstGeom prst="ellipse">
            <a:avLst/>
          </a:prstGeom>
          <a:solidFill>
            <a:srgbClr val="3E5FAF"/>
          </a:solidFill>
          <a:ln w="12700">
            <a:solidFill>
              <a:srgbClr val="3E5FAF"/>
            </a:solidFill>
            <a:prstDash val="solid"/>
          </a:ln>
        </p:spPr>
      </p:sp>
      <p:sp>
        <p:nvSpPr>
          <p:cNvPr id="10" name="Text 8"/>
          <p:cNvSpPr/>
          <p:nvPr/>
        </p:nvSpPr>
        <p:spPr>
          <a:xfrm>
            <a:off x="822960" y="206654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B</a:t>
            </a:r>
            <a:endParaRPr lang="en-US" sz="1500" dirty="0"/>
          </a:p>
        </p:txBody>
      </p:sp>
      <p:sp>
        <p:nvSpPr>
          <p:cNvPr id="11" name="Text 9"/>
          <p:cNvSpPr/>
          <p:nvPr/>
        </p:nvSpPr>
        <p:spPr>
          <a:xfrm>
            <a:off x="1325880" y="2011680"/>
            <a:ext cx="9601200" cy="457200"/>
          </a:xfrm>
          <a:prstGeom prst="rect">
            <a:avLst/>
          </a:prstGeom>
          <a:noFill/>
          <a:ln/>
        </p:spPr>
        <p:txBody>
          <a:bodyPr wrap="square" lIns="0" tIns="0" rIns="0" bIns="0" rtlCol="0" anchor="ctr"/>
          <a:lstStyle/>
          <a:p>
            <a:pPr indent="0" marL="0">
              <a:buNone/>
            </a:pPr>
            <a:r>
              <a:rPr lang="en-US" sz="1400" i="1" dirty="0">
                <a:solidFill>
                  <a:srgbClr val="262626"/>
                </a:solidFill>
                <a:latin typeface="Arial" pitchFamily="34" charset="0"/>
                <a:ea typeface="Arial" pitchFamily="34" charset="-122"/>
                <a:cs typeface="Arial" pitchFamily="34" charset="-120"/>
              </a:rPr>
              <a:t>“The client submitted a claim regarding rate calculation.”</a:t>
            </a:r>
            <a:endParaRPr lang="en-US" sz="1400" dirty="0"/>
          </a:p>
        </p:txBody>
      </p:sp>
      <p:sp>
        <p:nvSpPr>
          <p:cNvPr id="12" name="Shape 10"/>
          <p:cNvSpPr/>
          <p:nvPr/>
        </p:nvSpPr>
        <p:spPr>
          <a:xfrm>
            <a:off x="822960" y="2569464"/>
            <a:ext cx="347472" cy="347472"/>
          </a:xfrm>
          <a:prstGeom prst="ellipse">
            <a:avLst/>
          </a:prstGeom>
          <a:solidFill>
            <a:srgbClr val="C63D3D"/>
          </a:solidFill>
          <a:ln w="12700">
            <a:solidFill>
              <a:srgbClr val="C63D3D"/>
            </a:solidFill>
            <a:prstDash val="solid"/>
          </a:ln>
        </p:spPr>
      </p:sp>
      <p:sp>
        <p:nvSpPr>
          <p:cNvPr id="13" name="Text 11"/>
          <p:cNvSpPr/>
          <p:nvPr/>
        </p:nvSpPr>
        <p:spPr>
          <a:xfrm>
            <a:off x="822960" y="256946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a:t>
            </a:r>
            <a:endParaRPr lang="en-US" sz="1500" dirty="0"/>
          </a:p>
        </p:txBody>
      </p:sp>
      <p:sp>
        <p:nvSpPr>
          <p:cNvPr id="14" name="Text 12"/>
          <p:cNvSpPr/>
          <p:nvPr/>
        </p:nvSpPr>
        <p:spPr>
          <a:xfrm>
            <a:off x="1325880" y="2514600"/>
            <a:ext cx="9601200" cy="457200"/>
          </a:xfrm>
          <a:prstGeom prst="rect">
            <a:avLst/>
          </a:prstGeom>
          <a:noFill/>
          <a:ln/>
        </p:spPr>
        <p:txBody>
          <a:bodyPr wrap="square" lIns="0" tIns="0" rIns="0" bIns="0" rtlCol="0" anchor="ctr"/>
          <a:lstStyle/>
          <a:p>
            <a:pPr indent="0" marL="0">
              <a:buNone/>
            </a:pPr>
            <a:r>
              <a:rPr lang="en-US" sz="1400" i="1" dirty="0">
                <a:solidFill>
                  <a:srgbClr val="262626"/>
                </a:solidFill>
                <a:latin typeface="Arial" pitchFamily="34" charset="0"/>
                <a:ea typeface="Arial" pitchFamily="34" charset="-122"/>
                <a:cs typeface="Arial" pitchFamily="34" charset="-120"/>
              </a:rPr>
              <a:t>“The weather is nice today.”</a:t>
            </a:r>
            <a:endParaRPr lang="en-US" sz="1400" dirty="0"/>
          </a:p>
        </p:txBody>
      </p:sp>
      <p:sp>
        <p:nvSpPr>
          <p:cNvPr id="15" name="Text 13"/>
          <p:cNvSpPr/>
          <p:nvPr/>
        </p:nvSpPr>
        <p:spPr>
          <a:xfrm>
            <a:off x="822960" y="3154680"/>
            <a:ext cx="5486400" cy="320040"/>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Model's similarity scores:</a:t>
            </a:r>
            <a:endParaRPr lang="en-US" sz="1400" dirty="0"/>
          </a:p>
        </p:txBody>
      </p:sp>
      <p:sp>
        <p:nvSpPr>
          <p:cNvPr id="16" name="Text 14"/>
          <p:cNvSpPr/>
          <p:nvPr/>
        </p:nvSpPr>
        <p:spPr>
          <a:xfrm>
            <a:off x="822960" y="3611880"/>
            <a:ext cx="5120640" cy="274320"/>
          </a:xfrm>
          <a:prstGeom prst="rect">
            <a:avLst/>
          </a:prstGeom>
          <a:noFill/>
          <a:ln/>
        </p:spPr>
        <p:txBody>
          <a:bodyPr wrap="square" lIns="0" tIns="0" rIns="0" bIns="0" rtlCol="0" anchor="ctr"/>
          <a:lstStyle/>
          <a:p>
            <a:pPr indent="0" marL="0">
              <a:buNone/>
            </a:pPr>
            <a:r>
              <a:rPr lang="en-US" sz="1250" dirty="0">
                <a:solidFill>
                  <a:srgbClr val="262626"/>
                </a:solidFill>
                <a:latin typeface="Arial" pitchFamily="34" charset="0"/>
                <a:ea typeface="Arial" pitchFamily="34" charset="-122"/>
                <a:cs typeface="Arial" pitchFamily="34" charset="-120"/>
              </a:rPr>
              <a:t>A  vs  B    (same topic, different words)</a:t>
            </a:r>
            <a:endParaRPr lang="en-US" sz="1250" dirty="0"/>
          </a:p>
        </p:txBody>
      </p:sp>
      <p:sp>
        <p:nvSpPr>
          <p:cNvPr id="17" name="Shape 15"/>
          <p:cNvSpPr/>
          <p:nvPr/>
        </p:nvSpPr>
        <p:spPr>
          <a:xfrm>
            <a:off x="6035040" y="3639312"/>
            <a:ext cx="4754880" cy="219456"/>
          </a:xfrm>
          <a:prstGeom prst="roundRect">
            <a:avLst>
              <a:gd name="adj" fmla="val 20833"/>
            </a:avLst>
          </a:prstGeom>
          <a:solidFill>
            <a:srgbClr val="EFEFEF"/>
          </a:solidFill>
          <a:ln w="6350">
            <a:solidFill>
              <a:srgbClr val="E1E5E8"/>
            </a:solidFill>
            <a:prstDash val="solid"/>
          </a:ln>
        </p:spPr>
      </p:sp>
      <p:sp>
        <p:nvSpPr>
          <p:cNvPr id="18" name="Shape 16"/>
          <p:cNvSpPr/>
          <p:nvPr/>
        </p:nvSpPr>
        <p:spPr>
          <a:xfrm>
            <a:off x="6035040" y="3639312"/>
            <a:ext cx="3090672" cy="219456"/>
          </a:xfrm>
          <a:prstGeom prst="roundRect">
            <a:avLst>
              <a:gd name="adj" fmla="val 20833"/>
            </a:avLst>
          </a:prstGeom>
          <a:solidFill>
            <a:srgbClr val="00915A"/>
          </a:solidFill>
          <a:ln w="12700">
            <a:solidFill>
              <a:srgbClr val="00915A"/>
            </a:solidFill>
            <a:prstDash val="solid"/>
          </a:ln>
        </p:spPr>
      </p:sp>
      <p:sp>
        <p:nvSpPr>
          <p:cNvPr id="19" name="Text 17"/>
          <p:cNvSpPr/>
          <p:nvPr/>
        </p:nvSpPr>
        <p:spPr>
          <a:xfrm>
            <a:off x="10881360" y="3611880"/>
            <a:ext cx="640080" cy="274320"/>
          </a:xfrm>
          <a:prstGeom prst="rect">
            <a:avLst/>
          </a:prstGeom>
          <a:noFill/>
          <a:ln/>
        </p:spPr>
        <p:txBody>
          <a:bodyPr wrap="square" lIns="0" tIns="0" rIns="0" bIns="0" rtlCol="0" anchor="ctr"/>
          <a:lstStyle/>
          <a:p>
            <a:pPr indent="0" marL="0">
              <a:buNone/>
            </a:pPr>
            <a:r>
              <a:rPr lang="en-US" sz="1300" b="1" dirty="0">
                <a:solidFill>
                  <a:srgbClr val="00915A"/>
                </a:solidFill>
                <a:latin typeface="Arial" pitchFamily="34" charset="0"/>
                <a:ea typeface="Arial" pitchFamily="34" charset="-122"/>
                <a:cs typeface="Arial" pitchFamily="34" charset="-120"/>
              </a:rPr>
              <a:t>0.65</a:t>
            </a:r>
            <a:endParaRPr lang="en-US" sz="1300" dirty="0"/>
          </a:p>
        </p:txBody>
      </p:sp>
      <p:sp>
        <p:nvSpPr>
          <p:cNvPr id="20" name="Text 18"/>
          <p:cNvSpPr/>
          <p:nvPr/>
        </p:nvSpPr>
        <p:spPr>
          <a:xfrm>
            <a:off x="6035040" y="3886200"/>
            <a:ext cx="5486400" cy="228600"/>
          </a:xfrm>
          <a:prstGeom prst="rect">
            <a:avLst/>
          </a:prstGeom>
          <a:noFill/>
          <a:ln/>
        </p:spPr>
        <p:txBody>
          <a:bodyPr wrap="square" lIns="0" tIns="0" rIns="0" bIns="0" rtlCol="0" anchor="ctr"/>
          <a:lstStyle/>
          <a:p>
            <a:pPr indent="0" marL="0">
              <a:buNone/>
            </a:pPr>
            <a:r>
              <a:rPr lang="en-US" sz="1000" i="1" dirty="0">
                <a:solidFill>
                  <a:srgbClr val="595959"/>
                </a:solidFill>
                <a:latin typeface="Arial" pitchFamily="34" charset="0"/>
                <a:ea typeface="Arial" pitchFamily="34" charset="-122"/>
                <a:cs typeface="Arial" pitchFamily="34" charset="-120"/>
              </a:rPr>
              <a:t>HIGH — correctly recognized as related</a:t>
            </a:r>
            <a:endParaRPr lang="en-US" sz="1000" dirty="0"/>
          </a:p>
        </p:txBody>
      </p:sp>
      <p:sp>
        <p:nvSpPr>
          <p:cNvPr id="21" name="Text 19"/>
          <p:cNvSpPr/>
          <p:nvPr/>
        </p:nvSpPr>
        <p:spPr>
          <a:xfrm>
            <a:off x="822960" y="4297680"/>
            <a:ext cx="5120640" cy="274320"/>
          </a:xfrm>
          <a:prstGeom prst="rect">
            <a:avLst/>
          </a:prstGeom>
          <a:noFill/>
          <a:ln/>
        </p:spPr>
        <p:txBody>
          <a:bodyPr wrap="square" lIns="0" tIns="0" rIns="0" bIns="0" rtlCol="0" anchor="ctr"/>
          <a:lstStyle/>
          <a:p>
            <a:pPr indent="0" marL="0">
              <a:buNone/>
            </a:pPr>
            <a:r>
              <a:rPr lang="en-US" sz="1250" dirty="0">
                <a:solidFill>
                  <a:srgbClr val="262626"/>
                </a:solidFill>
                <a:latin typeface="Arial" pitchFamily="34" charset="0"/>
                <a:ea typeface="Arial" pitchFamily="34" charset="-122"/>
                <a:cs typeface="Arial" pitchFamily="34" charset="-120"/>
              </a:rPr>
              <a:t>A  vs  C    (nothing in common)</a:t>
            </a:r>
            <a:endParaRPr lang="en-US" sz="1250" dirty="0"/>
          </a:p>
        </p:txBody>
      </p:sp>
      <p:sp>
        <p:nvSpPr>
          <p:cNvPr id="22" name="Shape 20"/>
          <p:cNvSpPr/>
          <p:nvPr/>
        </p:nvSpPr>
        <p:spPr>
          <a:xfrm>
            <a:off x="6035040" y="4325112"/>
            <a:ext cx="4754880" cy="219456"/>
          </a:xfrm>
          <a:prstGeom prst="roundRect">
            <a:avLst>
              <a:gd name="adj" fmla="val 20833"/>
            </a:avLst>
          </a:prstGeom>
          <a:solidFill>
            <a:srgbClr val="EFEFEF"/>
          </a:solidFill>
          <a:ln w="6350">
            <a:solidFill>
              <a:srgbClr val="E1E5E8"/>
            </a:solidFill>
            <a:prstDash val="solid"/>
          </a:ln>
        </p:spPr>
      </p:sp>
      <p:sp>
        <p:nvSpPr>
          <p:cNvPr id="23" name="Shape 21"/>
          <p:cNvSpPr/>
          <p:nvPr/>
        </p:nvSpPr>
        <p:spPr>
          <a:xfrm>
            <a:off x="6035040" y="4325112"/>
            <a:ext cx="137160" cy="219456"/>
          </a:xfrm>
          <a:prstGeom prst="roundRect">
            <a:avLst>
              <a:gd name="adj" fmla="val 33333"/>
            </a:avLst>
          </a:prstGeom>
          <a:solidFill>
            <a:srgbClr val="8C8C8C"/>
          </a:solidFill>
          <a:ln w="12700">
            <a:solidFill>
              <a:srgbClr val="8C8C8C"/>
            </a:solidFill>
            <a:prstDash val="solid"/>
          </a:ln>
        </p:spPr>
      </p:sp>
      <p:sp>
        <p:nvSpPr>
          <p:cNvPr id="24" name="Text 22"/>
          <p:cNvSpPr/>
          <p:nvPr/>
        </p:nvSpPr>
        <p:spPr>
          <a:xfrm>
            <a:off x="10881360" y="4297680"/>
            <a:ext cx="640080" cy="274320"/>
          </a:xfrm>
          <a:prstGeom prst="rect">
            <a:avLst/>
          </a:prstGeom>
          <a:noFill/>
          <a:ln/>
        </p:spPr>
        <p:txBody>
          <a:bodyPr wrap="square" lIns="0" tIns="0" rIns="0" bIns="0" rtlCol="0" anchor="ctr"/>
          <a:lstStyle/>
          <a:p>
            <a:pPr indent="0" marL="0">
              <a:buNone/>
            </a:pPr>
            <a:r>
              <a:rPr lang="en-US" sz="1300" b="1" dirty="0">
                <a:solidFill>
                  <a:srgbClr val="8C8C8C"/>
                </a:solidFill>
                <a:latin typeface="Arial" pitchFamily="34" charset="0"/>
                <a:ea typeface="Arial" pitchFamily="34" charset="-122"/>
                <a:cs typeface="Arial" pitchFamily="34" charset="-120"/>
              </a:rPr>
              <a:t>≈0</a:t>
            </a:r>
            <a:endParaRPr lang="en-US" sz="1300" dirty="0"/>
          </a:p>
        </p:txBody>
      </p:sp>
      <p:sp>
        <p:nvSpPr>
          <p:cNvPr id="25" name="Text 23"/>
          <p:cNvSpPr/>
          <p:nvPr/>
        </p:nvSpPr>
        <p:spPr>
          <a:xfrm>
            <a:off x="6035040" y="4572000"/>
            <a:ext cx="5486400" cy="228600"/>
          </a:xfrm>
          <a:prstGeom prst="rect">
            <a:avLst/>
          </a:prstGeom>
          <a:noFill/>
          <a:ln/>
        </p:spPr>
        <p:txBody>
          <a:bodyPr wrap="square" lIns="0" tIns="0" rIns="0" bIns="0" rtlCol="0" anchor="ctr"/>
          <a:lstStyle/>
          <a:p>
            <a:pPr indent="0" marL="0">
              <a:buNone/>
            </a:pPr>
            <a:r>
              <a:rPr lang="en-US" sz="1000" i="1" dirty="0">
                <a:solidFill>
                  <a:srgbClr val="595959"/>
                </a:solidFill>
                <a:latin typeface="Arial" pitchFamily="34" charset="0"/>
                <a:ea typeface="Arial" pitchFamily="34" charset="-122"/>
                <a:cs typeface="Arial" pitchFamily="34" charset="-120"/>
              </a:rPr>
              <a:t>LOW — correctly recognized as unrelated</a:t>
            </a:r>
            <a:endParaRPr lang="en-US" sz="1000" dirty="0"/>
          </a:p>
        </p:txBody>
      </p:sp>
      <p:sp>
        <p:nvSpPr>
          <p:cNvPr id="26" name="Text 24"/>
          <p:cNvSpPr/>
          <p:nvPr/>
        </p:nvSpPr>
        <p:spPr>
          <a:xfrm>
            <a:off x="822960" y="4983480"/>
            <a:ext cx="5120640" cy="274320"/>
          </a:xfrm>
          <a:prstGeom prst="rect">
            <a:avLst/>
          </a:prstGeom>
          <a:noFill/>
          <a:ln/>
        </p:spPr>
        <p:txBody>
          <a:bodyPr wrap="square" lIns="0" tIns="0" rIns="0" bIns="0" rtlCol="0" anchor="ctr"/>
          <a:lstStyle/>
          <a:p>
            <a:pPr indent="0" marL="0">
              <a:buNone/>
            </a:pPr>
            <a:r>
              <a:rPr lang="en-US" sz="1250" dirty="0">
                <a:solidFill>
                  <a:srgbClr val="262626"/>
                </a:solidFill>
                <a:latin typeface="Arial" pitchFamily="34" charset="0"/>
                <a:ea typeface="Arial" pitchFamily="34" charset="-122"/>
                <a:cs typeface="Arial" pitchFamily="34" charset="-120"/>
              </a:rPr>
              <a:t>B  vs  C    (nothing in common)</a:t>
            </a:r>
            <a:endParaRPr lang="en-US" sz="1250" dirty="0"/>
          </a:p>
        </p:txBody>
      </p:sp>
      <p:sp>
        <p:nvSpPr>
          <p:cNvPr id="27" name="Shape 25"/>
          <p:cNvSpPr/>
          <p:nvPr/>
        </p:nvSpPr>
        <p:spPr>
          <a:xfrm>
            <a:off x="6035040" y="5010912"/>
            <a:ext cx="4754880" cy="219456"/>
          </a:xfrm>
          <a:prstGeom prst="roundRect">
            <a:avLst>
              <a:gd name="adj" fmla="val 20833"/>
            </a:avLst>
          </a:prstGeom>
          <a:solidFill>
            <a:srgbClr val="EFEFEF"/>
          </a:solidFill>
          <a:ln w="6350">
            <a:solidFill>
              <a:srgbClr val="E1E5E8"/>
            </a:solidFill>
            <a:prstDash val="solid"/>
          </a:ln>
        </p:spPr>
      </p:sp>
      <p:sp>
        <p:nvSpPr>
          <p:cNvPr id="28" name="Shape 26"/>
          <p:cNvSpPr/>
          <p:nvPr/>
        </p:nvSpPr>
        <p:spPr>
          <a:xfrm>
            <a:off x="6035040" y="5010912"/>
            <a:ext cx="137160" cy="219456"/>
          </a:xfrm>
          <a:prstGeom prst="roundRect">
            <a:avLst>
              <a:gd name="adj" fmla="val 33333"/>
            </a:avLst>
          </a:prstGeom>
          <a:solidFill>
            <a:srgbClr val="8C8C8C"/>
          </a:solidFill>
          <a:ln w="12700">
            <a:solidFill>
              <a:srgbClr val="8C8C8C"/>
            </a:solidFill>
            <a:prstDash val="solid"/>
          </a:ln>
        </p:spPr>
      </p:sp>
      <p:sp>
        <p:nvSpPr>
          <p:cNvPr id="29" name="Text 27"/>
          <p:cNvSpPr/>
          <p:nvPr/>
        </p:nvSpPr>
        <p:spPr>
          <a:xfrm>
            <a:off x="10881360" y="4983480"/>
            <a:ext cx="640080" cy="274320"/>
          </a:xfrm>
          <a:prstGeom prst="rect">
            <a:avLst/>
          </a:prstGeom>
          <a:noFill/>
          <a:ln/>
        </p:spPr>
        <p:txBody>
          <a:bodyPr wrap="square" lIns="0" tIns="0" rIns="0" bIns="0" rtlCol="0" anchor="ctr"/>
          <a:lstStyle/>
          <a:p>
            <a:pPr indent="0" marL="0">
              <a:buNone/>
            </a:pPr>
            <a:r>
              <a:rPr lang="en-US" sz="1300" b="1" dirty="0">
                <a:solidFill>
                  <a:srgbClr val="8C8C8C"/>
                </a:solidFill>
                <a:latin typeface="Arial" pitchFamily="34" charset="0"/>
                <a:ea typeface="Arial" pitchFamily="34" charset="-122"/>
                <a:cs typeface="Arial" pitchFamily="34" charset="-120"/>
              </a:rPr>
              <a:t>≈0</a:t>
            </a:r>
            <a:endParaRPr lang="en-US" sz="1300" dirty="0"/>
          </a:p>
        </p:txBody>
      </p:sp>
      <p:sp>
        <p:nvSpPr>
          <p:cNvPr id="30" name="Text 28"/>
          <p:cNvSpPr/>
          <p:nvPr/>
        </p:nvSpPr>
        <p:spPr>
          <a:xfrm>
            <a:off x="6035040" y="5257800"/>
            <a:ext cx="5486400" cy="228600"/>
          </a:xfrm>
          <a:prstGeom prst="rect">
            <a:avLst/>
          </a:prstGeom>
          <a:noFill/>
          <a:ln/>
        </p:spPr>
        <p:txBody>
          <a:bodyPr wrap="square" lIns="0" tIns="0" rIns="0" bIns="0" rtlCol="0" anchor="ctr"/>
          <a:lstStyle/>
          <a:p>
            <a:pPr indent="0" marL="0">
              <a:buNone/>
            </a:pPr>
            <a:r>
              <a:rPr lang="en-US" sz="1000" i="1" dirty="0">
                <a:solidFill>
                  <a:srgbClr val="595959"/>
                </a:solidFill>
                <a:latin typeface="Arial" pitchFamily="34" charset="0"/>
                <a:ea typeface="Arial" pitchFamily="34" charset="-122"/>
                <a:cs typeface="Arial" pitchFamily="34" charset="-120"/>
              </a:rPr>
              <a:t>LOW — correctly recognized as unrelated</a:t>
            </a:r>
            <a:endParaRPr lang="en-US" sz="1000" dirty="0"/>
          </a:p>
        </p:txBody>
      </p:sp>
      <p:pic>
        <p:nvPicPr>
          <p:cNvPr id="31" name="Image 0" descr="preencoded.png">    </p:cNvPr>
          <p:cNvPicPr>
            <a:picLocks noChangeAspect="1"/>
          </p:cNvPicPr>
          <p:nvPr/>
        </p:nvPicPr>
        <p:blipFill>
          <a:blip r:embed="rId1"/>
          <a:stretch>
            <a:fillRect/>
          </a:stretch>
        </p:blipFill>
        <p:spPr>
          <a:xfrm>
            <a:off x="868680" y="5660136"/>
            <a:ext cx="256032" cy="256032"/>
          </a:xfrm>
          <a:prstGeom prst="rect">
            <a:avLst/>
          </a:prstGeom>
        </p:spPr>
      </p:pic>
      <p:sp>
        <p:nvSpPr>
          <p:cNvPr id="32" name="Text 29"/>
          <p:cNvSpPr/>
          <p:nvPr/>
        </p:nvSpPr>
        <p:spPr>
          <a:xfrm>
            <a:off x="1234440" y="5623560"/>
            <a:ext cx="10058400" cy="365760"/>
          </a:xfrm>
          <a:prstGeom prst="rect">
            <a:avLst/>
          </a:prstGeom>
          <a:noFill/>
          <a:ln/>
        </p:spPr>
        <p:txBody>
          <a:bodyPr wrap="square" lIns="0" tIns="0" rIns="0" bIns="0" rtlCol="0" anchor="ctr"/>
          <a:lstStyle/>
          <a:p>
            <a:pPr indent="0" marL="0">
              <a:buNone/>
            </a:pPr>
            <a:r>
              <a:rPr lang="en-US" sz="1350" b="1" dirty="0">
                <a:solidFill>
                  <a:srgbClr val="00915A"/>
                </a:solidFill>
                <a:latin typeface="Arial" pitchFamily="34" charset="0"/>
                <a:ea typeface="Arial" pitchFamily="34" charset="-122"/>
                <a:cs typeface="Arial" pitchFamily="34" charset="-120"/>
              </a:rPr>
              <a:t>Conclusion: </a:t>
            </a:r>
            <a:pPr indent="0" marL="0">
              <a:buNone/>
            </a:pPr>
            <a:r>
              <a:rPr lang="en-US" sz="1350" dirty="0">
                <a:solidFill>
                  <a:srgbClr val="262626"/>
                </a:solidFill>
                <a:latin typeface="Arial" pitchFamily="34" charset="0"/>
                <a:ea typeface="Arial" pitchFamily="34" charset="-122"/>
                <a:cs typeface="Arial" pitchFamily="34" charset="-120"/>
              </a:rPr>
              <a:t>the model reliably distinguishes related incidents from unrelated ones — validated and ready for full-scale use.</a:t>
            </a:r>
            <a:endParaRPr lang="en-US" sz="1350" dirty="0"/>
          </a:p>
        </p:txBody>
      </p:sp>
      <p:sp>
        <p:nvSpPr>
          <p:cNvPr id="33" name="Shape 30"/>
          <p:cNvSpPr/>
          <p:nvPr/>
        </p:nvSpPr>
        <p:spPr>
          <a:xfrm>
            <a:off x="548640" y="6217920"/>
            <a:ext cx="11064240" cy="0"/>
          </a:xfrm>
          <a:prstGeom prst="line">
            <a:avLst/>
          </a:prstGeom>
          <a:noFill/>
          <a:ln w="9525">
            <a:solidFill>
              <a:srgbClr val="E1E5E8"/>
            </a:solidFill>
            <a:prstDash val="solid"/>
          </a:ln>
        </p:spPr>
      </p:sp>
      <p:sp>
        <p:nvSpPr>
          <p:cNvPr id="34" name="Text 31"/>
          <p:cNvSpPr/>
          <p:nvPr/>
        </p:nvSpPr>
        <p:spPr>
          <a:xfrm>
            <a:off x="548640" y="6355080"/>
            <a:ext cx="1828800" cy="27432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BNP PARIBAS</a:t>
            </a:r>
            <a:endParaRPr lang="en-US" sz="1100" dirty="0"/>
          </a:p>
        </p:txBody>
      </p:sp>
      <p:sp>
        <p:nvSpPr>
          <p:cNvPr id="35" name="Text 32"/>
          <p:cNvSpPr/>
          <p:nvPr/>
        </p:nvSpPr>
        <p:spPr>
          <a:xfrm>
            <a:off x="4709160" y="6355080"/>
            <a:ext cx="2743200" cy="274320"/>
          </a:xfrm>
          <a:prstGeom prst="rect">
            <a:avLst/>
          </a:prstGeom>
          <a:noFill/>
          <a:ln/>
        </p:spPr>
        <p:txBody>
          <a:bodyPr wrap="square" lIns="0" tIns="0" rIns="0" bIns="0" rtlCol="0" anchor="ctr"/>
          <a:lstStyle/>
          <a:p>
            <a:pPr algn="ctr" indent="0" marL="0">
              <a:buNone/>
            </a:pPr>
            <a:r>
              <a:rPr lang="en-US" sz="1000" i="1" dirty="0">
                <a:solidFill>
                  <a:srgbClr val="262626"/>
                </a:solidFill>
                <a:latin typeface="Arial" pitchFamily="34" charset="0"/>
                <a:ea typeface="Arial" pitchFamily="34" charset="-122"/>
                <a:cs typeface="Arial" pitchFamily="34" charset="-120"/>
              </a:rPr>
              <a:t>The bank for a changing world</a:t>
            </a:r>
            <a:endParaRPr lang="en-US" sz="1000" dirty="0"/>
          </a:p>
        </p:txBody>
      </p:sp>
      <p:sp>
        <p:nvSpPr>
          <p:cNvPr id="36" name="Text 33"/>
          <p:cNvSpPr/>
          <p:nvPr/>
        </p:nvSpPr>
        <p:spPr>
          <a:xfrm>
            <a:off x="10789920" y="6309360"/>
            <a:ext cx="914400" cy="228600"/>
          </a:xfrm>
          <a:prstGeom prst="rect">
            <a:avLst/>
          </a:prstGeom>
          <a:noFill/>
          <a:ln/>
        </p:spPr>
        <p:txBody>
          <a:bodyPr wrap="square" lIns="0" tIns="0" rIns="0" bIns="0" rtlCol="0" anchor="ctr"/>
          <a:lstStyle/>
          <a:p>
            <a:pPr algn="r" indent="0" marL="0">
              <a:buNone/>
            </a:pPr>
            <a:r>
              <a:rPr lang="en-US" sz="1100" b="1" dirty="0">
                <a:solidFill>
                  <a:srgbClr val="262626"/>
                </a:solidFill>
                <a:latin typeface="Arial" pitchFamily="34" charset="0"/>
                <a:ea typeface="Arial" pitchFamily="34" charset="-122"/>
                <a:cs typeface="Arial" pitchFamily="34" charset="-120"/>
              </a:rPr>
              <a:t>3</a:t>
            </a:r>
            <a:endParaRPr lang="en-US" sz="1100" dirty="0"/>
          </a:p>
        </p:txBody>
      </p:sp>
      <p:sp>
        <p:nvSpPr>
          <p:cNvPr id="37" name="Text 34"/>
          <p:cNvSpPr/>
          <p:nvPr/>
        </p:nvSpPr>
        <p:spPr>
          <a:xfrm>
            <a:off x="9875520" y="6537960"/>
            <a:ext cx="1828800" cy="228600"/>
          </a:xfrm>
          <a:prstGeom prst="rect">
            <a:avLst/>
          </a:prstGeom>
          <a:noFill/>
          <a:ln/>
        </p:spPr>
        <p:txBody>
          <a:bodyPr wrap="square" lIns="0" tIns="0" rIns="0" bIns="0" rtlCol="0" anchor="ctr"/>
          <a:lstStyle/>
          <a:p>
            <a:pPr algn="r" indent="0" marL="0">
              <a:buNone/>
            </a:pPr>
            <a:r>
              <a:rPr lang="en-US" sz="900" dirty="0">
                <a:solidFill>
                  <a:srgbClr val="4472C4"/>
                </a:solidFill>
                <a:latin typeface="Arial" pitchFamily="34" charset="0"/>
                <a:ea typeface="Arial" pitchFamily="34" charset="-122"/>
                <a:cs typeface="Arial" pitchFamily="34" charset="-120"/>
              </a:rPr>
              <a:t>Classification : Internal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789920" y="320040"/>
            <a:ext cx="1005840" cy="457200"/>
          </a:xfrm>
          <a:prstGeom prst="rect">
            <a:avLst/>
          </a:prstGeom>
          <a:noFill/>
          <a:ln/>
        </p:spPr>
        <p:txBody>
          <a:bodyPr wrap="square" lIns="0" tIns="0" rIns="0" bIns="0" rtlCol="0" anchor="ctr"/>
          <a:lstStyle/>
          <a:p>
            <a:pPr algn="r" indent="0" marL="0">
              <a:buNone/>
            </a:pPr>
            <a:r>
              <a:rPr lang="en-US" sz="2800" b="1" dirty="0">
                <a:solidFill>
                  <a:srgbClr val="00915A"/>
                </a:solidFill>
                <a:latin typeface="Arial" pitchFamily="34" charset="0"/>
                <a:ea typeface="Arial" pitchFamily="34" charset="-122"/>
                <a:cs typeface="Arial" pitchFamily="34" charset="-120"/>
              </a:rPr>
              <a:t>RISK</a:t>
            </a:r>
            <a:endParaRPr lang="en-US" sz="2800" dirty="0"/>
          </a:p>
        </p:txBody>
      </p:sp>
      <p:sp>
        <p:nvSpPr>
          <p:cNvPr id="3" name="Shape 1"/>
          <p:cNvSpPr/>
          <p:nvPr/>
        </p:nvSpPr>
        <p:spPr>
          <a:xfrm>
            <a:off x="10789920" y="749808"/>
            <a:ext cx="1005840" cy="0"/>
          </a:xfrm>
          <a:prstGeom prst="line">
            <a:avLst/>
          </a:prstGeom>
          <a:noFill/>
          <a:ln w="25400">
            <a:solidFill>
              <a:srgbClr val="00915A"/>
            </a:solidFill>
            <a:prstDash val="solid"/>
          </a:ln>
        </p:spPr>
      </p:sp>
      <p:sp>
        <p:nvSpPr>
          <p:cNvPr id="4" name="Text 2"/>
          <p:cNvSpPr/>
          <p:nvPr/>
        </p:nvSpPr>
        <p:spPr>
          <a:xfrm>
            <a:off x="548640" y="274320"/>
            <a:ext cx="10058400" cy="640080"/>
          </a:xfrm>
          <a:prstGeom prst="rect">
            <a:avLst/>
          </a:prstGeom>
          <a:noFill/>
          <a:ln/>
        </p:spPr>
        <p:txBody>
          <a:bodyPr wrap="square" lIns="0" tIns="0" rIns="0" bIns="0" rtlCol="0" anchor="ctr"/>
          <a:lstStyle/>
          <a:p>
            <a:pPr indent="0" marL="0">
              <a:buNone/>
            </a:pPr>
            <a:r>
              <a:rPr lang="en-US" sz="3200" b="1" dirty="0">
                <a:solidFill>
                  <a:srgbClr val="00915A"/>
                </a:solidFill>
                <a:latin typeface="Arial" pitchFamily="34" charset="0"/>
                <a:ea typeface="Arial" pitchFamily="34" charset="-122"/>
                <a:cs typeface="Arial" pitchFamily="34" charset="-120"/>
              </a:rPr>
              <a:t>Next Steps: From Numbers to Insight</a:t>
            </a:r>
            <a:endParaRPr lang="en-US" sz="3200" dirty="0"/>
          </a:p>
        </p:txBody>
      </p:sp>
      <p:sp>
        <p:nvSpPr>
          <p:cNvPr id="5" name="Text 3"/>
          <p:cNvSpPr/>
          <p:nvPr/>
        </p:nvSpPr>
        <p:spPr>
          <a:xfrm>
            <a:off x="548640" y="914400"/>
            <a:ext cx="10972800" cy="320040"/>
          </a:xfrm>
          <a:prstGeom prst="rect">
            <a:avLst/>
          </a:prstGeom>
          <a:noFill/>
          <a:ln/>
        </p:spPr>
        <p:txBody>
          <a:bodyPr wrap="square" lIns="0" tIns="0" rIns="0" bIns="0" rtlCol="0" anchor="ctr"/>
          <a:lstStyle/>
          <a:p>
            <a:pPr indent="0" marL="0">
              <a:buNone/>
            </a:pPr>
            <a:r>
              <a:rPr lang="en-US" sz="1400" i="1" dirty="0">
                <a:solidFill>
                  <a:srgbClr val="595959"/>
                </a:solidFill>
                <a:latin typeface="Arial" pitchFamily="34" charset="0"/>
                <a:ea typeface="Arial" pitchFamily="34" charset="-122"/>
                <a:cs typeface="Arial" pitchFamily="34" charset="-120"/>
              </a:rPr>
              <a:t>Three automated steps, then validation with the OpRisk experts</a:t>
            </a:r>
            <a:endParaRPr lang="en-US" sz="1400" dirty="0"/>
          </a:p>
        </p:txBody>
      </p:sp>
      <p:sp>
        <p:nvSpPr>
          <p:cNvPr id="6" name="Shape 4"/>
          <p:cNvSpPr/>
          <p:nvPr/>
        </p:nvSpPr>
        <p:spPr>
          <a:xfrm>
            <a:off x="548640" y="1554480"/>
            <a:ext cx="2560320" cy="3108960"/>
          </a:xfrm>
          <a:prstGeom prst="roundRect">
            <a:avLst>
              <a:gd name="adj" fmla="val 3571"/>
            </a:avLst>
          </a:prstGeom>
          <a:solidFill>
            <a:srgbClr val="F7F9FA"/>
          </a:solidFill>
          <a:ln w="12700">
            <a:solidFill>
              <a:srgbClr val="E1E5E8"/>
            </a:solidFill>
            <a:prstDash val="solid"/>
          </a:ln>
        </p:spPr>
      </p:sp>
      <p:pic>
        <p:nvPicPr>
          <p:cNvPr id="7" name="Image 0" descr="preencoded.png">    </p:cNvPr>
          <p:cNvPicPr>
            <a:picLocks noChangeAspect="1"/>
          </p:cNvPicPr>
          <p:nvPr/>
        </p:nvPicPr>
        <p:blipFill>
          <a:blip r:embed="rId1"/>
          <a:stretch>
            <a:fillRect/>
          </a:stretch>
        </p:blipFill>
        <p:spPr>
          <a:xfrm>
            <a:off x="1572768" y="1828800"/>
            <a:ext cx="512064" cy="512064"/>
          </a:xfrm>
          <a:prstGeom prst="rect">
            <a:avLst/>
          </a:prstGeom>
        </p:spPr>
      </p:pic>
      <p:sp>
        <p:nvSpPr>
          <p:cNvPr id="8" name="Text 5"/>
          <p:cNvSpPr/>
          <p:nvPr/>
        </p:nvSpPr>
        <p:spPr>
          <a:xfrm>
            <a:off x="548640" y="2468880"/>
            <a:ext cx="2560320" cy="365760"/>
          </a:xfrm>
          <a:prstGeom prst="rect">
            <a:avLst/>
          </a:prstGeom>
          <a:noFill/>
          <a:ln/>
        </p:spPr>
        <p:txBody>
          <a:bodyPr wrap="square" lIns="0" tIns="0" rIns="0" bIns="0" rtlCol="0" anchor="ctr"/>
          <a:lstStyle/>
          <a:p>
            <a:pPr algn="ctr" indent="0" marL="0">
              <a:buNone/>
            </a:pPr>
            <a:r>
              <a:rPr lang="en-US" sz="1700" b="1" dirty="0">
                <a:solidFill>
                  <a:srgbClr val="1F3864"/>
                </a:solidFill>
                <a:latin typeface="Arial" pitchFamily="34" charset="0"/>
                <a:ea typeface="Arial" pitchFamily="34" charset="-122"/>
                <a:cs typeface="Arial" pitchFamily="34" charset="-120"/>
              </a:rPr>
              <a:t>1. Condense</a:t>
            </a:r>
            <a:endParaRPr lang="en-US" sz="1700" dirty="0"/>
          </a:p>
        </p:txBody>
      </p:sp>
      <p:sp>
        <p:nvSpPr>
          <p:cNvPr id="9" name="Text 6"/>
          <p:cNvSpPr/>
          <p:nvPr/>
        </p:nvSpPr>
        <p:spPr>
          <a:xfrm>
            <a:off x="548640" y="2816352"/>
            <a:ext cx="2560320" cy="256032"/>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(PCA)</a:t>
            </a:r>
            <a:endParaRPr lang="en-US" sz="1100" dirty="0"/>
          </a:p>
        </p:txBody>
      </p:sp>
      <p:sp>
        <p:nvSpPr>
          <p:cNvPr id="10" name="Text 7"/>
          <p:cNvSpPr/>
          <p:nvPr/>
        </p:nvSpPr>
        <p:spPr>
          <a:xfrm>
            <a:off x="777240" y="3154680"/>
            <a:ext cx="2103120" cy="1371600"/>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Keep the essence of each incident's signature — from 768 numbers down to ~50 — removing noise while preserving meaning.</a:t>
            </a:r>
            <a:endParaRPr lang="en-US" sz="1150" dirty="0"/>
          </a:p>
        </p:txBody>
      </p:sp>
      <p:sp>
        <p:nvSpPr>
          <p:cNvPr id="11" name="Shape 8"/>
          <p:cNvSpPr/>
          <p:nvPr/>
        </p:nvSpPr>
        <p:spPr>
          <a:xfrm rot="5400000">
            <a:off x="3163824" y="3026664"/>
            <a:ext cx="182880" cy="164592"/>
          </a:xfrm>
          <a:prstGeom prst="rtTriangle">
            <a:avLst/>
          </a:prstGeom>
          <a:solidFill>
            <a:srgbClr val="00915A"/>
          </a:solidFill>
          <a:ln w="12700">
            <a:solidFill>
              <a:srgbClr val="00915A"/>
            </a:solidFill>
            <a:prstDash val="solid"/>
          </a:ln>
        </p:spPr>
      </p:sp>
      <p:sp>
        <p:nvSpPr>
          <p:cNvPr id="12" name="Shape 9"/>
          <p:cNvSpPr/>
          <p:nvPr/>
        </p:nvSpPr>
        <p:spPr>
          <a:xfrm>
            <a:off x="3383280" y="1554480"/>
            <a:ext cx="2560320" cy="3108960"/>
          </a:xfrm>
          <a:prstGeom prst="roundRect">
            <a:avLst>
              <a:gd name="adj" fmla="val 3571"/>
            </a:avLst>
          </a:prstGeom>
          <a:solidFill>
            <a:srgbClr val="F7F9FA"/>
          </a:solidFill>
          <a:ln w="12700">
            <a:solidFill>
              <a:srgbClr val="E1E5E8"/>
            </a:solidFill>
            <a:prstDash val="solid"/>
          </a:ln>
        </p:spPr>
      </p:sp>
      <p:pic>
        <p:nvPicPr>
          <p:cNvPr id="13" name="Image 1" descr="preencoded.png">    </p:cNvPr>
          <p:cNvPicPr>
            <a:picLocks noChangeAspect="1"/>
          </p:cNvPicPr>
          <p:nvPr/>
        </p:nvPicPr>
        <p:blipFill>
          <a:blip r:embed="rId2"/>
          <a:stretch>
            <a:fillRect/>
          </a:stretch>
        </p:blipFill>
        <p:spPr>
          <a:xfrm>
            <a:off x="4407408" y="1828800"/>
            <a:ext cx="512064" cy="512064"/>
          </a:xfrm>
          <a:prstGeom prst="rect">
            <a:avLst/>
          </a:prstGeom>
        </p:spPr>
      </p:pic>
      <p:sp>
        <p:nvSpPr>
          <p:cNvPr id="14" name="Text 10"/>
          <p:cNvSpPr/>
          <p:nvPr/>
        </p:nvSpPr>
        <p:spPr>
          <a:xfrm>
            <a:off x="3383280" y="2468880"/>
            <a:ext cx="2560320" cy="365760"/>
          </a:xfrm>
          <a:prstGeom prst="rect">
            <a:avLst/>
          </a:prstGeom>
          <a:noFill/>
          <a:ln/>
        </p:spPr>
        <p:txBody>
          <a:bodyPr wrap="square" lIns="0" tIns="0" rIns="0" bIns="0" rtlCol="0" anchor="ctr"/>
          <a:lstStyle/>
          <a:p>
            <a:pPr algn="ctr" indent="0" marL="0">
              <a:buNone/>
            </a:pPr>
            <a:r>
              <a:rPr lang="en-US" sz="1700" b="1" dirty="0">
                <a:solidFill>
                  <a:srgbClr val="1F3864"/>
                </a:solidFill>
                <a:latin typeface="Arial" pitchFamily="34" charset="0"/>
                <a:ea typeface="Arial" pitchFamily="34" charset="-122"/>
                <a:cs typeface="Arial" pitchFamily="34" charset="-120"/>
              </a:rPr>
              <a:t>2. Map</a:t>
            </a:r>
            <a:endParaRPr lang="en-US" sz="1700" dirty="0"/>
          </a:p>
        </p:txBody>
      </p:sp>
      <p:sp>
        <p:nvSpPr>
          <p:cNvPr id="15" name="Text 11"/>
          <p:cNvSpPr/>
          <p:nvPr/>
        </p:nvSpPr>
        <p:spPr>
          <a:xfrm>
            <a:off x="3383280" y="2816352"/>
            <a:ext cx="2560320" cy="256032"/>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(UMAP)</a:t>
            </a:r>
            <a:endParaRPr lang="en-US" sz="1100" dirty="0"/>
          </a:p>
        </p:txBody>
      </p:sp>
      <p:sp>
        <p:nvSpPr>
          <p:cNvPr id="16" name="Text 12"/>
          <p:cNvSpPr/>
          <p:nvPr/>
        </p:nvSpPr>
        <p:spPr>
          <a:xfrm>
            <a:off x="3611880" y="3154680"/>
            <a:ext cx="2103120" cy="1371600"/>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Draw all 10,000 incidents on a single 2D map, where incidents with similar meaning appear near each other.</a:t>
            </a:r>
            <a:endParaRPr lang="en-US" sz="1150" dirty="0"/>
          </a:p>
        </p:txBody>
      </p:sp>
      <p:sp>
        <p:nvSpPr>
          <p:cNvPr id="17" name="Shape 13"/>
          <p:cNvSpPr/>
          <p:nvPr/>
        </p:nvSpPr>
        <p:spPr>
          <a:xfrm rot="5400000">
            <a:off x="5998464" y="3026664"/>
            <a:ext cx="182880" cy="164592"/>
          </a:xfrm>
          <a:prstGeom prst="rtTriangle">
            <a:avLst/>
          </a:prstGeom>
          <a:solidFill>
            <a:srgbClr val="00915A"/>
          </a:solidFill>
          <a:ln w="12700">
            <a:solidFill>
              <a:srgbClr val="00915A"/>
            </a:solidFill>
            <a:prstDash val="solid"/>
          </a:ln>
        </p:spPr>
      </p:sp>
      <p:sp>
        <p:nvSpPr>
          <p:cNvPr id="18" name="Shape 14"/>
          <p:cNvSpPr/>
          <p:nvPr/>
        </p:nvSpPr>
        <p:spPr>
          <a:xfrm>
            <a:off x="6217920" y="1554480"/>
            <a:ext cx="2560320" cy="3108960"/>
          </a:xfrm>
          <a:prstGeom prst="roundRect">
            <a:avLst>
              <a:gd name="adj" fmla="val 3571"/>
            </a:avLst>
          </a:prstGeom>
          <a:solidFill>
            <a:srgbClr val="F7F9FA"/>
          </a:solidFill>
          <a:ln w="12700">
            <a:solidFill>
              <a:srgbClr val="E1E5E8"/>
            </a:solidFill>
            <a:prstDash val="solid"/>
          </a:ln>
        </p:spPr>
      </p:sp>
      <p:pic>
        <p:nvPicPr>
          <p:cNvPr id="19" name="Image 2" descr="preencoded.png">    </p:cNvPr>
          <p:cNvPicPr>
            <a:picLocks noChangeAspect="1"/>
          </p:cNvPicPr>
          <p:nvPr/>
        </p:nvPicPr>
        <p:blipFill>
          <a:blip r:embed="rId3"/>
          <a:stretch>
            <a:fillRect/>
          </a:stretch>
        </p:blipFill>
        <p:spPr>
          <a:xfrm>
            <a:off x="7242048" y="1828800"/>
            <a:ext cx="512064" cy="512064"/>
          </a:xfrm>
          <a:prstGeom prst="rect">
            <a:avLst/>
          </a:prstGeom>
        </p:spPr>
      </p:pic>
      <p:sp>
        <p:nvSpPr>
          <p:cNvPr id="20" name="Text 15"/>
          <p:cNvSpPr/>
          <p:nvPr/>
        </p:nvSpPr>
        <p:spPr>
          <a:xfrm>
            <a:off x="6217920" y="2468880"/>
            <a:ext cx="2560320" cy="365760"/>
          </a:xfrm>
          <a:prstGeom prst="rect">
            <a:avLst/>
          </a:prstGeom>
          <a:noFill/>
          <a:ln/>
        </p:spPr>
        <p:txBody>
          <a:bodyPr wrap="square" lIns="0" tIns="0" rIns="0" bIns="0" rtlCol="0" anchor="ctr"/>
          <a:lstStyle/>
          <a:p>
            <a:pPr algn="ctr" indent="0" marL="0">
              <a:buNone/>
            </a:pPr>
            <a:r>
              <a:rPr lang="en-US" sz="1700" b="1" dirty="0">
                <a:solidFill>
                  <a:srgbClr val="1F3864"/>
                </a:solidFill>
                <a:latin typeface="Arial" pitchFamily="34" charset="0"/>
                <a:ea typeface="Arial" pitchFamily="34" charset="-122"/>
                <a:cs typeface="Arial" pitchFamily="34" charset="-120"/>
              </a:rPr>
              <a:t>3. Group</a:t>
            </a:r>
            <a:endParaRPr lang="en-US" sz="1700" dirty="0"/>
          </a:p>
        </p:txBody>
      </p:sp>
      <p:sp>
        <p:nvSpPr>
          <p:cNvPr id="21" name="Text 16"/>
          <p:cNvSpPr/>
          <p:nvPr/>
        </p:nvSpPr>
        <p:spPr>
          <a:xfrm>
            <a:off x="6217920" y="2816352"/>
            <a:ext cx="2560320" cy="256032"/>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(clustering)</a:t>
            </a:r>
            <a:endParaRPr lang="en-US" sz="1100" dirty="0"/>
          </a:p>
        </p:txBody>
      </p:sp>
      <p:sp>
        <p:nvSpPr>
          <p:cNvPr id="22" name="Text 17"/>
          <p:cNvSpPr/>
          <p:nvPr/>
        </p:nvSpPr>
        <p:spPr>
          <a:xfrm>
            <a:off x="6446520" y="3154680"/>
            <a:ext cx="2103120" cy="1371600"/>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Automatically detect the families of incidents — the recurring root-cause groups — and compare several methods to keep the best.</a:t>
            </a:r>
            <a:endParaRPr lang="en-US" sz="1150" dirty="0"/>
          </a:p>
        </p:txBody>
      </p:sp>
      <p:sp>
        <p:nvSpPr>
          <p:cNvPr id="23" name="Shape 18"/>
          <p:cNvSpPr/>
          <p:nvPr/>
        </p:nvSpPr>
        <p:spPr>
          <a:xfrm rot="5400000">
            <a:off x="8833104" y="3026664"/>
            <a:ext cx="182880" cy="164592"/>
          </a:xfrm>
          <a:prstGeom prst="rtTriangle">
            <a:avLst/>
          </a:prstGeom>
          <a:solidFill>
            <a:srgbClr val="00915A"/>
          </a:solidFill>
          <a:ln w="12700">
            <a:solidFill>
              <a:srgbClr val="00915A"/>
            </a:solidFill>
            <a:prstDash val="solid"/>
          </a:ln>
        </p:spPr>
      </p:sp>
      <p:sp>
        <p:nvSpPr>
          <p:cNvPr id="24" name="Shape 19"/>
          <p:cNvSpPr/>
          <p:nvPr/>
        </p:nvSpPr>
        <p:spPr>
          <a:xfrm>
            <a:off x="9052560" y="1554480"/>
            <a:ext cx="2560320" cy="3108960"/>
          </a:xfrm>
          <a:prstGeom prst="roundRect">
            <a:avLst>
              <a:gd name="adj" fmla="val 3571"/>
            </a:avLst>
          </a:prstGeom>
          <a:solidFill>
            <a:srgbClr val="FFF8F0"/>
          </a:solidFill>
          <a:ln w="19050">
            <a:solidFill>
              <a:srgbClr val="E8B66B"/>
            </a:solidFill>
            <a:prstDash val="solid"/>
          </a:ln>
        </p:spPr>
      </p:sp>
      <p:pic>
        <p:nvPicPr>
          <p:cNvPr id="25" name="Image 3" descr="preencoded.png">    </p:cNvPr>
          <p:cNvPicPr>
            <a:picLocks noChangeAspect="1"/>
          </p:cNvPicPr>
          <p:nvPr/>
        </p:nvPicPr>
        <p:blipFill>
          <a:blip r:embed="rId4"/>
          <a:stretch>
            <a:fillRect/>
          </a:stretch>
        </p:blipFill>
        <p:spPr>
          <a:xfrm>
            <a:off x="10076688" y="1828800"/>
            <a:ext cx="512064" cy="512064"/>
          </a:xfrm>
          <a:prstGeom prst="rect">
            <a:avLst/>
          </a:prstGeom>
        </p:spPr>
      </p:pic>
      <p:sp>
        <p:nvSpPr>
          <p:cNvPr id="26" name="Text 20"/>
          <p:cNvSpPr/>
          <p:nvPr/>
        </p:nvSpPr>
        <p:spPr>
          <a:xfrm>
            <a:off x="9052560" y="2468880"/>
            <a:ext cx="2560320" cy="365760"/>
          </a:xfrm>
          <a:prstGeom prst="rect">
            <a:avLst/>
          </a:prstGeom>
          <a:noFill/>
          <a:ln/>
        </p:spPr>
        <p:txBody>
          <a:bodyPr wrap="square" lIns="0" tIns="0" rIns="0" bIns="0" rtlCol="0" anchor="ctr"/>
          <a:lstStyle/>
          <a:p>
            <a:pPr algn="ctr" indent="0" marL="0">
              <a:buNone/>
            </a:pPr>
            <a:r>
              <a:rPr lang="en-US" sz="1700" b="1" dirty="0">
                <a:solidFill>
                  <a:srgbClr val="1F3864"/>
                </a:solidFill>
                <a:latin typeface="Arial" pitchFamily="34" charset="0"/>
                <a:ea typeface="Arial" pitchFamily="34" charset="-122"/>
                <a:cs typeface="Arial" pitchFamily="34" charset="-120"/>
              </a:rPr>
              <a:t>4. Validate</a:t>
            </a:r>
            <a:endParaRPr lang="en-US" sz="1700" dirty="0"/>
          </a:p>
        </p:txBody>
      </p:sp>
      <p:sp>
        <p:nvSpPr>
          <p:cNvPr id="27" name="Text 21"/>
          <p:cNvSpPr/>
          <p:nvPr/>
        </p:nvSpPr>
        <p:spPr>
          <a:xfrm>
            <a:off x="9052560" y="2816352"/>
            <a:ext cx="2560320" cy="256032"/>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(with analysts)</a:t>
            </a:r>
            <a:endParaRPr lang="en-US" sz="1100" dirty="0"/>
          </a:p>
        </p:txBody>
      </p:sp>
      <p:sp>
        <p:nvSpPr>
          <p:cNvPr id="28" name="Text 22"/>
          <p:cNvSpPr/>
          <p:nvPr/>
        </p:nvSpPr>
        <p:spPr>
          <a:xfrm>
            <a:off x="9281160" y="3154680"/>
            <a:ext cx="2103120" cy="1371600"/>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Review the groups with OpRisk experts, name each family, and confirm they make business sense.</a:t>
            </a:r>
            <a:endParaRPr lang="en-US" sz="1150" dirty="0"/>
          </a:p>
        </p:txBody>
      </p:sp>
      <p:sp>
        <p:nvSpPr>
          <p:cNvPr id="29" name="Shape 23"/>
          <p:cNvSpPr/>
          <p:nvPr/>
        </p:nvSpPr>
        <p:spPr>
          <a:xfrm>
            <a:off x="548640" y="4983480"/>
            <a:ext cx="11064240" cy="1005840"/>
          </a:xfrm>
          <a:prstGeom prst="roundRect">
            <a:avLst>
              <a:gd name="adj" fmla="val 9091"/>
            </a:avLst>
          </a:prstGeom>
          <a:solidFill>
            <a:srgbClr val="F0F8F4"/>
          </a:solidFill>
          <a:ln w="12700">
            <a:solidFill>
              <a:srgbClr val="00915A"/>
            </a:solidFill>
            <a:prstDash val="solid"/>
          </a:ln>
        </p:spPr>
      </p:sp>
      <p:sp>
        <p:nvSpPr>
          <p:cNvPr id="30" name="Text 24"/>
          <p:cNvSpPr/>
          <p:nvPr/>
        </p:nvSpPr>
        <p:spPr>
          <a:xfrm>
            <a:off x="914400" y="5120640"/>
            <a:ext cx="10332720" cy="731520"/>
          </a:xfrm>
          <a:prstGeom prst="rect">
            <a:avLst/>
          </a:prstGeom>
          <a:noFill/>
          <a:ln/>
        </p:spPr>
        <p:txBody>
          <a:bodyPr wrap="square" lIns="0" tIns="0" rIns="0" bIns="0" rtlCol="0" anchor="ctr"/>
          <a:lstStyle/>
          <a:p>
            <a:pPr indent="0" marL="0">
              <a:buNone/>
            </a:pPr>
            <a:r>
              <a:rPr lang="en-US" sz="1300" b="1" dirty="0">
                <a:solidFill>
                  <a:srgbClr val="00915A"/>
                </a:solidFill>
                <a:latin typeface="Arial" pitchFamily="34" charset="0"/>
                <a:ea typeface="Arial" pitchFamily="34" charset="-122"/>
                <a:cs typeface="Arial" pitchFamily="34" charset="-120"/>
              </a:rPr>
              <a:t>What you will see at the next checkpoint: </a:t>
            </a:r>
            <a:pPr indent="0" marL="0">
              <a:buNone/>
            </a:pPr>
            <a:r>
              <a:rPr lang="en-US" sz="1300" dirty="0">
                <a:solidFill>
                  <a:srgbClr val="262626"/>
                </a:solidFill>
                <a:latin typeface="Arial" pitchFamily="34" charset="0"/>
                <a:ea typeface="Arial" pitchFamily="34" charset="-122"/>
                <a:cs typeface="Arial" pitchFamily="34" charset="-120"/>
              </a:rPr>
              <a:t>the real map of our 10,000 incidents, organized into named root-cause families — with the actual figures replacing today's illustrations. No new tools or external requests are needed for these steps.</a:t>
            </a:r>
            <a:endParaRPr lang="en-US" sz="1300" dirty="0"/>
          </a:p>
        </p:txBody>
      </p:sp>
      <p:sp>
        <p:nvSpPr>
          <p:cNvPr id="31" name="Shape 25"/>
          <p:cNvSpPr/>
          <p:nvPr/>
        </p:nvSpPr>
        <p:spPr>
          <a:xfrm>
            <a:off x="548640" y="6217920"/>
            <a:ext cx="11064240" cy="0"/>
          </a:xfrm>
          <a:prstGeom prst="line">
            <a:avLst/>
          </a:prstGeom>
          <a:noFill/>
          <a:ln w="9525">
            <a:solidFill>
              <a:srgbClr val="E1E5E8"/>
            </a:solidFill>
            <a:prstDash val="solid"/>
          </a:ln>
        </p:spPr>
      </p:sp>
      <p:sp>
        <p:nvSpPr>
          <p:cNvPr id="32" name="Text 26"/>
          <p:cNvSpPr/>
          <p:nvPr/>
        </p:nvSpPr>
        <p:spPr>
          <a:xfrm>
            <a:off x="548640" y="6355080"/>
            <a:ext cx="1828800" cy="27432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BNP PARIBAS</a:t>
            </a:r>
            <a:endParaRPr lang="en-US" sz="1100" dirty="0"/>
          </a:p>
        </p:txBody>
      </p:sp>
      <p:sp>
        <p:nvSpPr>
          <p:cNvPr id="33" name="Text 27"/>
          <p:cNvSpPr/>
          <p:nvPr/>
        </p:nvSpPr>
        <p:spPr>
          <a:xfrm>
            <a:off x="4709160" y="6355080"/>
            <a:ext cx="2743200" cy="274320"/>
          </a:xfrm>
          <a:prstGeom prst="rect">
            <a:avLst/>
          </a:prstGeom>
          <a:noFill/>
          <a:ln/>
        </p:spPr>
        <p:txBody>
          <a:bodyPr wrap="square" lIns="0" tIns="0" rIns="0" bIns="0" rtlCol="0" anchor="ctr"/>
          <a:lstStyle/>
          <a:p>
            <a:pPr algn="ctr" indent="0" marL="0">
              <a:buNone/>
            </a:pPr>
            <a:r>
              <a:rPr lang="en-US" sz="1000" i="1" dirty="0">
                <a:solidFill>
                  <a:srgbClr val="262626"/>
                </a:solidFill>
                <a:latin typeface="Arial" pitchFamily="34" charset="0"/>
                <a:ea typeface="Arial" pitchFamily="34" charset="-122"/>
                <a:cs typeface="Arial" pitchFamily="34" charset="-120"/>
              </a:rPr>
              <a:t>The bank for a changing world</a:t>
            </a:r>
            <a:endParaRPr lang="en-US" sz="1000" dirty="0"/>
          </a:p>
        </p:txBody>
      </p:sp>
      <p:sp>
        <p:nvSpPr>
          <p:cNvPr id="34" name="Text 28"/>
          <p:cNvSpPr/>
          <p:nvPr/>
        </p:nvSpPr>
        <p:spPr>
          <a:xfrm>
            <a:off x="10789920" y="6309360"/>
            <a:ext cx="914400" cy="228600"/>
          </a:xfrm>
          <a:prstGeom prst="rect">
            <a:avLst/>
          </a:prstGeom>
          <a:noFill/>
          <a:ln/>
        </p:spPr>
        <p:txBody>
          <a:bodyPr wrap="square" lIns="0" tIns="0" rIns="0" bIns="0" rtlCol="0" anchor="ctr"/>
          <a:lstStyle/>
          <a:p>
            <a:pPr algn="r" indent="0" marL="0">
              <a:buNone/>
            </a:pPr>
            <a:r>
              <a:rPr lang="en-US" sz="1100" b="1" dirty="0">
                <a:solidFill>
                  <a:srgbClr val="262626"/>
                </a:solidFill>
                <a:latin typeface="Arial" pitchFamily="34" charset="0"/>
                <a:ea typeface="Arial" pitchFamily="34" charset="-122"/>
                <a:cs typeface="Arial" pitchFamily="34" charset="-120"/>
              </a:rPr>
              <a:t>4</a:t>
            </a:r>
            <a:endParaRPr lang="en-US" sz="1100" dirty="0"/>
          </a:p>
        </p:txBody>
      </p:sp>
      <p:sp>
        <p:nvSpPr>
          <p:cNvPr id="35" name="Text 29"/>
          <p:cNvSpPr/>
          <p:nvPr/>
        </p:nvSpPr>
        <p:spPr>
          <a:xfrm>
            <a:off x="9875520" y="6537960"/>
            <a:ext cx="1828800" cy="228600"/>
          </a:xfrm>
          <a:prstGeom prst="rect">
            <a:avLst/>
          </a:prstGeom>
          <a:noFill/>
          <a:ln/>
        </p:spPr>
        <p:txBody>
          <a:bodyPr wrap="square" lIns="0" tIns="0" rIns="0" bIns="0" rtlCol="0" anchor="ctr"/>
          <a:lstStyle/>
          <a:p>
            <a:pPr algn="r" indent="0" marL="0">
              <a:buNone/>
            </a:pPr>
            <a:r>
              <a:rPr lang="en-US" sz="900" dirty="0">
                <a:solidFill>
                  <a:srgbClr val="4472C4"/>
                </a:solidFill>
                <a:latin typeface="Arial" pitchFamily="34" charset="0"/>
                <a:ea typeface="Arial" pitchFamily="34" charset="-122"/>
                <a:cs typeface="Arial" pitchFamily="34" charset="-120"/>
              </a:rPr>
              <a:t>Classification : Internal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MLION - Checkpoint</dc:title>
  <dc:subject>PptxGenJS Presentation</dc:subject>
  <dc:creator>Zakaria GUAAYBESS</dc:creator>
  <cp:lastModifiedBy>Zakaria GUAAYBESS</cp:lastModifiedBy>
  <cp:revision>1</cp:revision>
  <dcterms:created xsi:type="dcterms:W3CDTF">2026-07-16T19:39:05Z</dcterms:created>
  <dcterms:modified xsi:type="dcterms:W3CDTF">2026-07-16T19:39:05Z</dcterms:modified>
</cp:coreProperties>
</file>