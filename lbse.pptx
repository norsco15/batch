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that's the workflow at a high level. Now I'd like to focus specifically on where we need your help. Among the six steps you just saw, all of them except one run on standard libraries already available in our Dataiku environment — things like scikit-learn for the vectorization, dimensions reduction, and clustering, and spaCy for the text cleaning, which the support team already kindly installed for us. The one step that requires an external dependency we haven't been able to resolve internally is step three — the semantic adjustment. This is the step that uses a pre-trained NLP model to convert our cleaned text into meaningful vectors, and it's what allows our pipeline to recognize that incidents describing the same root cause — even with different wording — should be grouped together. Without this step, the quality of our clusters drops significantly. So this is the single piece we need your help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Concretely, here's what we'd like to request. The primary model we need is called all-mpnet-base-v2 — it's a sentence-transformer model from Hugging Face. We selected it specifically because our corpus is translated to English upstream, and this model is one of the highest-quality English sentence-embedding models available today. As a nice-to-have, we'd also be interested in LaBSE — the multilingual variant — which could let us experiment with embedding French and Italian directly in the future and potentially simplify our pipeline. We did identify these models via the BNPP ModelHub catalogue, but we understood that ModelHub isn't the standard channel to make models accessible from Dataiku. That's exactly why we wanted to discuss this with you. On the right of the slide, you'll see the main questions we'd like to explore together: what's the standard process at BNPP for making an external NLP model available inside Dataiku, what security or compliance constraints we should anticipate, whether there's an internal channel we haven't identified yet, and whether we should expect a similar process for future model needs as the project evolves. I'd really like to get your perspective on this, and we're open to whatever approach makes the most sense for the bank.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789920" y="320040"/>
            <a:ext cx="1005840" cy="457200"/>
          </a:xfrm>
          <a:prstGeom prst="rect">
            <a:avLst/>
          </a:prstGeom>
          <a:noFill/>
          <a:ln/>
        </p:spPr>
        <p:txBody>
          <a:bodyPr wrap="square" lIns="0" tIns="0" rIns="0" bIns="0" rtlCol="0" anchor="ctr"/>
          <a:lstStyle/>
          <a:p>
            <a:pPr algn="r" indent="0" marL="0">
              <a:buNone/>
            </a:pPr>
            <a:r>
              <a:rPr lang="en-US" sz="2800" b="1" dirty="0">
                <a:solidFill>
                  <a:srgbClr val="00915A"/>
                </a:solidFill>
                <a:latin typeface="Arial" pitchFamily="34" charset="0"/>
                <a:ea typeface="Arial" pitchFamily="34" charset="-122"/>
                <a:cs typeface="Arial" pitchFamily="34" charset="-120"/>
              </a:rPr>
              <a:t>RISK</a:t>
            </a:r>
            <a:endParaRPr lang="en-US" sz="2800" dirty="0"/>
          </a:p>
        </p:txBody>
      </p:sp>
      <p:sp>
        <p:nvSpPr>
          <p:cNvPr id="3" name="Shape 1"/>
          <p:cNvSpPr/>
          <p:nvPr/>
        </p:nvSpPr>
        <p:spPr>
          <a:xfrm>
            <a:off x="10789920" y="749808"/>
            <a:ext cx="1005840" cy="0"/>
          </a:xfrm>
          <a:prstGeom prst="line">
            <a:avLst/>
          </a:prstGeom>
          <a:noFill/>
          <a:ln w="25400">
            <a:solidFill>
              <a:srgbClr val="00915A"/>
            </a:solidFill>
            <a:prstDash val="solid"/>
          </a:ln>
        </p:spPr>
      </p:sp>
      <p:sp>
        <p:nvSpPr>
          <p:cNvPr id="4" name="Text 2"/>
          <p:cNvSpPr/>
          <p:nvPr/>
        </p:nvSpPr>
        <p:spPr>
          <a:xfrm>
            <a:off x="548640" y="274320"/>
            <a:ext cx="9601200" cy="640080"/>
          </a:xfrm>
          <a:prstGeom prst="rect">
            <a:avLst/>
          </a:prstGeom>
          <a:noFill/>
          <a:ln/>
        </p:spPr>
        <p:txBody>
          <a:bodyPr wrap="square" lIns="0" tIns="0" rIns="0" bIns="0" rtlCol="0" anchor="ctr"/>
          <a:lstStyle/>
          <a:p>
            <a:pPr indent="0" marL="0">
              <a:buNone/>
            </a:pPr>
            <a:r>
              <a:rPr lang="en-US" sz="3200" b="1" dirty="0">
                <a:solidFill>
                  <a:srgbClr val="00915A"/>
                </a:solidFill>
                <a:latin typeface="Arial" pitchFamily="34" charset="0"/>
                <a:ea typeface="Arial" pitchFamily="34" charset="-122"/>
                <a:cs typeface="Arial" pitchFamily="34" charset="-120"/>
              </a:rPr>
              <a:t>Where We Need Your Help</a:t>
            </a:r>
            <a:endParaRPr lang="en-US" sz="3200" dirty="0"/>
          </a:p>
        </p:txBody>
      </p:sp>
      <p:sp>
        <p:nvSpPr>
          <p:cNvPr id="5" name="Shape 3"/>
          <p:cNvSpPr/>
          <p:nvPr/>
        </p:nvSpPr>
        <p:spPr>
          <a:xfrm>
            <a:off x="1257300" y="1280160"/>
            <a:ext cx="1417320" cy="1280160"/>
          </a:xfrm>
          <a:prstGeom prst="roundRect">
            <a:avLst>
              <a:gd name="adj" fmla="val 7143"/>
            </a:avLst>
          </a:prstGeom>
          <a:solidFill>
            <a:srgbClr val="F0F8F4"/>
          </a:solidFill>
          <a:ln w="12700">
            <a:solidFill>
              <a:srgbClr val="00915A"/>
            </a:solidFill>
            <a:prstDash val="solid"/>
          </a:ln>
        </p:spPr>
      </p:sp>
      <p:sp>
        <p:nvSpPr>
          <p:cNvPr id="6" name="Text 4"/>
          <p:cNvSpPr/>
          <p:nvPr/>
        </p:nvSpPr>
        <p:spPr>
          <a:xfrm>
            <a:off x="1257300" y="1417320"/>
            <a:ext cx="1417320" cy="365760"/>
          </a:xfrm>
          <a:prstGeom prst="rect">
            <a:avLst/>
          </a:prstGeom>
          <a:noFill/>
          <a:ln/>
        </p:spPr>
        <p:txBody>
          <a:bodyPr wrap="square" lIns="0" tIns="0" rIns="0" bIns="0" rtlCol="0" anchor="ctr"/>
          <a:lstStyle/>
          <a:p>
            <a:pPr algn="ctr" indent="0" marL="0">
              <a:buNone/>
            </a:pPr>
            <a:r>
              <a:rPr lang="en-US" sz="2000" b="1" dirty="0">
                <a:solidFill>
                  <a:srgbClr val="00915A"/>
                </a:solidFill>
                <a:latin typeface="Arial" pitchFamily="34" charset="0"/>
                <a:ea typeface="Arial" pitchFamily="34" charset="-122"/>
                <a:cs typeface="Arial" pitchFamily="34" charset="-120"/>
              </a:rPr>
              <a:t>1</a:t>
            </a:r>
            <a:endParaRPr lang="en-US" sz="2000" dirty="0"/>
          </a:p>
        </p:txBody>
      </p:sp>
      <p:sp>
        <p:nvSpPr>
          <p:cNvPr id="7" name="Text 5"/>
          <p:cNvSpPr/>
          <p:nvPr/>
        </p:nvSpPr>
        <p:spPr>
          <a:xfrm>
            <a:off x="1257300" y="1783080"/>
            <a:ext cx="1417320" cy="640080"/>
          </a:xfrm>
          <a:prstGeom prst="rect">
            <a:avLst/>
          </a:prstGeom>
          <a:noFill/>
          <a:ln/>
        </p:spPr>
        <p:txBody>
          <a:bodyPr wrap="square" lIns="0" tIns="0" rIns="0" bIns="0" rtlCol="0" anchor="t"/>
          <a:lstStyle/>
          <a:p>
            <a:pPr algn="ctr" indent="0" marL="0">
              <a:buNone/>
            </a:pPr>
            <a:r>
              <a:rPr lang="en-US" sz="1100" b="1" dirty="0">
                <a:solidFill>
                  <a:srgbClr val="262626"/>
                </a:solidFill>
                <a:latin typeface="Arial" pitchFamily="34" charset="0"/>
                <a:ea typeface="Arial" pitchFamily="34" charset="-122"/>
                <a:cs typeface="Arial" pitchFamily="34" charset="-120"/>
              </a:rPr>
              <a:t>Descriptions</a:t>
            </a:r>
            <a:endParaRPr lang="en-US" sz="1100" dirty="0"/>
          </a:p>
          <a:p>
            <a:pPr algn="ctr" indent="0" marL="0">
              <a:buNone/>
            </a:pPr>
            <a:r>
              <a:rPr lang="en-US" sz="1100" b="1" dirty="0">
                <a:solidFill>
                  <a:srgbClr val="262626"/>
                </a:solidFill>
                <a:latin typeface="Arial" pitchFamily="34" charset="0"/>
                <a:ea typeface="Arial" pitchFamily="34" charset="-122"/>
                <a:cs typeface="Arial" pitchFamily="34" charset="-120"/>
              </a:rPr>
              <a:t>cleaning</a:t>
            </a:r>
            <a:endParaRPr lang="en-US" sz="1100" dirty="0"/>
          </a:p>
        </p:txBody>
      </p:sp>
      <p:pic>
        <p:nvPicPr>
          <p:cNvPr id="8" name="Image 0" descr="preencoded.png">    </p:cNvPr>
          <p:cNvPicPr>
            <a:picLocks noChangeAspect="1"/>
          </p:cNvPicPr>
          <p:nvPr/>
        </p:nvPicPr>
        <p:blipFill>
          <a:blip r:embed="rId1"/>
          <a:stretch>
            <a:fillRect/>
          </a:stretch>
        </p:blipFill>
        <p:spPr>
          <a:xfrm>
            <a:off x="1847088" y="2267712"/>
            <a:ext cx="237744" cy="237744"/>
          </a:xfrm>
          <a:prstGeom prst="rect">
            <a:avLst/>
          </a:prstGeom>
        </p:spPr>
      </p:pic>
      <p:sp>
        <p:nvSpPr>
          <p:cNvPr id="9" name="Shape 6"/>
          <p:cNvSpPr/>
          <p:nvPr/>
        </p:nvSpPr>
        <p:spPr>
          <a:xfrm rot="5400000">
            <a:off x="2692908" y="1847088"/>
            <a:ext cx="164592" cy="146304"/>
          </a:xfrm>
          <a:prstGeom prst="rtTriangle">
            <a:avLst/>
          </a:prstGeom>
          <a:solidFill>
            <a:srgbClr val="8C8C8C"/>
          </a:solidFill>
          <a:ln w="12700">
            <a:solidFill>
              <a:srgbClr val="8C8C8C"/>
            </a:solidFill>
            <a:prstDash val="solid"/>
          </a:ln>
        </p:spPr>
      </p:sp>
      <p:sp>
        <p:nvSpPr>
          <p:cNvPr id="10" name="Shape 7"/>
          <p:cNvSpPr/>
          <p:nvPr/>
        </p:nvSpPr>
        <p:spPr>
          <a:xfrm>
            <a:off x="2903220" y="1280160"/>
            <a:ext cx="1417320" cy="1280160"/>
          </a:xfrm>
          <a:prstGeom prst="roundRect">
            <a:avLst>
              <a:gd name="adj" fmla="val 7143"/>
            </a:avLst>
          </a:prstGeom>
          <a:solidFill>
            <a:srgbClr val="F0F8F4"/>
          </a:solidFill>
          <a:ln w="12700">
            <a:solidFill>
              <a:srgbClr val="00915A"/>
            </a:solidFill>
            <a:prstDash val="solid"/>
          </a:ln>
        </p:spPr>
      </p:sp>
      <p:sp>
        <p:nvSpPr>
          <p:cNvPr id="11" name="Text 8"/>
          <p:cNvSpPr/>
          <p:nvPr/>
        </p:nvSpPr>
        <p:spPr>
          <a:xfrm>
            <a:off x="2903220" y="1417320"/>
            <a:ext cx="1417320" cy="365760"/>
          </a:xfrm>
          <a:prstGeom prst="rect">
            <a:avLst/>
          </a:prstGeom>
          <a:noFill/>
          <a:ln/>
        </p:spPr>
        <p:txBody>
          <a:bodyPr wrap="square" lIns="0" tIns="0" rIns="0" bIns="0" rtlCol="0" anchor="ctr"/>
          <a:lstStyle/>
          <a:p>
            <a:pPr algn="ctr" indent="0" marL="0">
              <a:buNone/>
            </a:pPr>
            <a:r>
              <a:rPr lang="en-US" sz="2000" b="1" dirty="0">
                <a:solidFill>
                  <a:srgbClr val="00915A"/>
                </a:solidFill>
                <a:latin typeface="Arial" pitchFamily="34" charset="0"/>
                <a:ea typeface="Arial" pitchFamily="34" charset="-122"/>
                <a:cs typeface="Arial" pitchFamily="34" charset="-120"/>
              </a:rPr>
              <a:t>2</a:t>
            </a:r>
            <a:endParaRPr lang="en-US" sz="2000" dirty="0"/>
          </a:p>
        </p:txBody>
      </p:sp>
      <p:sp>
        <p:nvSpPr>
          <p:cNvPr id="12" name="Text 9"/>
          <p:cNvSpPr/>
          <p:nvPr/>
        </p:nvSpPr>
        <p:spPr>
          <a:xfrm>
            <a:off x="2903220" y="1783080"/>
            <a:ext cx="1417320" cy="640080"/>
          </a:xfrm>
          <a:prstGeom prst="rect">
            <a:avLst/>
          </a:prstGeom>
          <a:noFill/>
          <a:ln/>
        </p:spPr>
        <p:txBody>
          <a:bodyPr wrap="square" lIns="0" tIns="0" rIns="0" bIns="0" rtlCol="0" anchor="t"/>
          <a:lstStyle/>
          <a:p>
            <a:pPr algn="ctr" indent="0" marL="0">
              <a:buNone/>
            </a:pPr>
            <a:r>
              <a:rPr lang="en-US" sz="1100" b="1" dirty="0">
                <a:solidFill>
                  <a:srgbClr val="262626"/>
                </a:solidFill>
                <a:latin typeface="Arial" pitchFamily="34" charset="0"/>
                <a:ea typeface="Arial" pitchFamily="34" charset="-122"/>
                <a:cs typeface="Arial" pitchFamily="34" charset="-120"/>
              </a:rPr>
              <a:t>Vectorization</a:t>
            </a:r>
            <a:endParaRPr lang="en-US" sz="1100" dirty="0"/>
          </a:p>
          <a:p>
            <a:pPr algn="ctr" indent="0" marL="0">
              <a:buNone/>
            </a:pPr>
            <a:r>
              <a:rPr lang="en-US" sz="1100" b="1" dirty="0">
                <a:solidFill>
                  <a:srgbClr val="262626"/>
                </a:solidFill>
                <a:latin typeface="Arial" pitchFamily="34" charset="0"/>
                <a:ea typeface="Arial" pitchFamily="34" charset="-122"/>
                <a:cs typeface="Arial" pitchFamily="34" charset="-120"/>
              </a:rPr>
              <a:t>Bag-of-Words</a:t>
            </a:r>
            <a:endParaRPr lang="en-US" sz="1100" dirty="0"/>
          </a:p>
        </p:txBody>
      </p:sp>
      <p:pic>
        <p:nvPicPr>
          <p:cNvPr id="13" name="Image 1" descr="preencoded.png">    </p:cNvPr>
          <p:cNvPicPr>
            <a:picLocks noChangeAspect="1"/>
          </p:cNvPicPr>
          <p:nvPr/>
        </p:nvPicPr>
        <p:blipFill>
          <a:blip r:embed="rId2"/>
          <a:stretch>
            <a:fillRect/>
          </a:stretch>
        </p:blipFill>
        <p:spPr>
          <a:xfrm>
            <a:off x="3493008" y="2267712"/>
            <a:ext cx="237744" cy="237744"/>
          </a:xfrm>
          <a:prstGeom prst="rect">
            <a:avLst/>
          </a:prstGeom>
        </p:spPr>
      </p:pic>
      <p:sp>
        <p:nvSpPr>
          <p:cNvPr id="14" name="Shape 10"/>
          <p:cNvSpPr/>
          <p:nvPr/>
        </p:nvSpPr>
        <p:spPr>
          <a:xfrm rot="5400000">
            <a:off x="4338828" y="1847088"/>
            <a:ext cx="164592" cy="146304"/>
          </a:xfrm>
          <a:prstGeom prst="rtTriangle">
            <a:avLst/>
          </a:prstGeom>
          <a:solidFill>
            <a:srgbClr val="8C8C8C"/>
          </a:solidFill>
          <a:ln w="12700">
            <a:solidFill>
              <a:srgbClr val="8C8C8C"/>
            </a:solidFill>
            <a:prstDash val="solid"/>
          </a:ln>
        </p:spPr>
      </p:sp>
      <p:sp>
        <p:nvSpPr>
          <p:cNvPr id="15" name="Shape 11"/>
          <p:cNvSpPr/>
          <p:nvPr/>
        </p:nvSpPr>
        <p:spPr>
          <a:xfrm>
            <a:off x="4549140" y="1280160"/>
            <a:ext cx="1417320" cy="1280160"/>
          </a:xfrm>
          <a:prstGeom prst="roundRect">
            <a:avLst>
              <a:gd name="adj" fmla="val 7143"/>
            </a:avLst>
          </a:prstGeom>
          <a:solidFill>
            <a:srgbClr val="FFF4D6"/>
          </a:solidFill>
          <a:ln w="31750">
            <a:solidFill>
              <a:srgbClr val="F4B400"/>
            </a:solidFill>
            <a:prstDash val="solid"/>
          </a:ln>
        </p:spPr>
      </p:sp>
      <p:sp>
        <p:nvSpPr>
          <p:cNvPr id="16" name="Text 12"/>
          <p:cNvSpPr/>
          <p:nvPr/>
        </p:nvSpPr>
        <p:spPr>
          <a:xfrm>
            <a:off x="4549140" y="1417320"/>
            <a:ext cx="1417320" cy="365760"/>
          </a:xfrm>
          <a:prstGeom prst="rect">
            <a:avLst/>
          </a:prstGeom>
          <a:noFill/>
          <a:ln/>
        </p:spPr>
        <p:txBody>
          <a:bodyPr wrap="square" lIns="0" tIns="0" rIns="0" bIns="0" rtlCol="0" anchor="ctr"/>
          <a:lstStyle/>
          <a:p>
            <a:pPr algn="ctr" indent="0" marL="0">
              <a:buNone/>
            </a:pPr>
            <a:r>
              <a:rPr lang="en-US" sz="2000" b="1" dirty="0">
                <a:solidFill>
                  <a:srgbClr val="F4B400"/>
                </a:solidFill>
                <a:latin typeface="Arial" pitchFamily="34" charset="0"/>
                <a:ea typeface="Arial" pitchFamily="34" charset="-122"/>
                <a:cs typeface="Arial" pitchFamily="34" charset="-120"/>
              </a:rPr>
              <a:t>3</a:t>
            </a:r>
            <a:endParaRPr lang="en-US" sz="2000" dirty="0"/>
          </a:p>
        </p:txBody>
      </p:sp>
      <p:sp>
        <p:nvSpPr>
          <p:cNvPr id="17" name="Text 13"/>
          <p:cNvSpPr/>
          <p:nvPr/>
        </p:nvSpPr>
        <p:spPr>
          <a:xfrm>
            <a:off x="4549140" y="1783080"/>
            <a:ext cx="1417320" cy="640080"/>
          </a:xfrm>
          <a:prstGeom prst="rect">
            <a:avLst/>
          </a:prstGeom>
          <a:noFill/>
          <a:ln/>
        </p:spPr>
        <p:txBody>
          <a:bodyPr wrap="square" lIns="0" tIns="0" rIns="0" bIns="0" rtlCol="0" anchor="t"/>
          <a:lstStyle/>
          <a:p>
            <a:pPr algn="ctr" indent="0" marL="0">
              <a:buNone/>
            </a:pPr>
            <a:r>
              <a:rPr lang="en-US" sz="1100" b="1" dirty="0">
                <a:solidFill>
                  <a:srgbClr val="262626"/>
                </a:solidFill>
                <a:latin typeface="Arial" pitchFamily="34" charset="0"/>
                <a:ea typeface="Arial" pitchFamily="34" charset="-122"/>
                <a:cs typeface="Arial" pitchFamily="34" charset="-120"/>
              </a:rPr>
              <a:t>Semantic</a:t>
            </a:r>
            <a:endParaRPr lang="en-US" sz="1100" dirty="0"/>
          </a:p>
          <a:p>
            <a:pPr algn="ctr" indent="0" marL="0">
              <a:buNone/>
            </a:pPr>
            <a:r>
              <a:rPr lang="en-US" sz="1100" b="1" dirty="0">
                <a:solidFill>
                  <a:srgbClr val="262626"/>
                </a:solidFill>
                <a:latin typeface="Arial" pitchFamily="34" charset="0"/>
                <a:ea typeface="Arial" pitchFamily="34" charset="-122"/>
                <a:cs typeface="Arial" pitchFamily="34" charset="-120"/>
              </a:rPr>
              <a:t>adjustment</a:t>
            </a:r>
            <a:endParaRPr lang="en-US" sz="1100" dirty="0"/>
          </a:p>
        </p:txBody>
      </p:sp>
      <p:pic>
        <p:nvPicPr>
          <p:cNvPr id="18" name="Image 2" descr="preencoded.png">    </p:cNvPr>
          <p:cNvPicPr>
            <a:picLocks noChangeAspect="1"/>
          </p:cNvPicPr>
          <p:nvPr/>
        </p:nvPicPr>
        <p:blipFill>
          <a:blip r:embed="rId3"/>
          <a:stretch>
            <a:fillRect/>
          </a:stretch>
        </p:blipFill>
        <p:spPr>
          <a:xfrm>
            <a:off x="5138928" y="2267712"/>
            <a:ext cx="237744" cy="237744"/>
          </a:xfrm>
          <a:prstGeom prst="rect">
            <a:avLst/>
          </a:prstGeom>
        </p:spPr>
      </p:pic>
      <p:sp>
        <p:nvSpPr>
          <p:cNvPr id="19" name="Shape 14"/>
          <p:cNvSpPr/>
          <p:nvPr/>
        </p:nvSpPr>
        <p:spPr>
          <a:xfrm rot="5400000">
            <a:off x="5984748" y="1847088"/>
            <a:ext cx="164592" cy="146304"/>
          </a:xfrm>
          <a:prstGeom prst="rtTriangle">
            <a:avLst/>
          </a:prstGeom>
          <a:solidFill>
            <a:srgbClr val="8C8C8C"/>
          </a:solidFill>
          <a:ln w="12700">
            <a:solidFill>
              <a:srgbClr val="8C8C8C"/>
            </a:solidFill>
            <a:prstDash val="solid"/>
          </a:ln>
        </p:spPr>
      </p:sp>
      <p:sp>
        <p:nvSpPr>
          <p:cNvPr id="20" name="Shape 15"/>
          <p:cNvSpPr/>
          <p:nvPr/>
        </p:nvSpPr>
        <p:spPr>
          <a:xfrm>
            <a:off x="6195060" y="1280160"/>
            <a:ext cx="1417320" cy="1280160"/>
          </a:xfrm>
          <a:prstGeom prst="roundRect">
            <a:avLst>
              <a:gd name="adj" fmla="val 7143"/>
            </a:avLst>
          </a:prstGeom>
          <a:solidFill>
            <a:srgbClr val="F7F9FA"/>
          </a:solidFill>
          <a:ln w="12700">
            <a:solidFill>
              <a:srgbClr val="E1E5E8"/>
            </a:solidFill>
            <a:prstDash val="solid"/>
          </a:ln>
        </p:spPr>
      </p:sp>
      <p:sp>
        <p:nvSpPr>
          <p:cNvPr id="21" name="Text 16"/>
          <p:cNvSpPr/>
          <p:nvPr/>
        </p:nvSpPr>
        <p:spPr>
          <a:xfrm>
            <a:off x="6195060" y="1417320"/>
            <a:ext cx="1417320" cy="365760"/>
          </a:xfrm>
          <a:prstGeom prst="rect">
            <a:avLst/>
          </a:prstGeom>
          <a:noFill/>
          <a:ln/>
        </p:spPr>
        <p:txBody>
          <a:bodyPr wrap="square" lIns="0" tIns="0" rIns="0" bIns="0" rtlCol="0" anchor="ctr"/>
          <a:lstStyle/>
          <a:p>
            <a:pPr algn="ctr" indent="0" marL="0">
              <a:buNone/>
            </a:pPr>
            <a:r>
              <a:rPr lang="en-US" sz="2000" b="1" dirty="0">
                <a:solidFill>
                  <a:srgbClr val="8C8C8C"/>
                </a:solidFill>
                <a:latin typeface="Arial" pitchFamily="34" charset="0"/>
                <a:ea typeface="Arial" pitchFamily="34" charset="-122"/>
                <a:cs typeface="Arial" pitchFamily="34" charset="-120"/>
              </a:rPr>
              <a:t>4</a:t>
            </a:r>
            <a:endParaRPr lang="en-US" sz="2000" dirty="0"/>
          </a:p>
        </p:txBody>
      </p:sp>
      <p:sp>
        <p:nvSpPr>
          <p:cNvPr id="22" name="Text 17"/>
          <p:cNvSpPr/>
          <p:nvPr/>
        </p:nvSpPr>
        <p:spPr>
          <a:xfrm>
            <a:off x="6195060" y="1783080"/>
            <a:ext cx="1417320" cy="640080"/>
          </a:xfrm>
          <a:prstGeom prst="rect">
            <a:avLst/>
          </a:prstGeom>
          <a:noFill/>
          <a:ln/>
        </p:spPr>
        <p:txBody>
          <a:bodyPr wrap="square" lIns="0" tIns="0" rIns="0" bIns="0" rtlCol="0" anchor="t"/>
          <a:lstStyle/>
          <a:p>
            <a:pPr algn="ctr" indent="0" marL="0">
              <a:buNone/>
            </a:pPr>
            <a:r>
              <a:rPr lang="en-US" sz="1100" dirty="0">
                <a:solidFill>
                  <a:srgbClr val="595959"/>
                </a:solidFill>
                <a:latin typeface="Arial" pitchFamily="34" charset="0"/>
                <a:ea typeface="Arial" pitchFamily="34" charset="-122"/>
                <a:cs typeface="Arial" pitchFamily="34" charset="-120"/>
              </a:rPr>
              <a:t>Dimensions</a:t>
            </a:r>
            <a:endParaRPr lang="en-US" sz="1100" dirty="0"/>
          </a:p>
          <a:p>
            <a:pPr algn="ctr" indent="0" marL="0">
              <a:buNone/>
            </a:pPr>
            <a:r>
              <a:rPr lang="en-US" sz="1100" dirty="0">
                <a:solidFill>
                  <a:srgbClr val="595959"/>
                </a:solidFill>
                <a:latin typeface="Arial" pitchFamily="34" charset="0"/>
                <a:ea typeface="Arial" pitchFamily="34" charset="-122"/>
                <a:cs typeface="Arial" pitchFamily="34" charset="-120"/>
              </a:rPr>
              <a:t>reduction</a:t>
            </a:r>
            <a:endParaRPr lang="en-US" sz="1100" dirty="0"/>
          </a:p>
        </p:txBody>
      </p:sp>
      <p:sp>
        <p:nvSpPr>
          <p:cNvPr id="23" name="Shape 18"/>
          <p:cNvSpPr/>
          <p:nvPr/>
        </p:nvSpPr>
        <p:spPr>
          <a:xfrm rot="5400000">
            <a:off x="7630668" y="1847088"/>
            <a:ext cx="164592" cy="146304"/>
          </a:xfrm>
          <a:prstGeom prst="rtTriangle">
            <a:avLst/>
          </a:prstGeom>
          <a:solidFill>
            <a:srgbClr val="8C8C8C"/>
          </a:solidFill>
          <a:ln w="12700">
            <a:solidFill>
              <a:srgbClr val="8C8C8C"/>
            </a:solidFill>
            <a:prstDash val="solid"/>
          </a:ln>
        </p:spPr>
      </p:sp>
      <p:sp>
        <p:nvSpPr>
          <p:cNvPr id="24" name="Shape 19"/>
          <p:cNvSpPr/>
          <p:nvPr/>
        </p:nvSpPr>
        <p:spPr>
          <a:xfrm>
            <a:off x="7840980" y="1280160"/>
            <a:ext cx="1417320" cy="1280160"/>
          </a:xfrm>
          <a:prstGeom prst="roundRect">
            <a:avLst>
              <a:gd name="adj" fmla="val 7143"/>
            </a:avLst>
          </a:prstGeom>
          <a:solidFill>
            <a:srgbClr val="F7F9FA"/>
          </a:solidFill>
          <a:ln w="12700">
            <a:solidFill>
              <a:srgbClr val="E1E5E8"/>
            </a:solidFill>
            <a:prstDash val="solid"/>
          </a:ln>
        </p:spPr>
      </p:sp>
      <p:sp>
        <p:nvSpPr>
          <p:cNvPr id="25" name="Text 20"/>
          <p:cNvSpPr/>
          <p:nvPr/>
        </p:nvSpPr>
        <p:spPr>
          <a:xfrm>
            <a:off x="7840980" y="1417320"/>
            <a:ext cx="1417320" cy="365760"/>
          </a:xfrm>
          <a:prstGeom prst="rect">
            <a:avLst/>
          </a:prstGeom>
          <a:noFill/>
          <a:ln/>
        </p:spPr>
        <p:txBody>
          <a:bodyPr wrap="square" lIns="0" tIns="0" rIns="0" bIns="0" rtlCol="0" anchor="ctr"/>
          <a:lstStyle/>
          <a:p>
            <a:pPr algn="ctr" indent="0" marL="0">
              <a:buNone/>
            </a:pPr>
            <a:r>
              <a:rPr lang="en-US" sz="2000" b="1" dirty="0">
                <a:solidFill>
                  <a:srgbClr val="8C8C8C"/>
                </a:solidFill>
                <a:latin typeface="Arial" pitchFamily="34" charset="0"/>
                <a:ea typeface="Arial" pitchFamily="34" charset="-122"/>
                <a:cs typeface="Arial" pitchFamily="34" charset="-120"/>
              </a:rPr>
              <a:t>5</a:t>
            </a:r>
            <a:endParaRPr lang="en-US" sz="2000" dirty="0"/>
          </a:p>
        </p:txBody>
      </p:sp>
      <p:sp>
        <p:nvSpPr>
          <p:cNvPr id="26" name="Text 21"/>
          <p:cNvSpPr/>
          <p:nvPr/>
        </p:nvSpPr>
        <p:spPr>
          <a:xfrm>
            <a:off x="7840980" y="1783080"/>
            <a:ext cx="1417320" cy="640080"/>
          </a:xfrm>
          <a:prstGeom prst="rect">
            <a:avLst/>
          </a:prstGeom>
          <a:noFill/>
          <a:ln/>
        </p:spPr>
        <p:txBody>
          <a:bodyPr wrap="square" lIns="0" tIns="0" rIns="0" bIns="0" rtlCol="0" anchor="t"/>
          <a:lstStyle/>
          <a:p>
            <a:pPr algn="ctr" indent="0" marL="0">
              <a:buNone/>
            </a:pPr>
            <a:r>
              <a:rPr lang="en-US" sz="1100" dirty="0">
                <a:solidFill>
                  <a:srgbClr val="595959"/>
                </a:solidFill>
                <a:latin typeface="Arial" pitchFamily="34" charset="0"/>
                <a:ea typeface="Arial" pitchFamily="34" charset="-122"/>
                <a:cs typeface="Arial" pitchFamily="34" charset="-120"/>
              </a:rPr>
              <a:t>Cluster</a:t>
            </a:r>
            <a:endParaRPr lang="en-US" sz="1100" dirty="0"/>
          </a:p>
          <a:p>
            <a:pPr algn="ctr" indent="0" marL="0">
              <a:buNone/>
            </a:pPr>
            <a:r>
              <a:rPr lang="en-US" sz="1100" dirty="0">
                <a:solidFill>
                  <a:srgbClr val="595959"/>
                </a:solidFill>
                <a:latin typeface="Arial" pitchFamily="34" charset="0"/>
                <a:ea typeface="Arial" pitchFamily="34" charset="-122"/>
                <a:cs typeface="Arial" pitchFamily="34" charset="-120"/>
              </a:rPr>
              <a:t>selection</a:t>
            </a:r>
            <a:endParaRPr lang="en-US" sz="1100" dirty="0"/>
          </a:p>
        </p:txBody>
      </p:sp>
      <p:sp>
        <p:nvSpPr>
          <p:cNvPr id="27" name="Shape 22"/>
          <p:cNvSpPr/>
          <p:nvPr/>
        </p:nvSpPr>
        <p:spPr>
          <a:xfrm rot="5400000">
            <a:off x="9276588" y="1847088"/>
            <a:ext cx="164592" cy="146304"/>
          </a:xfrm>
          <a:prstGeom prst="rtTriangle">
            <a:avLst/>
          </a:prstGeom>
          <a:solidFill>
            <a:srgbClr val="8C8C8C"/>
          </a:solidFill>
          <a:ln w="12700">
            <a:solidFill>
              <a:srgbClr val="8C8C8C"/>
            </a:solidFill>
            <a:prstDash val="solid"/>
          </a:ln>
        </p:spPr>
      </p:sp>
      <p:sp>
        <p:nvSpPr>
          <p:cNvPr id="28" name="Shape 23"/>
          <p:cNvSpPr/>
          <p:nvPr/>
        </p:nvSpPr>
        <p:spPr>
          <a:xfrm>
            <a:off x="9486900" y="1280160"/>
            <a:ext cx="1417320" cy="1280160"/>
          </a:xfrm>
          <a:prstGeom prst="roundRect">
            <a:avLst>
              <a:gd name="adj" fmla="val 7143"/>
            </a:avLst>
          </a:prstGeom>
          <a:solidFill>
            <a:srgbClr val="F7F9FA"/>
          </a:solidFill>
          <a:ln w="12700">
            <a:solidFill>
              <a:srgbClr val="E1E5E8"/>
            </a:solidFill>
            <a:prstDash val="solid"/>
          </a:ln>
        </p:spPr>
      </p:sp>
      <p:sp>
        <p:nvSpPr>
          <p:cNvPr id="29" name="Text 24"/>
          <p:cNvSpPr/>
          <p:nvPr/>
        </p:nvSpPr>
        <p:spPr>
          <a:xfrm>
            <a:off x="9486900" y="1417320"/>
            <a:ext cx="1417320" cy="365760"/>
          </a:xfrm>
          <a:prstGeom prst="rect">
            <a:avLst/>
          </a:prstGeom>
          <a:noFill/>
          <a:ln/>
        </p:spPr>
        <p:txBody>
          <a:bodyPr wrap="square" lIns="0" tIns="0" rIns="0" bIns="0" rtlCol="0" anchor="ctr"/>
          <a:lstStyle/>
          <a:p>
            <a:pPr algn="ctr" indent="0" marL="0">
              <a:buNone/>
            </a:pPr>
            <a:r>
              <a:rPr lang="en-US" sz="2000" b="1" dirty="0">
                <a:solidFill>
                  <a:srgbClr val="8C8C8C"/>
                </a:solidFill>
                <a:latin typeface="Arial" pitchFamily="34" charset="0"/>
                <a:ea typeface="Arial" pitchFamily="34" charset="-122"/>
                <a:cs typeface="Arial" pitchFamily="34" charset="-120"/>
              </a:rPr>
              <a:t>6</a:t>
            </a:r>
            <a:endParaRPr lang="en-US" sz="2000" dirty="0"/>
          </a:p>
        </p:txBody>
      </p:sp>
      <p:sp>
        <p:nvSpPr>
          <p:cNvPr id="30" name="Text 25"/>
          <p:cNvSpPr/>
          <p:nvPr/>
        </p:nvSpPr>
        <p:spPr>
          <a:xfrm>
            <a:off x="9486900" y="1783080"/>
            <a:ext cx="1417320" cy="640080"/>
          </a:xfrm>
          <a:prstGeom prst="rect">
            <a:avLst/>
          </a:prstGeom>
          <a:noFill/>
          <a:ln/>
        </p:spPr>
        <p:txBody>
          <a:bodyPr wrap="square" lIns="0" tIns="0" rIns="0" bIns="0" rtlCol="0" anchor="t"/>
          <a:lstStyle/>
          <a:p>
            <a:pPr algn="ctr" indent="0" marL="0">
              <a:buNone/>
            </a:pPr>
            <a:r>
              <a:rPr lang="en-US" sz="1100" dirty="0">
                <a:solidFill>
                  <a:srgbClr val="595959"/>
                </a:solidFill>
                <a:latin typeface="Arial" pitchFamily="34" charset="0"/>
                <a:ea typeface="Arial" pitchFamily="34" charset="-122"/>
                <a:cs typeface="Arial" pitchFamily="34" charset="-120"/>
              </a:rPr>
              <a:t>Cluster</a:t>
            </a:r>
            <a:endParaRPr lang="en-US" sz="1100" dirty="0"/>
          </a:p>
          <a:p>
            <a:pPr algn="ctr" indent="0" marL="0">
              <a:buNone/>
            </a:pPr>
            <a:r>
              <a:rPr lang="en-US" sz="1100" dirty="0">
                <a:solidFill>
                  <a:srgbClr val="595959"/>
                </a:solidFill>
                <a:latin typeface="Arial" pitchFamily="34" charset="0"/>
                <a:ea typeface="Arial" pitchFamily="34" charset="-122"/>
                <a:cs typeface="Arial" pitchFamily="34" charset="-120"/>
              </a:rPr>
              <a:t>validation</a:t>
            </a:r>
            <a:endParaRPr lang="en-US" sz="1100" dirty="0"/>
          </a:p>
        </p:txBody>
      </p:sp>
      <p:sp>
        <p:nvSpPr>
          <p:cNvPr id="31" name="Text 26"/>
          <p:cNvSpPr/>
          <p:nvPr/>
        </p:nvSpPr>
        <p:spPr>
          <a:xfrm>
            <a:off x="3429000" y="2724912"/>
            <a:ext cx="3657600" cy="320040"/>
          </a:xfrm>
          <a:prstGeom prst="rect">
            <a:avLst/>
          </a:prstGeom>
          <a:noFill/>
          <a:ln/>
        </p:spPr>
        <p:txBody>
          <a:bodyPr wrap="square" lIns="0" tIns="0" rIns="0" bIns="0" rtlCol="0" anchor="ctr"/>
          <a:lstStyle/>
          <a:p>
            <a:pPr algn="ctr" indent="0" marL="0">
              <a:buNone/>
            </a:pPr>
            <a:r>
              <a:rPr lang="en-US" sz="1300" b="1" i="1" dirty="0">
                <a:solidFill>
                  <a:srgbClr val="F4B400"/>
                </a:solidFill>
                <a:latin typeface="Arial" pitchFamily="34" charset="0"/>
                <a:ea typeface="Arial" pitchFamily="34" charset="-122"/>
                <a:cs typeface="Arial" pitchFamily="34" charset="-120"/>
              </a:rPr>
              <a:t>Where the project is blocked</a:t>
            </a:r>
            <a:endParaRPr lang="en-US" sz="1300" dirty="0"/>
          </a:p>
        </p:txBody>
      </p:sp>
      <p:sp>
        <p:nvSpPr>
          <p:cNvPr id="32" name="Shape 27"/>
          <p:cNvSpPr/>
          <p:nvPr/>
        </p:nvSpPr>
        <p:spPr>
          <a:xfrm>
            <a:off x="914400" y="4023360"/>
            <a:ext cx="10332720" cy="1828800"/>
          </a:xfrm>
          <a:prstGeom prst="roundRect">
            <a:avLst>
              <a:gd name="adj" fmla="val 5000"/>
            </a:avLst>
          </a:prstGeom>
          <a:solidFill>
            <a:srgbClr val="F7F9FA"/>
          </a:solidFill>
          <a:ln w="12700">
            <a:solidFill>
              <a:srgbClr val="E1E5E8"/>
            </a:solidFill>
            <a:prstDash val="solid"/>
          </a:ln>
        </p:spPr>
      </p:sp>
      <p:sp>
        <p:nvSpPr>
          <p:cNvPr id="33" name="Text 28"/>
          <p:cNvSpPr/>
          <p:nvPr/>
        </p:nvSpPr>
        <p:spPr>
          <a:xfrm>
            <a:off x="1280160" y="4251960"/>
            <a:ext cx="9601200" cy="365760"/>
          </a:xfrm>
          <a:prstGeom prst="rect">
            <a:avLst/>
          </a:prstGeom>
          <a:noFill/>
          <a:ln/>
        </p:spPr>
        <p:txBody>
          <a:bodyPr wrap="square" lIns="0" tIns="0" rIns="0" bIns="0" rtlCol="0" anchor="ctr"/>
          <a:lstStyle/>
          <a:p>
            <a:pPr indent="0" marL="0">
              <a:buNone/>
            </a:pPr>
            <a:r>
              <a:rPr lang="en-US" sz="1600" b="1" dirty="0">
                <a:solidFill>
                  <a:srgbClr val="00915A"/>
                </a:solidFill>
                <a:latin typeface="Arial" pitchFamily="34" charset="0"/>
                <a:ea typeface="Arial" pitchFamily="34" charset="-122"/>
                <a:cs typeface="Arial" pitchFamily="34" charset="-120"/>
              </a:rPr>
              <a:t>Step 3 — Semantic adjustment is where we need your help</a:t>
            </a:r>
            <a:endParaRPr lang="en-US" sz="1600" dirty="0"/>
          </a:p>
        </p:txBody>
      </p:sp>
      <p:sp>
        <p:nvSpPr>
          <p:cNvPr id="34" name="Text 29"/>
          <p:cNvSpPr/>
          <p:nvPr/>
        </p:nvSpPr>
        <p:spPr>
          <a:xfrm>
            <a:off x="1280160" y="4663440"/>
            <a:ext cx="9601200" cy="1097280"/>
          </a:xfrm>
          <a:prstGeom prst="rect">
            <a:avLst/>
          </a:prstGeom>
          <a:noFill/>
          <a:ln/>
        </p:spPr>
        <p:txBody>
          <a:bodyPr wrap="square" lIns="0" tIns="0" rIns="0" bIns="0" rtlCol="0" anchor="t"/>
          <a:lstStyle/>
          <a:p>
            <a:pPr indent="0" marL="0">
              <a:spcAft>
                <a:spcPts val="400"/>
              </a:spcAft>
              <a:buNone/>
            </a:pPr>
            <a:r>
              <a:rPr lang="en-US" sz="1300" dirty="0">
                <a:solidFill>
                  <a:srgbClr val="262626"/>
                </a:solidFill>
                <a:latin typeface="Arial" pitchFamily="34" charset="0"/>
                <a:ea typeface="Arial" pitchFamily="34" charset="-122"/>
                <a:cs typeface="Arial" pitchFamily="34" charset="-120"/>
              </a:rPr>
              <a:t>This step converts cleaned text into semantic vectors using a pre-trained NLP model — it's what allows the pipeline to recognize that incidents with different wording but the same root cause should be grouped together.</a:t>
            </a:r>
            <a:endParaRPr lang="en-US" sz="1300" dirty="0"/>
          </a:p>
          <a:p>
            <a:pPr indent="0" marL="0">
              <a:spcAft>
                <a:spcPts val="400"/>
              </a:spcAft>
              <a:buNone/>
            </a:pPr>
            <a:r>
              <a:rPr lang="en-US" sz="600" dirty="0">
                <a:solidFill>
                  <a:srgbClr val="262626"/>
                </a:solidFill>
                <a:latin typeface="Arial" pitchFamily="34" charset="0"/>
                <a:ea typeface="Arial" pitchFamily="34" charset="-122"/>
                <a:cs typeface="Arial" pitchFamily="34" charset="-120"/>
              </a:rPr>
              <a:t> </a:t>
            </a:r>
            <a:endParaRPr lang="en-US" sz="1300" dirty="0"/>
          </a:p>
          <a:p>
            <a:pPr indent="0" marL="0">
              <a:spcAft>
                <a:spcPts val="400"/>
              </a:spcAft>
              <a:buNone/>
            </a:pPr>
            <a:r>
              <a:rPr lang="en-US" sz="1300" dirty="0">
                <a:solidFill>
                  <a:srgbClr val="262626"/>
                </a:solidFill>
                <a:latin typeface="Arial" pitchFamily="34" charset="0"/>
                <a:ea typeface="Arial" pitchFamily="34" charset="-122"/>
                <a:cs typeface="Arial" pitchFamily="34" charset="-120"/>
              </a:rPr>
              <a:t>The other steps run on standard libraries already available in our Dataiku environment (scikit-learn, spaCy). </a:t>
            </a:r>
            <a:pPr indent="0" marL="0">
              <a:spcAft>
                <a:spcPts val="400"/>
              </a:spcAft>
              <a:buNone/>
            </a:pPr>
            <a:r>
              <a:rPr lang="en-US" sz="1300" b="1" dirty="0">
                <a:solidFill>
                  <a:srgbClr val="262626"/>
                </a:solidFill>
                <a:latin typeface="Arial" pitchFamily="34" charset="0"/>
                <a:ea typeface="Arial" pitchFamily="34" charset="-122"/>
                <a:cs typeface="Arial" pitchFamily="34" charset="-120"/>
              </a:rPr>
              <a:t>The model required for step 3 is the only external dependency we cannot resolve internally so far.</a:t>
            </a:r>
            <a:endParaRPr lang="en-US" sz="1300" dirty="0"/>
          </a:p>
        </p:txBody>
      </p:sp>
      <p:sp>
        <p:nvSpPr>
          <p:cNvPr id="35" name="Text 30"/>
          <p:cNvSpPr/>
          <p:nvPr/>
        </p:nvSpPr>
        <p:spPr>
          <a:xfrm>
            <a:off x="548640" y="6355080"/>
            <a:ext cx="1828800" cy="274320"/>
          </a:xfrm>
          <a:prstGeom prst="rect">
            <a:avLst/>
          </a:prstGeom>
          <a:noFill/>
          <a:ln/>
        </p:spPr>
        <p:txBody>
          <a:bodyPr wrap="square" lIns="0" tIns="0" rIns="0" bIns="0" rtlCol="0" anchor="ctr"/>
          <a:lstStyle/>
          <a:p>
            <a:pPr indent="0" marL="0">
              <a:buNone/>
            </a:pPr>
            <a:r>
              <a:rPr lang="en-US" sz="1100" b="1" dirty="0">
                <a:solidFill>
                  <a:srgbClr val="262626"/>
                </a:solidFill>
                <a:latin typeface="Arial" pitchFamily="34" charset="0"/>
                <a:ea typeface="Arial" pitchFamily="34" charset="-122"/>
                <a:cs typeface="Arial" pitchFamily="34" charset="-120"/>
              </a:rPr>
              <a:t>BNP PARIBAS</a:t>
            </a:r>
            <a:endParaRPr lang="en-US" sz="1100" dirty="0"/>
          </a:p>
        </p:txBody>
      </p:sp>
      <p:sp>
        <p:nvSpPr>
          <p:cNvPr id="36" name="Text 31"/>
          <p:cNvSpPr/>
          <p:nvPr/>
        </p:nvSpPr>
        <p:spPr>
          <a:xfrm>
            <a:off x="4709160" y="6355080"/>
            <a:ext cx="2743200" cy="274320"/>
          </a:xfrm>
          <a:prstGeom prst="rect">
            <a:avLst/>
          </a:prstGeom>
          <a:noFill/>
          <a:ln/>
        </p:spPr>
        <p:txBody>
          <a:bodyPr wrap="square" lIns="0" tIns="0" rIns="0" bIns="0" rtlCol="0" anchor="ctr"/>
          <a:lstStyle/>
          <a:p>
            <a:pPr algn="ctr" indent="0" marL="0">
              <a:buNone/>
            </a:pPr>
            <a:r>
              <a:rPr lang="en-US" sz="1000" i="1" dirty="0">
                <a:solidFill>
                  <a:srgbClr val="262626"/>
                </a:solidFill>
                <a:latin typeface="Arial" pitchFamily="34" charset="0"/>
                <a:ea typeface="Arial" pitchFamily="34" charset="-122"/>
                <a:cs typeface="Arial" pitchFamily="34" charset="-120"/>
              </a:rPr>
              <a:t>The bank for a changing world</a:t>
            </a:r>
            <a:endParaRPr lang="en-US" sz="1000" dirty="0"/>
          </a:p>
        </p:txBody>
      </p:sp>
      <p:sp>
        <p:nvSpPr>
          <p:cNvPr id="37" name="Text 32"/>
          <p:cNvSpPr/>
          <p:nvPr/>
        </p:nvSpPr>
        <p:spPr>
          <a:xfrm>
            <a:off x="10789920" y="6309360"/>
            <a:ext cx="914400" cy="228600"/>
          </a:xfrm>
          <a:prstGeom prst="rect">
            <a:avLst/>
          </a:prstGeom>
          <a:noFill/>
          <a:ln/>
        </p:spPr>
        <p:txBody>
          <a:bodyPr wrap="square" lIns="0" tIns="0" rIns="0" bIns="0" rtlCol="0" anchor="ctr"/>
          <a:lstStyle/>
          <a:p>
            <a:pPr algn="r" indent="0" marL="0">
              <a:buNone/>
            </a:pPr>
            <a:r>
              <a:rPr lang="en-US" sz="1100" b="1" dirty="0">
                <a:solidFill>
                  <a:srgbClr val="262626"/>
                </a:solidFill>
                <a:latin typeface="Arial" pitchFamily="34" charset="0"/>
                <a:ea typeface="Arial" pitchFamily="34" charset="-122"/>
                <a:cs typeface="Arial" pitchFamily="34" charset="-120"/>
              </a:rPr>
              <a:t>8</a:t>
            </a:r>
            <a:endParaRPr lang="en-US" sz="1100" dirty="0"/>
          </a:p>
        </p:txBody>
      </p:sp>
      <p:sp>
        <p:nvSpPr>
          <p:cNvPr id="38" name="Text 33"/>
          <p:cNvSpPr/>
          <p:nvPr/>
        </p:nvSpPr>
        <p:spPr>
          <a:xfrm>
            <a:off x="9875520" y="6537960"/>
            <a:ext cx="1828800" cy="228600"/>
          </a:xfrm>
          <a:prstGeom prst="rect">
            <a:avLst/>
          </a:prstGeom>
          <a:noFill/>
          <a:ln/>
        </p:spPr>
        <p:txBody>
          <a:bodyPr wrap="square" lIns="0" tIns="0" rIns="0" bIns="0" rtlCol="0" anchor="ctr"/>
          <a:lstStyle/>
          <a:p>
            <a:pPr algn="r" indent="0" marL="0">
              <a:buNone/>
            </a:pPr>
            <a:r>
              <a:rPr lang="en-US" sz="900" dirty="0">
                <a:solidFill>
                  <a:srgbClr val="4472C4"/>
                </a:solidFill>
                <a:latin typeface="Arial" pitchFamily="34" charset="0"/>
                <a:ea typeface="Arial" pitchFamily="34" charset="-122"/>
                <a:cs typeface="Arial" pitchFamily="34" charset="-120"/>
              </a:rPr>
              <a:t>Classification : Internal</a:t>
            </a:r>
            <a:endParaRPr lang="en-US" sz="900" dirty="0"/>
          </a:p>
        </p:txBody>
      </p:sp>
      <p:sp>
        <p:nvSpPr>
          <p:cNvPr id="39" name="Shape 34"/>
          <p:cNvSpPr/>
          <p:nvPr/>
        </p:nvSpPr>
        <p:spPr>
          <a:xfrm>
            <a:off x="548640" y="6217920"/>
            <a:ext cx="11064240" cy="0"/>
          </a:xfrm>
          <a:prstGeom prst="line">
            <a:avLst/>
          </a:prstGeom>
          <a:noFill/>
          <a:ln w="9525">
            <a:solidFill>
              <a:srgbClr val="E1E5E8"/>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0789920" y="320040"/>
            <a:ext cx="1005840" cy="457200"/>
          </a:xfrm>
          <a:prstGeom prst="rect">
            <a:avLst/>
          </a:prstGeom>
          <a:noFill/>
          <a:ln/>
        </p:spPr>
        <p:txBody>
          <a:bodyPr wrap="square" lIns="0" tIns="0" rIns="0" bIns="0" rtlCol="0" anchor="ctr"/>
          <a:lstStyle/>
          <a:p>
            <a:pPr algn="r" indent="0" marL="0">
              <a:buNone/>
            </a:pPr>
            <a:r>
              <a:rPr lang="en-US" sz="2800" b="1" dirty="0">
                <a:solidFill>
                  <a:srgbClr val="00915A"/>
                </a:solidFill>
                <a:latin typeface="Arial" pitchFamily="34" charset="0"/>
                <a:ea typeface="Arial" pitchFamily="34" charset="-122"/>
                <a:cs typeface="Arial" pitchFamily="34" charset="-120"/>
              </a:rPr>
              <a:t>RISK</a:t>
            </a:r>
            <a:endParaRPr lang="en-US" sz="2800" dirty="0"/>
          </a:p>
        </p:txBody>
      </p:sp>
      <p:sp>
        <p:nvSpPr>
          <p:cNvPr id="3" name="Shape 1"/>
          <p:cNvSpPr/>
          <p:nvPr/>
        </p:nvSpPr>
        <p:spPr>
          <a:xfrm>
            <a:off x="10789920" y="749808"/>
            <a:ext cx="1005840" cy="0"/>
          </a:xfrm>
          <a:prstGeom prst="line">
            <a:avLst/>
          </a:prstGeom>
          <a:noFill/>
          <a:ln w="25400">
            <a:solidFill>
              <a:srgbClr val="00915A"/>
            </a:solidFill>
            <a:prstDash val="solid"/>
          </a:ln>
        </p:spPr>
      </p:sp>
      <p:sp>
        <p:nvSpPr>
          <p:cNvPr id="4" name="Text 2"/>
          <p:cNvSpPr/>
          <p:nvPr/>
        </p:nvSpPr>
        <p:spPr>
          <a:xfrm>
            <a:off x="548640" y="274320"/>
            <a:ext cx="9601200" cy="640080"/>
          </a:xfrm>
          <a:prstGeom prst="rect">
            <a:avLst/>
          </a:prstGeom>
          <a:noFill/>
          <a:ln/>
        </p:spPr>
        <p:txBody>
          <a:bodyPr wrap="square" lIns="0" tIns="0" rIns="0" bIns="0" rtlCol="0" anchor="ctr"/>
          <a:lstStyle/>
          <a:p>
            <a:pPr indent="0" marL="0">
              <a:buNone/>
            </a:pPr>
            <a:r>
              <a:rPr lang="en-US" sz="3200" b="1" dirty="0">
                <a:solidFill>
                  <a:srgbClr val="00915A"/>
                </a:solidFill>
                <a:latin typeface="Arial" pitchFamily="34" charset="0"/>
                <a:ea typeface="Arial" pitchFamily="34" charset="-122"/>
                <a:cs typeface="Arial" pitchFamily="34" charset="-120"/>
              </a:rPr>
              <a:t>Our Request</a:t>
            </a:r>
            <a:endParaRPr lang="en-US" sz="3200" dirty="0"/>
          </a:p>
        </p:txBody>
      </p:sp>
      <p:sp>
        <p:nvSpPr>
          <p:cNvPr id="5" name="Shape 3"/>
          <p:cNvSpPr/>
          <p:nvPr/>
        </p:nvSpPr>
        <p:spPr>
          <a:xfrm>
            <a:off x="548640" y="1188720"/>
            <a:ext cx="5349240" cy="4846320"/>
          </a:xfrm>
          <a:prstGeom prst="roundRect">
            <a:avLst>
              <a:gd name="adj" fmla="val 1887"/>
            </a:avLst>
          </a:prstGeom>
          <a:solidFill>
            <a:srgbClr val="F7F9FA"/>
          </a:solidFill>
          <a:ln w="12700">
            <a:solidFill>
              <a:srgbClr val="E1E5E8"/>
            </a:solidFill>
            <a:prstDash val="solid"/>
          </a:ln>
        </p:spPr>
      </p:sp>
      <p:pic>
        <p:nvPicPr>
          <p:cNvPr id="6" name="Image 0" descr="preencoded.png">    </p:cNvPr>
          <p:cNvPicPr>
            <a:picLocks noChangeAspect="1"/>
          </p:cNvPicPr>
          <p:nvPr/>
        </p:nvPicPr>
        <p:blipFill>
          <a:blip r:embed="rId1"/>
          <a:stretch>
            <a:fillRect/>
          </a:stretch>
        </p:blipFill>
        <p:spPr>
          <a:xfrm>
            <a:off x="914400" y="1508760"/>
            <a:ext cx="274320" cy="274320"/>
          </a:xfrm>
          <a:prstGeom prst="rect">
            <a:avLst/>
          </a:prstGeom>
        </p:spPr>
      </p:pic>
      <p:sp>
        <p:nvSpPr>
          <p:cNvPr id="7" name="Text 4"/>
          <p:cNvSpPr/>
          <p:nvPr/>
        </p:nvSpPr>
        <p:spPr>
          <a:xfrm>
            <a:off x="1325880" y="1463040"/>
            <a:ext cx="4251960" cy="365760"/>
          </a:xfrm>
          <a:prstGeom prst="rect">
            <a:avLst/>
          </a:prstGeom>
          <a:noFill/>
          <a:ln/>
        </p:spPr>
        <p:txBody>
          <a:bodyPr wrap="square" lIns="0" tIns="0" rIns="0" bIns="0" rtlCol="0" anchor="ctr"/>
          <a:lstStyle/>
          <a:p>
            <a:pPr indent="0" marL="0">
              <a:buNone/>
            </a:pPr>
            <a:r>
              <a:rPr lang="en-US" sz="1800" b="1" dirty="0">
                <a:solidFill>
                  <a:srgbClr val="1F3864"/>
                </a:solidFill>
                <a:latin typeface="Arial" pitchFamily="34" charset="0"/>
                <a:ea typeface="Arial" pitchFamily="34" charset="-122"/>
                <a:cs typeface="Arial" pitchFamily="34" charset="-120"/>
              </a:rPr>
              <a:t>Model Needed</a:t>
            </a:r>
            <a:endParaRPr lang="en-US" sz="1800" dirty="0"/>
          </a:p>
        </p:txBody>
      </p:sp>
      <p:sp>
        <p:nvSpPr>
          <p:cNvPr id="8" name="Shape 5"/>
          <p:cNvSpPr/>
          <p:nvPr/>
        </p:nvSpPr>
        <p:spPr>
          <a:xfrm>
            <a:off x="914400" y="1965960"/>
            <a:ext cx="4617720" cy="0"/>
          </a:xfrm>
          <a:prstGeom prst="line">
            <a:avLst/>
          </a:prstGeom>
          <a:noFill/>
          <a:ln w="12700">
            <a:solidFill>
              <a:srgbClr val="E1E5E8"/>
            </a:solidFill>
            <a:prstDash val="solid"/>
          </a:ln>
        </p:spPr>
      </p:sp>
      <p:sp>
        <p:nvSpPr>
          <p:cNvPr id="9" name="Text 6"/>
          <p:cNvSpPr/>
          <p:nvPr/>
        </p:nvSpPr>
        <p:spPr>
          <a:xfrm>
            <a:off x="914400" y="2103120"/>
            <a:ext cx="4617720" cy="228600"/>
          </a:xfrm>
          <a:prstGeom prst="rect">
            <a:avLst/>
          </a:prstGeom>
          <a:noFill/>
          <a:ln/>
        </p:spPr>
        <p:txBody>
          <a:bodyPr wrap="square" lIns="0" tIns="0" rIns="0" bIns="0" rtlCol="0" anchor="ctr"/>
          <a:lstStyle/>
          <a:p>
            <a:pPr indent="0" marL="0">
              <a:buNone/>
            </a:pPr>
            <a:r>
              <a:rPr lang="en-US" sz="1000" b="1" spc="200" kern="0" dirty="0">
                <a:solidFill>
                  <a:srgbClr val="00915A"/>
                </a:solidFill>
                <a:latin typeface="Arial" pitchFamily="34" charset="0"/>
                <a:ea typeface="Arial" pitchFamily="34" charset="-122"/>
                <a:cs typeface="Arial" pitchFamily="34" charset="-120"/>
              </a:rPr>
              <a:t>PRIMARY</a:t>
            </a:r>
            <a:endParaRPr lang="en-US" sz="1000" dirty="0"/>
          </a:p>
        </p:txBody>
      </p:sp>
      <p:sp>
        <p:nvSpPr>
          <p:cNvPr id="10" name="Text 7"/>
          <p:cNvSpPr/>
          <p:nvPr/>
        </p:nvSpPr>
        <p:spPr>
          <a:xfrm>
            <a:off x="914400" y="2377440"/>
            <a:ext cx="4617720" cy="320040"/>
          </a:xfrm>
          <a:prstGeom prst="rect">
            <a:avLst/>
          </a:prstGeom>
          <a:noFill/>
          <a:ln/>
        </p:spPr>
        <p:txBody>
          <a:bodyPr wrap="square" lIns="0" tIns="0" rIns="0" bIns="0" rtlCol="0" anchor="ctr"/>
          <a:lstStyle/>
          <a:p>
            <a:pPr indent="0" marL="0">
              <a:buNone/>
            </a:pPr>
            <a:r>
              <a:rPr lang="en-US" sz="1400" b="1" dirty="0">
                <a:solidFill>
                  <a:srgbClr val="262626"/>
                </a:solidFill>
                <a:latin typeface="Courier New" pitchFamily="34" charset="0"/>
                <a:ea typeface="Courier New" pitchFamily="34" charset="-122"/>
                <a:cs typeface="Courier New" pitchFamily="34" charset="-120"/>
              </a:rPr>
              <a:t>sentence-transformers/all-mpnet-base-v2</a:t>
            </a:r>
            <a:endParaRPr lang="en-US" sz="1400" dirty="0"/>
          </a:p>
        </p:txBody>
      </p:sp>
      <p:sp>
        <p:nvSpPr>
          <p:cNvPr id="11" name="Text 8"/>
          <p:cNvSpPr/>
          <p:nvPr/>
        </p:nvSpPr>
        <p:spPr>
          <a:xfrm>
            <a:off x="914400" y="2743200"/>
            <a:ext cx="4617720" cy="777240"/>
          </a:xfrm>
          <a:prstGeom prst="rect">
            <a:avLst/>
          </a:prstGeom>
          <a:noFill/>
          <a:ln/>
        </p:spPr>
        <p:txBody>
          <a:bodyPr wrap="square" lIns="0" tIns="0" rIns="0" bIns="0" rtlCol="0" anchor="t"/>
          <a:lstStyle/>
          <a:p>
            <a:pPr indent="0" marL="0">
              <a:buNone/>
            </a:pPr>
            <a:r>
              <a:rPr lang="en-US" sz="1100" dirty="0">
                <a:solidFill>
                  <a:srgbClr val="595959"/>
                </a:solidFill>
                <a:latin typeface="Arial" pitchFamily="34" charset="0"/>
                <a:ea typeface="Arial" pitchFamily="34" charset="-122"/>
                <a:cs typeface="Arial" pitchFamily="34" charset="-120"/>
              </a:rPr>
              <a:t>Sentence-transformer model from Hugging Face. Produces high-quality semantic embeddings for English text — well suited since our corpus is translated to English upstream.</a:t>
            </a:r>
            <a:endParaRPr lang="en-US" sz="1100" dirty="0"/>
          </a:p>
        </p:txBody>
      </p:sp>
      <p:sp>
        <p:nvSpPr>
          <p:cNvPr id="12" name="Text 9"/>
          <p:cNvSpPr/>
          <p:nvPr/>
        </p:nvSpPr>
        <p:spPr>
          <a:xfrm>
            <a:off x="914400" y="3657600"/>
            <a:ext cx="4617720" cy="228600"/>
          </a:xfrm>
          <a:prstGeom prst="rect">
            <a:avLst/>
          </a:prstGeom>
          <a:noFill/>
          <a:ln/>
        </p:spPr>
        <p:txBody>
          <a:bodyPr wrap="square" lIns="0" tIns="0" rIns="0" bIns="0" rtlCol="0" anchor="ctr"/>
          <a:lstStyle/>
          <a:p>
            <a:pPr indent="0" marL="0">
              <a:buNone/>
            </a:pPr>
            <a:r>
              <a:rPr lang="en-US" sz="1000" b="1" spc="200" kern="0" dirty="0">
                <a:solidFill>
                  <a:srgbClr val="595959"/>
                </a:solidFill>
                <a:latin typeface="Arial" pitchFamily="34" charset="0"/>
                <a:ea typeface="Arial" pitchFamily="34" charset="-122"/>
                <a:cs typeface="Arial" pitchFamily="34" charset="-120"/>
              </a:rPr>
              <a:t>NICE TO HAVE</a:t>
            </a:r>
            <a:endParaRPr lang="en-US" sz="1000" dirty="0"/>
          </a:p>
        </p:txBody>
      </p:sp>
      <p:sp>
        <p:nvSpPr>
          <p:cNvPr id="13" name="Text 10"/>
          <p:cNvSpPr/>
          <p:nvPr/>
        </p:nvSpPr>
        <p:spPr>
          <a:xfrm>
            <a:off x="914400" y="3931920"/>
            <a:ext cx="4617720" cy="320040"/>
          </a:xfrm>
          <a:prstGeom prst="rect">
            <a:avLst/>
          </a:prstGeom>
          <a:noFill/>
          <a:ln/>
        </p:spPr>
        <p:txBody>
          <a:bodyPr wrap="square" lIns="0" tIns="0" rIns="0" bIns="0" rtlCol="0" anchor="ctr"/>
          <a:lstStyle/>
          <a:p>
            <a:pPr indent="0" marL="0">
              <a:buNone/>
            </a:pPr>
            <a:r>
              <a:rPr lang="en-US" sz="1400" b="1" dirty="0">
                <a:solidFill>
                  <a:srgbClr val="262626"/>
                </a:solidFill>
                <a:latin typeface="Courier New" pitchFamily="34" charset="0"/>
                <a:ea typeface="Courier New" pitchFamily="34" charset="-122"/>
                <a:cs typeface="Courier New" pitchFamily="34" charset="-120"/>
              </a:rPr>
              <a:t>sentence-transformers/LaBSE</a:t>
            </a:r>
            <a:endParaRPr lang="en-US" sz="1400" dirty="0"/>
          </a:p>
        </p:txBody>
      </p:sp>
      <p:sp>
        <p:nvSpPr>
          <p:cNvPr id="14" name="Text 11"/>
          <p:cNvSpPr/>
          <p:nvPr/>
        </p:nvSpPr>
        <p:spPr>
          <a:xfrm>
            <a:off x="914400" y="4297680"/>
            <a:ext cx="4617720" cy="777240"/>
          </a:xfrm>
          <a:prstGeom prst="rect">
            <a:avLst/>
          </a:prstGeom>
          <a:noFill/>
          <a:ln/>
        </p:spPr>
        <p:txBody>
          <a:bodyPr wrap="square" lIns="0" tIns="0" rIns="0" bIns="0" rtlCol="0" anchor="t"/>
          <a:lstStyle/>
          <a:p>
            <a:pPr indent="0" marL="0">
              <a:buNone/>
            </a:pPr>
            <a:r>
              <a:rPr lang="en-US" sz="1100" dirty="0">
                <a:solidFill>
                  <a:srgbClr val="595959"/>
                </a:solidFill>
                <a:latin typeface="Arial" pitchFamily="34" charset="0"/>
                <a:ea typeface="Arial" pitchFamily="34" charset="-122"/>
                <a:cs typeface="Arial" pitchFamily="34" charset="-120"/>
              </a:rPr>
              <a:t>Multilingual variant — would let us experiment with embedding French/Italian directly and potentially remove the translation step in the future.</a:t>
            </a:r>
            <a:endParaRPr lang="en-US" sz="1100" dirty="0"/>
          </a:p>
        </p:txBody>
      </p:sp>
      <p:sp>
        <p:nvSpPr>
          <p:cNvPr id="15" name="Text 12"/>
          <p:cNvSpPr/>
          <p:nvPr/>
        </p:nvSpPr>
        <p:spPr>
          <a:xfrm>
            <a:off x="914400" y="5212080"/>
            <a:ext cx="4617720" cy="685800"/>
          </a:xfrm>
          <a:prstGeom prst="rect">
            <a:avLst/>
          </a:prstGeom>
          <a:noFill/>
          <a:ln/>
        </p:spPr>
        <p:txBody>
          <a:bodyPr wrap="square" lIns="0" tIns="0" rIns="0" bIns="0" rtlCol="0" anchor="t"/>
          <a:lstStyle/>
          <a:p>
            <a:pPr indent="0" marL="0">
              <a:buNone/>
            </a:pPr>
            <a:r>
              <a:rPr lang="en-US" sz="1000" b="1" dirty="0">
                <a:solidFill>
                  <a:srgbClr val="8C8C8C"/>
                </a:solidFill>
                <a:latin typeface="Arial" pitchFamily="34" charset="0"/>
                <a:ea typeface="Arial" pitchFamily="34" charset="-122"/>
                <a:cs typeface="Arial" pitchFamily="34" charset="-120"/>
              </a:rPr>
              <a:t>Source: </a:t>
            </a:r>
            <a:pPr indent="0" marL="0">
              <a:buNone/>
            </a:pPr>
            <a:r>
              <a:rPr lang="en-US" sz="1000" i="1" dirty="0">
                <a:solidFill>
                  <a:srgbClr val="8C8C8C"/>
                </a:solidFill>
                <a:latin typeface="Arial" pitchFamily="34" charset="0"/>
                <a:ea typeface="Arial" pitchFamily="34" charset="-122"/>
                <a:cs typeface="Arial" pitchFamily="34" charset="-120"/>
              </a:rPr>
              <a:t>Hugging Face. Both models are also referenced in the BNPP ModelHub catalogue, but we understand ModelHub is not the right access channel for Dataiku.</a:t>
            </a:r>
            <a:endParaRPr lang="en-US" sz="1000" dirty="0"/>
          </a:p>
        </p:txBody>
      </p:sp>
      <p:sp>
        <p:nvSpPr>
          <p:cNvPr id="16" name="Shape 13"/>
          <p:cNvSpPr/>
          <p:nvPr/>
        </p:nvSpPr>
        <p:spPr>
          <a:xfrm>
            <a:off x="6263640" y="1188720"/>
            <a:ext cx="5349240" cy="4846320"/>
          </a:xfrm>
          <a:prstGeom prst="roundRect">
            <a:avLst>
              <a:gd name="adj" fmla="val 1887"/>
            </a:avLst>
          </a:prstGeom>
          <a:solidFill>
            <a:srgbClr val="F7F9FA"/>
          </a:solidFill>
          <a:ln w="12700">
            <a:solidFill>
              <a:srgbClr val="E1E5E8"/>
            </a:solidFill>
            <a:prstDash val="solid"/>
          </a:ln>
        </p:spPr>
      </p:sp>
      <p:pic>
        <p:nvPicPr>
          <p:cNvPr id="17" name="Image 1" descr="preencoded.png">    </p:cNvPr>
          <p:cNvPicPr>
            <a:picLocks noChangeAspect="1"/>
          </p:cNvPicPr>
          <p:nvPr/>
        </p:nvPicPr>
        <p:blipFill>
          <a:blip r:embed="rId2"/>
          <a:stretch>
            <a:fillRect/>
          </a:stretch>
        </p:blipFill>
        <p:spPr>
          <a:xfrm>
            <a:off x="6629400" y="1508760"/>
            <a:ext cx="274320" cy="274320"/>
          </a:xfrm>
          <a:prstGeom prst="rect">
            <a:avLst/>
          </a:prstGeom>
        </p:spPr>
      </p:pic>
      <p:sp>
        <p:nvSpPr>
          <p:cNvPr id="18" name="Text 14"/>
          <p:cNvSpPr/>
          <p:nvPr/>
        </p:nvSpPr>
        <p:spPr>
          <a:xfrm>
            <a:off x="7040880" y="1463040"/>
            <a:ext cx="4251960" cy="365760"/>
          </a:xfrm>
          <a:prstGeom prst="rect">
            <a:avLst/>
          </a:prstGeom>
          <a:noFill/>
          <a:ln/>
        </p:spPr>
        <p:txBody>
          <a:bodyPr wrap="square" lIns="0" tIns="0" rIns="0" bIns="0" rtlCol="0" anchor="ctr"/>
          <a:lstStyle/>
          <a:p>
            <a:pPr indent="0" marL="0">
              <a:buNone/>
            </a:pPr>
            <a:r>
              <a:rPr lang="en-US" sz="1800" b="1" dirty="0">
                <a:solidFill>
                  <a:srgbClr val="1F3864"/>
                </a:solidFill>
                <a:latin typeface="Arial" pitchFamily="34" charset="0"/>
                <a:ea typeface="Arial" pitchFamily="34" charset="-122"/>
                <a:cs typeface="Arial" pitchFamily="34" charset="-120"/>
              </a:rPr>
              <a:t>Open Questions</a:t>
            </a:r>
            <a:endParaRPr lang="en-US" sz="1800" dirty="0"/>
          </a:p>
        </p:txBody>
      </p:sp>
      <p:sp>
        <p:nvSpPr>
          <p:cNvPr id="19" name="Shape 15"/>
          <p:cNvSpPr/>
          <p:nvPr/>
        </p:nvSpPr>
        <p:spPr>
          <a:xfrm>
            <a:off x="6629400" y="1965960"/>
            <a:ext cx="4617720" cy="0"/>
          </a:xfrm>
          <a:prstGeom prst="line">
            <a:avLst/>
          </a:prstGeom>
          <a:noFill/>
          <a:ln w="12700">
            <a:solidFill>
              <a:srgbClr val="E1E5E8"/>
            </a:solidFill>
            <a:prstDash val="solid"/>
          </a:ln>
        </p:spPr>
      </p:sp>
      <p:sp>
        <p:nvSpPr>
          <p:cNvPr id="20" name="Text 16"/>
          <p:cNvSpPr/>
          <p:nvPr/>
        </p:nvSpPr>
        <p:spPr>
          <a:xfrm>
            <a:off x="6629400" y="2103120"/>
            <a:ext cx="4617720" cy="274320"/>
          </a:xfrm>
          <a:prstGeom prst="rect">
            <a:avLst/>
          </a:prstGeom>
          <a:noFill/>
          <a:ln/>
        </p:spPr>
        <p:txBody>
          <a:bodyPr wrap="square" lIns="0" tIns="0" rIns="0" bIns="0" rtlCol="0" anchor="ctr"/>
          <a:lstStyle/>
          <a:p>
            <a:pPr indent="0" marL="0">
              <a:buNone/>
            </a:pPr>
            <a:r>
              <a:rPr lang="en-US" sz="1200" i="1" dirty="0">
                <a:solidFill>
                  <a:srgbClr val="595959"/>
                </a:solidFill>
                <a:latin typeface="Arial" pitchFamily="34" charset="0"/>
                <a:ea typeface="Arial" pitchFamily="34" charset="-122"/>
                <a:cs typeface="Arial" pitchFamily="34" charset="-120"/>
              </a:rPr>
              <a:t>What we'd like to discuss together:</a:t>
            </a:r>
            <a:endParaRPr lang="en-US" sz="1200" dirty="0"/>
          </a:p>
        </p:txBody>
      </p:sp>
      <p:sp>
        <p:nvSpPr>
          <p:cNvPr id="21" name="Text 17"/>
          <p:cNvSpPr/>
          <p:nvPr/>
        </p:nvSpPr>
        <p:spPr>
          <a:xfrm>
            <a:off x="6629400" y="2514600"/>
            <a:ext cx="4617720" cy="338328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rgbClr val="262626"/>
                </a:solidFill>
                <a:latin typeface="Arial" pitchFamily="34" charset="0"/>
                <a:ea typeface="Arial" pitchFamily="34" charset="-122"/>
                <a:cs typeface="Arial" pitchFamily="34" charset="-120"/>
              </a:rPr>
              <a:t>What is the standard process at BNPP to make an external (Hugging Face) NLP model available inside Dataiku?</a:t>
            </a:r>
            <a:endParaRPr lang="en-US" sz="1200" dirty="0"/>
          </a:p>
          <a:p>
            <a:pPr indent="0" marL="0">
              <a:spcAft>
                <a:spcPts val="400"/>
              </a:spcAft>
              <a:buNone/>
            </a:pPr>
            <a:r>
              <a:rPr lang="en-US" sz="600" dirty="0">
                <a:solidFill>
                  <a:srgbClr val="262626"/>
                </a:solidFill>
                <a:latin typeface="Arial" pitchFamily="34" charset="0"/>
                <a:ea typeface="Arial" pitchFamily="34" charset="-122"/>
                <a:cs typeface="Arial" pitchFamily="34" charset="-120"/>
              </a:rPr>
              <a:t> </a:t>
            </a:r>
            <a:endParaRPr lang="en-US" sz="1200" dirty="0"/>
          </a:p>
          <a:p>
            <a:pPr marL="342900" indent="-342900">
              <a:spcAft>
                <a:spcPts val="400"/>
              </a:spcAft>
              <a:buSzPct val="100000"/>
              <a:buChar char="■"/>
            </a:pPr>
            <a:r>
              <a:rPr lang="en-US" sz="1200" dirty="0">
                <a:solidFill>
                  <a:srgbClr val="262626"/>
                </a:solidFill>
                <a:latin typeface="Arial" pitchFamily="34" charset="0"/>
                <a:ea typeface="Arial" pitchFamily="34" charset="-122"/>
                <a:cs typeface="Arial" pitchFamily="34" charset="-120"/>
              </a:rPr>
              <a:t>Are there security or compliance constraints we should anticipate?</a:t>
            </a:r>
            <a:endParaRPr lang="en-US" sz="1200" dirty="0"/>
          </a:p>
          <a:p>
            <a:pPr indent="0" marL="0">
              <a:spcAft>
                <a:spcPts val="400"/>
              </a:spcAft>
              <a:buNone/>
            </a:pPr>
            <a:r>
              <a:rPr lang="en-US" sz="600" dirty="0">
                <a:solidFill>
                  <a:srgbClr val="262626"/>
                </a:solidFill>
                <a:latin typeface="Arial" pitchFamily="34" charset="0"/>
                <a:ea typeface="Arial" pitchFamily="34" charset="-122"/>
                <a:cs typeface="Arial" pitchFamily="34" charset="-120"/>
              </a:rPr>
              <a:t> </a:t>
            </a:r>
            <a:endParaRPr lang="en-US" sz="1200" dirty="0"/>
          </a:p>
          <a:p>
            <a:pPr marL="342900" indent="-342900">
              <a:spcAft>
                <a:spcPts val="400"/>
              </a:spcAft>
              <a:buSzPct val="100000"/>
              <a:buChar char="■"/>
            </a:pPr>
            <a:r>
              <a:rPr lang="en-US" sz="1200" dirty="0">
                <a:solidFill>
                  <a:srgbClr val="262626"/>
                </a:solidFill>
                <a:latin typeface="Arial" pitchFamily="34" charset="0"/>
                <a:ea typeface="Arial" pitchFamily="34" charset="-122"/>
                <a:cs typeface="Arial" pitchFamily="34" charset="-120"/>
              </a:rPr>
              <a:t>Is there an internal channel — equivalent to ModelHub but accessible from Dataiku — that we haven't yet identified?</a:t>
            </a:r>
            <a:endParaRPr lang="en-US" sz="1200" dirty="0"/>
          </a:p>
          <a:p>
            <a:pPr indent="0" marL="0">
              <a:spcAft>
                <a:spcPts val="400"/>
              </a:spcAft>
              <a:buNone/>
            </a:pPr>
            <a:r>
              <a:rPr lang="en-US" sz="600" dirty="0">
                <a:solidFill>
                  <a:srgbClr val="262626"/>
                </a:solidFill>
                <a:latin typeface="Arial" pitchFamily="34" charset="0"/>
                <a:ea typeface="Arial" pitchFamily="34" charset="-122"/>
                <a:cs typeface="Arial" pitchFamily="34" charset="-120"/>
              </a:rPr>
              <a:t> </a:t>
            </a:r>
            <a:endParaRPr lang="en-US" sz="1200" dirty="0"/>
          </a:p>
          <a:p>
            <a:pPr marL="342900" indent="-342900">
              <a:spcAft>
                <a:spcPts val="400"/>
              </a:spcAft>
              <a:buSzPct val="100000"/>
              <a:buChar char="■"/>
            </a:pPr>
            <a:r>
              <a:rPr lang="en-US" sz="1200" dirty="0">
                <a:solidFill>
                  <a:srgbClr val="262626"/>
                </a:solidFill>
                <a:latin typeface="Arial" pitchFamily="34" charset="0"/>
                <a:ea typeface="Arial" pitchFamily="34" charset="-122"/>
                <a:cs typeface="Arial" pitchFamily="34" charset="-120"/>
              </a:rPr>
              <a:t>Should we expect a similar process for future model needs as the project evolves?</a:t>
            </a:r>
            <a:endParaRPr lang="en-US" sz="1200" dirty="0"/>
          </a:p>
        </p:txBody>
      </p:sp>
      <p:sp>
        <p:nvSpPr>
          <p:cNvPr id="22" name="Text 18"/>
          <p:cNvSpPr/>
          <p:nvPr/>
        </p:nvSpPr>
        <p:spPr>
          <a:xfrm>
            <a:off x="548640" y="6355080"/>
            <a:ext cx="1828800" cy="274320"/>
          </a:xfrm>
          <a:prstGeom prst="rect">
            <a:avLst/>
          </a:prstGeom>
          <a:noFill/>
          <a:ln/>
        </p:spPr>
        <p:txBody>
          <a:bodyPr wrap="square" lIns="0" tIns="0" rIns="0" bIns="0" rtlCol="0" anchor="ctr"/>
          <a:lstStyle/>
          <a:p>
            <a:pPr indent="0" marL="0">
              <a:buNone/>
            </a:pPr>
            <a:r>
              <a:rPr lang="en-US" sz="1100" b="1" dirty="0">
                <a:solidFill>
                  <a:srgbClr val="262626"/>
                </a:solidFill>
                <a:latin typeface="Arial" pitchFamily="34" charset="0"/>
                <a:ea typeface="Arial" pitchFamily="34" charset="-122"/>
                <a:cs typeface="Arial" pitchFamily="34" charset="-120"/>
              </a:rPr>
              <a:t>BNP PARIBAS</a:t>
            </a:r>
            <a:endParaRPr lang="en-US" sz="1100" dirty="0"/>
          </a:p>
        </p:txBody>
      </p:sp>
      <p:sp>
        <p:nvSpPr>
          <p:cNvPr id="23" name="Text 19"/>
          <p:cNvSpPr/>
          <p:nvPr/>
        </p:nvSpPr>
        <p:spPr>
          <a:xfrm>
            <a:off x="4709160" y="6355080"/>
            <a:ext cx="2743200" cy="274320"/>
          </a:xfrm>
          <a:prstGeom prst="rect">
            <a:avLst/>
          </a:prstGeom>
          <a:noFill/>
          <a:ln/>
        </p:spPr>
        <p:txBody>
          <a:bodyPr wrap="square" lIns="0" tIns="0" rIns="0" bIns="0" rtlCol="0" anchor="ctr"/>
          <a:lstStyle/>
          <a:p>
            <a:pPr algn="ctr" indent="0" marL="0">
              <a:buNone/>
            </a:pPr>
            <a:r>
              <a:rPr lang="en-US" sz="1000" i="1" dirty="0">
                <a:solidFill>
                  <a:srgbClr val="262626"/>
                </a:solidFill>
                <a:latin typeface="Arial" pitchFamily="34" charset="0"/>
                <a:ea typeface="Arial" pitchFamily="34" charset="-122"/>
                <a:cs typeface="Arial" pitchFamily="34" charset="-120"/>
              </a:rPr>
              <a:t>The bank for a changing world</a:t>
            </a:r>
            <a:endParaRPr lang="en-US" sz="1000" dirty="0"/>
          </a:p>
        </p:txBody>
      </p:sp>
      <p:sp>
        <p:nvSpPr>
          <p:cNvPr id="24" name="Text 20"/>
          <p:cNvSpPr/>
          <p:nvPr/>
        </p:nvSpPr>
        <p:spPr>
          <a:xfrm>
            <a:off x="10789920" y="6309360"/>
            <a:ext cx="914400" cy="228600"/>
          </a:xfrm>
          <a:prstGeom prst="rect">
            <a:avLst/>
          </a:prstGeom>
          <a:noFill/>
          <a:ln/>
        </p:spPr>
        <p:txBody>
          <a:bodyPr wrap="square" lIns="0" tIns="0" rIns="0" bIns="0" rtlCol="0" anchor="ctr"/>
          <a:lstStyle/>
          <a:p>
            <a:pPr algn="r" indent="0" marL="0">
              <a:buNone/>
            </a:pPr>
            <a:r>
              <a:rPr lang="en-US" sz="1100" b="1" dirty="0">
                <a:solidFill>
                  <a:srgbClr val="262626"/>
                </a:solidFill>
                <a:latin typeface="Arial" pitchFamily="34" charset="0"/>
                <a:ea typeface="Arial" pitchFamily="34" charset="-122"/>
                <a:cs typeface="Arial" pitchFamily="34" charset="-120"/>
              </a:rPr>
              <a:t>9</a:t>
            </a:r>
            <a:endParaRPr lang="en-US" sz="1100" dirty="0"/>
          </a:p>
        </p:txBody>
      </p:sp>
      <p:sp>
        <p:nvSpPr>
          <p:cNvPr id="25" name="Text 21"/>
          <p:cNvSpPr/>
          <p:nvPr/>
        </p:nvSpPr>
        <p:spPr>
          <a:xfrm>
            <a:off x="9875520" y="6537960"/>
            <a:ext cx="1828800" cy="228600"/>
          </a:xfrm>
          <a:prstGeom prst="rect">
            <a:avLst/>
          </a:prstGeom>
          <a:noFill/>
          <a:ln/>
        </p:spPr>
        <p:txBody>
          <a:bodyPr wrap="square" lIns="0" tIns="0" rIns="0" bIns="0" rtlCol="0" anchor="ctr"/>
          <a:lstStyle/>
          <a:p>
            <a:pPr algn="r" indent="0" marL="0">
              <a:buNone/>
            </a:pPr>
            <a:r>
              <a:rPr lang="en-US" sz="900" dirty="0">
                <a:solidFill>
                  <a:srgbClr val="4472C4"/>
                </a:solidFill>
                <a:latin typeface="Arial" pitchFamily="34" charset="0"/>
                <a:ea typeface="Arial" pitchFamily="34" charset="-122"/>
                <a:cs typeface="Arial" pitchFamily="34" charset="-120"/>
              </a:rPr>
              <a:t>Classification : Internal</a:t>
            </a:r>
            <a:endParaRPr lang="en-US" sz="900" dirty="0"/>
          </a:p>
        </p:txBody>
      </p:sp>
      <p:sp>
        <p:nvSpPr>
          <p:cNvPr id="26" name="Shape 22"/>
          <p:cNvSpPr/>
          <p:nvPr/>
        </p:nvSpPr>
        <p:spPr>
          <a:xfrm>
            <a:off x="548640" y="6217920"/>
            <a:ext cx="11064240" cy="0"/>
          </a:xfrm>
          <a:prstGeom prst="line">
            <a:avLst/>
          </a:prstGeom>
          <a:noFill/>
          <a:ln w="9525">
            <a:solidFill>
              <a:srgbClr val="E1E5E8"/>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MLION - ITG Meeting Addendum</dc:title>
  <dc:subject>PptxGenJS Presentation</dc:subject>
  <dc:creator>Zakaria GUAAYBESS</dc:creator>
  <cp:lastModifiedBy>Zakaria GUAAYBESS</cp:lastModifiedBy>
  <cp:revision>1</cp:revision>
  <dcterms:created xsi:type="dcterms:W3CDTF">2026-06-14T20:43:06Z</dcterms:created>
  <dcterms:modified xsi:type="dcterms:W3CDTF">2026-06-14T20:43:06Z</dcterms:modified>
</cp:coreProperties>
</file>