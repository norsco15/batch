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MLION in one page. The starting point: every operational risk incident comes with a free-text description. These are stored but never analysed at scale, and the Basel taxonomy alone cannot tell us which root causes keep coming back.
The pipeline has five steps. The first four are machine learning. We translate and clean the descriptions. An NLP model turns each one into a vector that captures its meaning. We compress those vectors. Then a clustering algorithm groups the incidents that describe the same problem, even when they are worded differently.
The fifth step is the GenAI touch. A cluster on its own is just a number. So we give an LLM the profile of each cluster, meaning its most distinctive terms and a few representative incidents, and it returns a readable label and a root-cause family. 
What it brings: incidents are grouped by meaning rather than keywords, the families reveal patterns that cut across Basel event types, and the output is readable, so analysts can validate it directly. Next step: analyst validation of the labelled families.
TO UPDATE BEFORE PRESENTING (made-up or unconfirmed values): the 107 families and ~0.6 silhouette figures, and the KYC / PEP example with its root-cause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journey of the data, left to right.
On the left, the raw material: free-text incident descriptions. Notice the first two. They are worded differently, but they describe the same problem, a dispute over an interest rate.
In the middle, what the machine learning does. Each description becomes a point, and descriptions with the same meaning land close together. The two interest rate incidents end up in the same group even though they share few words.
Then the GenAI step: the LLM reads each group and gives it a name.
On the right, the reason this matters for the business. Once every incident belongs to a named family, we can add up the gross loss and the provisions per family. Frequency is not severity: a family can be small in number of incidents and heavy in losses. Ranking families by financial weight shows where mitigation pays off first.
TO UPDATE BEFORE PRESENTING (made-up values): the five family names, the loss and provision percentages in the chart, the four incident quotes, and the cluster map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9692640" cy="502920"/>
          </a:xfrm>
          <a:prstGeom prst="rect">
            <a:avLst/>
          </a:prstGeom>
          <a:noFill/>
          <a:ln/>
        </p:spPr>
        <p:txBody>
          <a:bodyPr wrap="square" lIns="0" tIns="0" rIns="0" bIns="0" rtlCol="0" anchor="ctr"/>
          <a:lstStyle/>
          <a:p>
            <a:pPr indent="0" marL="0">
              <a:buNone/>
            </a:pPr>
            <a:r>
              <a:rPr lang="en-US" sz="2600" b="1" dirty="0">
                <a:solidFill>
                  <a:srgbClr val="00915A"/>
                </a:solidFill>
                <a:latin typeface="Arial" pitchFamily="34" charset="0"/>
                <a:ea typeface="Arial" pitchFamily="34" charset="-122"/>
                <a:cs typeface="Arial" pitchFamily="34" charset="-120"/>
              </a:rPr>
              <a:t>MLION — Machine Learning Incident-Ops Navigator</a:t>
            </a:r>
            <a:endParaRPr lang="en-US" sz="2600" dirty="0"/>
          </a:p>
        </p:txBody>
      </p:sp>
      <p:sp>
        <p:nvSpPr>
          <p:cNvPr id="3" name="Text 1"/>
          <p:cNvSpPr/>
          <p:nvPr/>
        </p:nvSpPr>
        <p:spPr>
          <a:xfrm>
            <a:off x="548640" y="786384"/>
            <a:ext cx="10241280" cy="292608"/>
          </a:xfrm>
          <a:prstGeom prst="rect">
            <a:avLst/>
          </a:prstGeom>
          <a:noFill/>
          <a:ln/>
        </p:spPr>
        <p:txBody>
          <a:bodyPr wrap="square" lIns="0" tIns="0" rIns="0" bIns="0" rtlCol="0" anchor="ctr"/>
          <a:lstStyle/>
          <a:p>
            <a:pPr indent="0" marL="0">
              <a:buNone/>
            </a:pPr>
            <a:r>
              <a:rPr lang="en-US" sz="1250" i="1" dirty="0">
                <a:solidFill>
                  <a:srgbClr val="595959"/>
                </a:solidFill>
                <a:latin typeface="Arial" pitchFamily="34" charset="0"/>
                <a:ea typeface="Arial" pitchFamily="34" charset="-122"/>
                <a:cs typeface="Arial" pitchFamily="34" charset="-120"/>
              </a:rPr>
              <a:t>From 27 years of free-text incident descriptions to named root-cause families — Machine Learning, with a GenAI finish</a:t>
            </a:r>
            <a:endParaRPr lang="en-US" sz="1250" dirty="0"/>
          </a:p>
        </p:txBody>
      </p:sp>
      <p:sp>
        <p:nvSpPr>
          <p:cNvPr id="4" name="Text 2"/>
          <p:cNvSpPr/>
          <p:nvPr/>
        </p:nvSpPr>
        <p:spPr>
          <a:xfrm>
            <a:off x="10634472" y="27432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5" name="Shape 3"/>
          <p:cNvSpPr/>
          <p:nvPr/>
        </p:nvSpPr>
        <p:spPr>
          <a:xfrm>
            <a:off x="548640" y="1298448"/>
            <a:ext cx="4160520" cy="1024128"/>
          </a:xfrm>
          <a:prstGeom prst="roundRect">
            <a:avLst>
              <a:gd name="adj" fmla="val 7143"/>
            </a:avLst>
          </a:prstGeom>
          <a:solidFill>
            <a:srgbClr val="F7F9FA"/>
          </a:solidFill>
          <a:ln w="12700">
            <a:solidFill>
              <a:srgbClr val="E1E5E8"/>
            </a:solidFill>
            <a:prstDash val="solid"/>
          </a:ln>
        </p:spPr>
      </p:sp>
      <p:sp>
        <p:nvSpPr>
          <p:cNvPr id="6" name="Text 4"/>
          <p:cNvSpPr/>
          <p:nvPr/>
        </p:nvSpPr>
        <p:spPr>
          <a:xfrm>
            <a:off x="777240" y="1408176"/>
            <a:ext cx="3703320"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THE CHALLENGE</a:t>
            </a:r>
            <a:endParaRPr lang="en-US" sz="950" dirty="0"/>
          </a:p>
        </p:txBody>
      </p:sp>
      <p:sp>
        <p:nvSpPr>
          <p:cNvPr id="7" name="Text 5"/>
          <p:cNvSpPr/>
          <p:nvPr/>
        </p:nvSpPr>
        <p:spPr>
          <a:xfrm>
            <a:off x="777240" y="1645920"/>
            <a:ext cx="3703320" cy="603504"/>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Every OpRisk incident carries a rich free-text description that is stored but never analysed at scale. The Basel taxonomy alone cannot show which root causes keep recurring.</a:t>
            </a:r>
            <a:endParaRPr lang="en-US" sz="1050" dirty="0"/>
          </a:p>
        </p:txBody>
      </p:sp>
      <p:sp>
        <p:nvSpPr>
          <p:cNvPr id="8" name="Shape 6"/>
          <p:cNvSpPr/>
          <p:nvPr/>
        </p:nvSpPr>
        <p:spPr>
          <a:xfrm>
            <a:off x="4937760" y="1298448"/>
            <a:ext cx="1552194" cy="1024128"/>
          </a:xfrm>
          <a:prstGeom prst="roundRect">
            <a:avLst>
              <a:gd name="adj" fmla="val 7143"/>
            </a:avLst>
          </a:prstGeom>
          <a:solidFill>
            <a:srgbClr val="F0F8F4"/>
          </a:solidFill>
          <a:ln w="12700">
            <a:solidFill>
              <a:srgbClr val="00915A"/>
            </a:solidFill>
            <a:prstDash val="solid"/>
          </a:ln>
        </p:spPr>
      </p:sp>
      <p:sp>
        <p:nvSpPr>
          <p:cNvPr id="9" name="Text 7"/>
          <p:cNvSpPr/>
          <p:nvPr/>
        </p:nvSpPr>
        <p:spPr>
          <a:xfrm>
            <a:off x="4937760"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357K</a:t>
            </a:r>
            <a:endParaRPr lang="en-US" sz="2500" dirty="0"/>
          </a:p>
        </p:txBody>
      </p:sp>
      <p:sp>
        <p:nvSpPr>
          <p:cNvPr id="10" name="Text 8"/>
          <p:cNvSpPr/>
          <p:nvPr/>
        </p:nvSpPr>
        <p:spPr>
          <a:xfrm>
            <a:off x="4983480"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incidents analysed</a:t>
            </a:r>
            <a:endParaRPr lang="en-US" sz="1000" dirty="0"/>
          </a:p>
        </p:txBody>
      </p:sp>
      <p:sp>
        <p:nvSpPr>
          <p:cNvPr id="11" name="Shape 9"/>
          <p:cNvSpPr/>
          <p:nvPr/>
        </p:nvSpPr>
        <p:spPr>
          <a:xfrm>
            <a:off x="6654546" y="1298448"/>
            <a:ext cx="1552194" cy="1024128"/>
          </a:xfrm>
          <a:prstGeom prst="roundRect">
            <a:avLst>
              <a:gd name="adj" fmla="val 7143"/>
            </a:avLst>
          </a:prstGeom>
          <a:solidFill>
            <a:srgbClr val="F0F8F4"/>
          </a:solidFill>
          <a:ln w="12700">
            <a:solidFill>
              <a:srgbClr val="00915A"/>
            </a:solidFill>
            <a:prstDash val="solid"/>
          </a:ln>
        </p:spPr>
      </p:sp>
      <p:sp>
        <p:nvSpPr>
          <p:cNvPr id="12" name="Text 10"/>
          <p:cNvSpPr/>
          <p:nvPr/>
        </p:nvSpPr>
        <p:spPr>
          <a:xfrm>
            <a:off x="6654546"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27 yrs</a:t>
            </a:r>
            <a:endParaRPr lang="en-US" sz="2500" dirty="0"/>
          </a:p>
        </p:txBody>
      </p:sp>
      <p:sp>
        <p:nvSpPr>
          <p:cNvPr id="13" name="Text 11"/>
          <p:cNvSpPr/>
          <p:nvPr/>
        </p:nvSpPr>
        <p:spPr>
          <a:xfrm>
            <a:off x="6700266"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of history (since 1999)</a:t>
            </a:r>
            <a:endParaRPr lang="en-US" sz="1000" dirty="0"/>
          </a:p>
        </p:txBody>
      </p:sp>
      <p:sp>
        <p:nvSpPr>
          <p:cNvPr id="14" name="Shape 12"/>
          <p:cNvSpPr/>
          <p:nvPr/>
        </p:nvSpPr>
        <p:spPr>
          <a:xfrm>
            <a:off x="8371332" y="1298448"/>
            <a:ext cx="1552194" cy="1024128"/>
          </a:xfrm>
          <a:prstGeom prst="roundRect">
            <a:avLst>
              <a:gd name="adj" fmla="val 7143"/>
            </a:avLst>
          </a:prstGeom>
          <a:solidFill>
            <a:srgbClr val="F0F8F4"/>
          </a:solidFill>
          <a:ln w="12700">
            <a:solidFill>
              <a:srgbClr val="00915A"/>
            </a:solidFill>
            <a:prstDash val="solid"/>
          </a:ln>
        </p:spPr>
      </p:sp>
      <p:sp>
        <p:nvSpPr>
          <p:cNvPr id="15" name="Text 13"/>
          <p:cNvSpPr/>
          <p:nvPr/>
        </p:nvSpPr>
        <p:spPr>
          <a:xfrm>
            <a:off x="8371332"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107</a:t>
            </a:r>
            <a:endParaRPr lang="en-US" sz="2500" dirty="0"/>
          </a:p>
        </p:txBody>
      </p:sp>
      <p:sp>
        <p:nvSpPr>
          <p:cNvPr id="16" name="Text 14"/>
          <p:cNvSpPr/>
          <p:nvPr/>
        </p:nvSpPr>
        <p:spPr>
          <a:xfrm>
            <a:off x="8417052"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root-cause families</a:t>
            </a:r>
            <a:endParaRPr lang="en-US" sz="1000" dirty="0"/>
          </a:p>
        </p:txBody>
      </p:sp>
      <p:sp>
        <p:nvSpPr>
          <p:cNvPr id="17" name="Shape 15"/>
          <p:cNvSpPr/>
          <p:nvPr/>
        </p:nvSpPr>
        <p:spPr>
          <a:xfrm>
            <a:off x="10088118" y="1298448"/>
            <a:ext cx="1552194" cy="1024128"/>
          </a:xfrm>
          <a:prstGeom prst="roundRect">
            <a:avLst>
              <a:gd name="adj" fmla="val 7143"/>
            </a:avLst>
          </a:prstGeom>
          <a:solidFill>
            <a:srgbClr val="F0F8F4"/>
          </a:solidFill>
          <a:ln w="12700">
            <a:solidFill>
              <a:srgbClr val="00915A"/>
            </a:solidFill>
            <a:prstDash val="solid"/>
          </a:ln>
        </p:spPr>
      </p:sp>
      <p:sp>
        <p:nvSpPr>
          <p:cNvPr id="18" name="Text 16"/>
          <p:cNvSpPr/>
          <p:nvPr/>
        </p:nvSpPr>
        <p:spPr>
          <a:xfrm>
            <a:off x="10088118"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~0.6</a:t>
            </a:r>
            <a:endParaRPr lang="en-US" sz="2500" dirty="0"/>
          </a:p>
        </p:txBody>
      </p:sp>
      <p:sp>
        <p:nvSpPr>
          <p:cNvPr id="19" name="Text 17"/>
          <p:cNvSpPr/>
          <p:nvPr/>
        </p:nvSpPr>
        <p:spPr>
          <a:xfrm>
            <a:off x="10133838"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silhouette (separation)</a:t>
            </a:r>
            <a:endParaRPr lang="en-US" sz="1000" dirty="0"/>
          </a:p>
        </p:txBody>
      </p:sp>
      <p:sp>
        <p:nvSpPr>
          <p:cNvPr id="20" name="Text 18"/>
          <p:cNvSpPr/>
          <p:nvPr/>
        </p:nvSpPr>
        <p:spPr>
          <a:xfrm>
            <a:off x="548640" y="2523744"/>
            <a:ext cx="2194560"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MACHINE LEARNING</a:t>
            </a:r>
            <a:endParaRPr lang="en-US" sz="950" dirty="0"/>
          </a:p>
        </p:txBody>
      </p:sp>
      <p:sp>
        <p:nvSpPr>
          <p:cNvPr id="21" name="Shape 19"/>
          <p:cNvSpPr/>
          <p:nvPr/>
        </p:nvSpPr>
        <p:spPr>
          <a:xfrm>
            <a:off x="2331720" y="2633472"/>
            <a:ext cx="7035394" cy="0"/>
          </a:xfrm>
          <a:prstGeom prst="line">
            <a:avLst/>
          </a:prstGeom>
          <a:noFill/>
          <a:ln w="12700">
            <a:solidFill>
              <a:srgbClr val="00915A"/>
            </a:solidFill>
            <a:prstDash val="solid"/>
          </a:ln>
        </p:spPr>
      </p:sp>
      <p:sp>
        <p:nvSpPr>
          <p:cNvPr id="22" name="Text 20"/>
          <p:cNvSpPr/>
          <p:nvPr/>
        </p:nvSpPr>
        <p:spPr>
          <a:xfrm>
            <a:off x="9641434" y="2523744"/>
            <a:ext cx="1463040" cy="219456"/>
          </a:xfrm>
          <a:prstGeom prst="rect">
            <a:avLst/>
          </a:prstGeom>
          <a:noFill/>
          <a:ln/>
        </p:spPr>
        <p:txBody>
          <a:bodyPr wrap="square" lIns="0" tIns="0" rIns="0" bIns="0" rtlCol="0" anchor="ctr"/>
          <a:lstStyle/>
          <a:p>
            <a:pPr indent="0" marL="0">
              <a:buNone/>
            </a:pPr>
            <a:r>
              <a:rPr lang="en-US" sz="950" b="1" spc="200" kern="0" dirty="0">
                <a:solidFill>
                  <a:srgbClr val="1F3864"/>
                </a:solidFill>
                <a:latin typeface="Arial" pitchFamily="34" charset="0"/>
                <a:ea typeface="Arial" pitchFamily="34" charset="-122"/>
                <a:cs typeface="Arial" pitchFamily="34" charset="-120"/>
              </a:rPr>
              <a:t>GENERATIVE AI</a:t>
            </a:r>
            <a:endParaRPr lang="en-US" sz="950" dirty="0"/>
          </a:p>
        </p:txBody>
      </p:sp>
      <p:sp>
        <p:nvSpPr>
          <p:cNvPr id="23" name="Shape 21"/>
          <p:cNvSpPr/>
          <p:nvPr/>
        </p:nvSpPr>
        <p:spPr>
          <a:xfrm>
            <a:off x="11013034" y="2633472"/>
            <a:ext cx="627278" cy="0"/>
          </a:xfrm>
          <a:prstGeom prst="line">
            <a:avLst/>
          </a:prstGeom>
          <a:noFill/>
          <a:ln w="12700">
            <a:solidFill>
              <a:srgbClr val="1F3864"/>
            </a:solidFill>
            <a:prstDash val="solid"/>
          </a:ln>
        </p:spPr>
      </p:sp>
      <p:sp>
        <p:nvSpPr>
          <p:cNvPr id="24" name="Shape 22"/>
          <p:cNvSpPr/>
          <p:nvPr/>
        </p:nvSpPr>
        <p:spPr>
          <a:xfrm>
            <a:off x="548640" y="2798064"/>
            <a:ext cx="1998878" cy="1481328"/>
          </a:xfrm>
          <a:prstGeom prst="roundRect">
            <a:avLst>
              <a:gd name="adj" fmla="val 4938"/>
            </a:avLst>
          </a:prstGeom>
          <a:solidFill>
            <a:srgbClr val="F7F9FA"/>
          </a:solidFill>
          <a:ln w="12700">
            <a:solidFill>
              <a:srgbClr val="E1E5E8"/>
            </a:solidFill>
            <a:prstDash val="solid"/>
          </a:ln>
        </p:spPr>
      </p:sp>
      <p:pic>
        <p:nvPicPr>
          <p:cNvPr id="25" name="Image 0" descr="preencoded.png">    </p:cNvPr>
          <p:cNvPicPr>
            <a:picLocks noChangeAspect="1"/>
          </p:cNvPicPr>
          <p:nvPr/>
        </p:nvPicPr>
        <p:blipFill>
          <a:blip r:embed="rId1"/>
          <a:stretch>
            <a:fillRect/>
          </a:stretch>
        </p:blipFill>
        <p:spPr>
          <a:xfrm>
            <a:off x="731520" y="2980944"/>
            <a:ext cx="310896" cy="310896"/>
          </a:xfrm>
          <a:prstGeom prst="rect">
            <a:avLst/>
          </a:prstGeom>
        </p:spPr>
      </p:pic>
      <p:sp>
        <p:nvSpPr>
          <p:cNvPr id="26" name="Text 23"/>
          <p:cNvSpPr/>
          <p:nvPr/>
        </p:nvSpPr>
        <p:spPr>
          <a:xfrm>
            <a:off x="1133856"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1. Prepare</a:t>
            </a:r>
            <a:endParaRPr lang="en-US" sz="1400" dirty="0"/>
          </a:p>
        </p:txBody>
      </p:sp>
      <p:sp>
        <p:nvSpPr>
          <p:cNvPr id="27" name="Text 24"/>
          <p:cNvSpPr/>
          <p:nvPr/>
        </p:nvSpPr>
        <p:spPr>
          <a:xfrm>
            <a:off x="1133856"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translate + clean</a:t>
            </a:r>
            <a:endParaRPr lang="en-US" sz="850" dirty="0"/>
          </a:p>
        </p:txBody>
      </p:sp>
      <p:sp>
        <p:nvSpPr>
          <p:cNvPr id="28" name="Text 25"/>
          <p:cNvSpPr/>
          <p:nvPr/>
        </p:nvSpPr>
        <p:spPr>
          <a:xfrm>
            <a:off x="731520"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Descriptions in French and Italian are translated to English and cleaned.</a:t>
            </a:r>
            <a:endParaRPr lang="en-US" sz="1000" dirty="0"/>
          </a:p>
        </p:txBody>
      </p:sp>
      <p:sp>
        <p:nvSpPr>
          <p:cNvPr id="29" name="Text 26"/>
          <p:cNvSpPr/>
          <p:nvPr/>
        </p:nvSpPr>
        <p:spPr>
          <a:xfrm>
            <a:off x="2547518"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30" name="Shape 27"/>
          <p:cNvSpPr/>
          <p:nvPr/>
        </p:nvSpPr>
        <p:spPr>
          <a:xfrm>
            <a:off x="2821838" y="2798064"/>
            <a:ext cx="1998878" cy="1481328"/>
          </a:xfrm>
          <a:prstGeom prst="roundRect">
            <a:avLst>
              <a:gd name="adj" fmla="val 4938"/>
            </a:avLst>
          </a:prstGeom>
          <a:solidFill>
            <a:srgbClr val="F7F9FA"/>
          </a:solidFill>
          <a:ln w="12700">
            <a:solidFill>
              <a:srgbClr val="E1E5E8"/>
            </a:solidFill>
            <a:prstDash val="solid"/>
          </a:ln>
        </p:spPr>
      </p:sp>
      <p:pic>
        <p:nvPicPr>
          <p:cNvPr id="31" name="Image 1" descr="preencoded.png">    </p:cNvPr>
          <p:cNvPicPr>
            <a:picLocks noChangeAspect="1"/>
          </p:cNvPicPr>
          <p:nvPr/>
        </p:nvPicPr>
        <p:blipFill>
          <a:blip r:embed="rId2"/>
          <a:stretch>
            <a:fillRect/>
          </a:stretch>
        </p:blipFill>
        <p:spPr>
          <a:xfrm>
            <a:off x="3004718" y="2980944"/>
            <a:ext cx="310896" cy="310896"/>
          </a:xfrm>
          <a:prstGeom prst="rect">
            <a:avLst/>
          </a:prstGeom>
        </p:spPr>
      </p:pic>
      <p:sp>
        <p:nvSpPr>
          <p:cNvPr id="32" name="Text 28"/>
          <p:cNvSpPr/>
          <p:nvPr/>
        </p:nvSpPr>
        <p:spPr>
          <a:xfrm>
            <a:off x="3407054"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2. Embed</a:t>
            </a:r>
            <a:endParaRPr lang="en-US" sz="1400" dirty="0"/>
          </a:p>
        </p:txBody>
      </p:sp>
      <p:sp>
        <p:nvSpPr>
          <p:cNvPr id="33" name="Text 29"/>
          <p:cNvSpPr/>
          <p:nvPr/>
        </p:nvSpPr>
        <p:spPr>
          <a:xfrm>
            <a:off x="3407054"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all-mpnet-base-v2</a:t>
            </a:r>
            <a:endParaRPr lang="en-US" sz="850" dirty="0"/>
          </a:p>
        </p:txBody>
      </p:sp>
      <p:sp>
        <p:nvSpPr>
          <p:cNvPr id="34" name="Text 30"/>
          <p:cNvSpPr/>
          <p:nvPr/>
        </p:nvSpPr>
        <p:spPr>
          <a:xfrm>
            <a:off x="3004718"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An NLP model turns each text into a vector that captures its meaning.</a:t>
            </a:r>
            <a:endParaRPr lang="en-US" sz="1000" dirty="0"/>
          </a:p>
        </p:txBody>
      </p:sp>
      <p:sp>
        <p:nvSpPr>
          <p:cNvPr id="35" name="Text 31"/>
          <p:cNvSpPr/>
          <p:nvPr/>
        </p:nvSpPr>
        <p:spPr>
          <a:xfrm>
            <a:off x="4820717"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36" name="Shape 32"/>
          <p:cNvSpPr/>
          <p:nvPr/>
        </p:nvSpPr>
        <p:spPr>
          <a:xfrm>
            <a:off x="5095037" y="2798064"/>
            <a:ext cx="1998878" cy="1481328"/>
          </a:xfrm>
          <a:prstGeom prst="roundRect">
            <a:avLst>
              <a:gd name="adj" fmla="val 4938"/>
            </a:avLst>
          </a:prstGeom>
          <a:solidFill>
            <a:srgbClr val="F7F9FA"/>
          </a:solidFill>
          <a:ln w="12700">
            <a:solidFill>
              <a:srgbClr val="E1E5E8"/>
            </a:solidFill>
            <a:prstDash val="solid"/>
          </a:ln>
        </p:spPr>
      </p:sp>
      <p:pic>
        <p:nvPicPr>
          <p:cNvPr id="37" name="Image 2" descr="preencoded.png">    </p:cNvPr>
          <p:cNvPicPr>
            <a:picLocks noChangeAspect="1"/>
          </p:cNvPicPr>
          <p:nvPr/>
        </p:nvPicPr>
        <p:blipFill>
          <a:blip r:embed="rId3"/>
          <a:stretch>
            <a:fillRect/>
          </a:stretch>
        </p:blipFill>
        <p:spPr>
          <a:xfrm>
            <a:off x="5277917" y="2980944"/>
            <a:ext cx="310896" cy="310896"/>
          </a:xfrm>
          <a:prstGeom prst="rect">
            <a:avLst/>
          </a:prstGeom>
        </p:spPr>
      </p:pic>
      <p:sp>
        <p:nvSpPr>
          <p:cNvPr id="38" name="Text 33"/>
          <p:cNvSpPr/>
          <p:nvPr/>
        </p:nvSpPr>
        <p:spPr>
          <a:xfrm>
            <a:off x="5680253"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3. Reduce</a:t>
            </a:r>
            <a:endParaRPr lang="en-US" sz="1400" dirty="0"/>
          </a:p>
        </p:txBody>
      </p:sp>
      <p:sp>
        <p:nvSpPr>
          <p:cNvPr id="39" name="Text 34"/>
          <p:cNvSpPr/>
          <p:nvPr/>
        </p:nvSpPr>
        <p:spPr>
          <a:xfrm>
            <a:off x="5680253"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PCA + UMAP</a:t>
            </a:r>
            <a:endParaRPr lang="en-US" sz="850" dirty="0"/>
          </a:p>
        </p:txBody>
      </p:sp>
      <p:sp>
        <p:nvSpPr>
          <p:cNvPr id="40" name="Text 35"/>
          <p:cNvSpPr/>
          <p:nvPr/>
        </p:nvSpPr>
        <p:spPr>
          <a:xfrm>
            <a:off x="5277917"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The vectors are compressed, keeping the structure and dropping the noise.</a:t>
            </a:r>
            <a:endParaRPr lang="en-US" sz="1000" dirty="0"/>
          </a:p>
        </p:txBody>
      </p:sp>
      <p:sp>
        <p:nvSpPr>
          <p:cNvPr id="41" name="Text 36"/>
          <p:cNvSpPr/>
          <p:nvPr/>
        </p:nvSpPr>
        <p:spPr>
          <a:xfrm>
            <a:off x="7093915"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42" name="Shape 37"/>
          <p:cNvSpPr/>
          <p:nvPr/>
        </p:nvSpPr>
        <p:spPr>
          <a:xfrm>
            <a:off x="7368235" y="2798064"/>
            <a:ext cx="1998878" cy="1481328"/>
          </a:xfrm>
          <a:prstGeom prst="roundRect">
            <a:avLst>
              <a:gd name="adj" fmla="val 4938"/>
            </a:avLst>
          </a:prstGeom>
          <a:solidFill>
            <a:srgbClr val="F7F9FA"/>
          </a:solidFill>
          <a:ln w="12700">
            <a:solidFill>
              <a:srgbClr val="E1E5E8"/>
            </a:solidFill>
            <a:prstDash val="solid"/>
          </a:ln>
        </p:spPr>
      </p:sp>
      <p:pic>
        <p:nvPicPr>
          <p:cNvPr id="43" name="Image 3" descr="preencoded.png">    </p:cNvPr>
          <p:cNvPicPr>
            <a:picLocks noChangeAspect="1"/>
          </p:cNvPicPr>
          <p:nvPr/>
        </p:nvPicPr>
        <p:blipFill>
          <a:blip r:embed="rId4"/>
          <a:stretch>
            <a:fillRect/>
          </a:stretch>
        </p:blipFill>
        <p:spPr>
          <a:xfrm>
            <a:off x="7551115" y="2980944"/>
            <a:ext cx="310896" cy="310896"/>
          </a:xfrm>
          <a:prstGeom prst="rect">
            <a:avLst/>
          </a:prstGeom>
        </p:spPr>
      </p:pic>
      <p:sp>
        <p:nvSpPr>
          <p:cNvPr id="44" name="Text 38"/>
          <p:cNvSpPr/>
          <p:nvPr/>
        </p:nvSpPr>
        <p:spPr>
          <a:xfrm>
            <a:off x="7953451"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4. Cluster</a:t>
            </a:r>
            <a:endParaRPr lang="en-US" sz="1400" dirty="0"/>
          </a:p>
        </p:txBody>
      </p:sp>
      <p:sp>
        <p:nvSpPr>
          <p:cNvPr id="45" name="Text 39"/>
          <p:cNvSpPr/>
          <p:nvPr/>
        </p:nvSpPr>
        <p:spPr>
          <a:xfrm>
            <a:off x="7953451"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HDBSCAN</a:t>
            </a:r>
            <a:endParaRPr lang="en-US" sz="850" dirty="0"/>
          </a:p>
        </p:txBody>
      </p:sp>
      <p:sp>
        <p:nvSpPr>
          <p:cNvPr id="46" name="Text 40"/>
          <p:cNvSpPr/>
          <p:nvPr/>
        </p:nvSpPr>
        <p:spPr>
          <a:xfrm>
            <a:off x="7551115"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Incidents describing the same problem are grouped, however they are worded.</a:t>
            </a:r>
            <a:endParaRPr lang="en-US" sz="1000" dirty="0"/>
          </a:p>
        </p:txBody>
      </p:sp>
      <p:sp>
        <p:nvSpPr>
          <p:cNvPr id="47" name="Text 41"/>
          <p:cNvSpPr/>
          <p:nvPr/>
        </p:nvSpPr>
        <p:spPr>
          <a:xfrm>
            <a:off x="9367114" y="3337560"/>
            <a:ext cx="274320" cy="402336"/>
          </a:xfrm>
          <a:prstGeom prst="rect">
            <a:avLst/>
          </a:prstGeom>
          <a:noFill/>
          <a:ln/>
        </p:spPr>
        <p:txBody>
          <a:bodyPr wrap="square" lIns="0" tIns="0" rIns="0" bIns="0" rtlCol="0" anchor="ctr"/>
          <a:lstStyle/>
          <a:p>
            <a:pPr algn="ctr" indent="0" marL="0">
              <a:buNone/>
            </a:pPr>
            <a:r>
              <a:rPr lang="en-US" sz="2200" b="1" dirty="0">
                <a:solidFill>
                  <a:srgbClr val="1F3864"/>
                </a:solidFill>
                <a:latin typeface="Arial" pitchFamily="34" charset="0"/>
                <a:ea typeface="Arial" pitchFamily="34" charset="-122"/>
                <a:cs typeface="Arial" pitchFamily="34" charset="-120"/>
              </a:rPr>
              <a:t>›</a:t>
            </a:r>
            <a:endParaRPr lang="en-US" sz="2200" dirty="0"/>
          </a:p>
        </p:txBody>
      </p:sp>
      <p:sp>
        <p:nvSpPr>
          <p:cNvPr id="48" name="Shape 42"/>
          <p:cNvSpPr/>
          <p:nvPr/>
        </p:nvSpPr>
        <p:spPr>
          <a:xfrm>
            <a:off x="9641434" y="2798064"/>
            <a:ext cx="1998878" cy="1481328"/>
          </a:xfrm>
          <a:prstGeom prst="roundRect">
            <a:avLst>
              <a:gd name="adj" fmla="val 4938"/>
            </a:avLst>
          </a:prstGeom>
          <a:solidFill>
            <a:srgbClr val="1F3864"/>
          </a:solidFill>
          <a:ln w="12700">
            <a:solidFill>
              <a:srgbClr val="1F3864"/>
            </a:solidFill>
            <a:prstDash val="solid"/>
          </a:ln>
        </p:spPr>
      </p:sp>
      <p:pic>
        <p:nvPicPr>
          <p:cNvPr id="49" name="Image 4" descr="preencoded.png">    </p:cNvPr>
          <p:cNvPicPr>
            <a:picLocks noChangeAspect="1"/>
          </p:cNvPicPr>
          <p:nvPr/>
        </p:nvPicPr>
        <p:blipFill>
          <a:blip r:embed="rId5"/>
          <a:stretch>
            <a:fillRect/>
          </a:stretch>
        </p:blipFill>
        <p:spPr>
          <a:xfrm>
            <a:off x="9824314" y="2980944"/>
            <a:ext cx="310896" cy="310896"/>
          </a:xfrm>
          <a:prstGeom prst="rect">
            <a:avLst/>
          </a:prstGeom>
        </p:spPr>
      </p:pic>
      <p:sp>
        <p:nvSpPr>
          <p:cNvPr id="50" name="Text 43"/>
          <p:cNvSpPr/>
          <p:nvPr/>
        </p:nvSpPr>
        <p:spPr>
          <a:xfrm>
            <a:off x="10226650" y="2944368"/>
            <a:ext cx="1267358"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5. Label</a:t>
            </a:r>
            <a:endParaRPr lang="en-US" sz="1400" dirty="0"/>
          </a:p>
        </p:txBody>
      </p:sp>
      <p:sp>
        <p:nvSpPr>
          <p:cNvPr id="51" name="Text 44"/>
          <p:cNvSpPr/>
          <p:nvPr/>
        </p:nvSpPr>
        <p:spPr>
          <a:xfrm>
            <a:off x="10226650" y="3182112"/>
            <a:ext cx="1267358" cy="182880"/>
          </a:xfrm>
          <a:prstGeom prst="rect">
            <a:avLst/>
          </a:prstGeom>
          <a:noFill/>
          <a:ln/>
        </p:spPr>
        <p:txBody>
          <a:bodyPr wrap="square" lIns="0" tIns="0" rIns="0" bIns="0" rtlCol="0" anchor="ctr"/>
          <a:lstStyle/>
          <a:p>
            <a:pPr indent="0" marL="0">
              <a:buNone/>
            </a:pPr>
            <a:r>
              <a:rPr lang="en-US" sz="850" dirty="0">
                <a:solidFill>
                  <a:srgbClr val="C9D4EA"/>
                </a:solidFill>
                <a:latin typeface="Courier New" pitchFamily="34" charset="0"/>
                <a:ea typeface="Courier New" pitchFamily="34" charset="-122"/>
                <a:cs typeface="Courier New" pitchFamily="34" charset="-120"/>
              </a:rPr>
              <a:t>LLM</a:t>
            </a:r>
            <a:endParaRPr lang="en-US" sz="850" dirty="0"/>
          </a:p>
        </p:txBody>
      </p:sp>
      <p:sp>
        <p:nvSpPr>
          <p:cNvPr id="52" name="Text 45"/>
          <p:cNvSpPr/>
          <p:nvPr/>
        </p:nvSpPr>
        <p:spPr>
          <a:xfrm>
            <a:off x="9824314" y="3493008"/>
            <a:ext cx="1633118" cy="713232"/>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An LLM reads each cluster and names its root-cause family.</a:t>
            </a:r>
            <a:endParaRPr lang="en-US" sz="1000" dirty="0"/>
          </a:p>
        </p:txBody>
      </p:sp>
      <p:sp>
        <p:nvSpPr>
          <p:cNvPr id="53" name="Shape 46"/>
          <p:cNvSpPr/>
          <p:nvPr/>
        </p:nvSpPr>
        <p:spPr>
          <a:xfrm>
            <a:off x="548640" y="4498848"/>
            <a:ext cx="6903720" cy="1536192"/>
          </a:xfrm>
          <a:prstGeom prst="roundRect">
            <a:avLst>
              <a:gd name="adj" fmla="val 4762"/>
            </a:avLst>
          </a:prstGeom>
          <a:solidFill>
            <a:srgbClr val="EEF2F9"/>
          </a:solidFill>
          <a:ln w="12700">
            <a:solidFill>
              <a:srgbClr val="1F3864"/>
            </a:solidFill>
            <a:prstDash val="solid"/>
          </a:ln>
        </p:spPr>
      </p:sp>
      <p:sp>
        <p:nvSpPr>
          <p:cNvPr id="54" name="Text 47"/>
          <p:cNvSpPr/>
          <p:nvPr/>
        </p:nvSpPr>
        <p:spPr>
          <a:xfrm>
            <a:off x="777240" y="4590288"/>
            <a:ext cx="4846320" cy="219456"/>
          </a:xfrm>
          <a:prstGeom prst="rect">
            <a:avLst/>
          </a:prstGeom>
          <a:noFill/>
          <a:ln/>
        </p:spPr>
        <p:txBody>
          <a:bodyPr wrap="square" lIns="0" tIns="0" rIns="0" bIns="0" rtlCol="0" anchor="ctr"/>
          <a:lstStyle/>
          <a:p>
            <a:pPr indent="0" marL="0">
              <a:buNone/>
            </a:pPr>
            <a:r>
              <a:rPr lang="en-US" sz="950" b="1" spc="150" kern="0" dirty="0">
                <a:solidFill>
                  <a:srgbClr val="1F3864"/>
                </a:solidFill>
                <a:latin typeface="Arial" pitchFamily="34" charset="0"/>
                <a:ea typeface="Arial" pitchFamily="34" charset="-122"/>
                <a:cs typeface="Arial" pitchFamily="34" charset="-120"/>
              </a:rPr>
              <a:t>THE GENAI STEP — FROM A CLUSTER TO A NAMED FAMILY</a:t>
            </a:r>
            <a:endParaRPr lang="en-US" sz="950" dirty="0"/>
          </a:p>
        </p:txBody>
      </p:sp>
      <p:sp>
        <p:nvSpPr>
          <p:cNvPr id="55" name="Shape 48"/>
          <p:cNvSpPr/>
          <p:nvPr/>
        </p:nvSpPr>
        <p:spPr>
          <a:xfrm>
            <a:off x="777240" y="4901184"/>
            <a:ext cx="2697480" cy="1005840"/>
          </a:xfrm>
          <a:prstGeom prst="rect">
            <a:avLst/>
          </a:prstGeom>
          <a:solidFill>
            <a:srgbClr val="FFFFFF"/>
          </a:solidFill>
          <a:ln w="12700">
            <a:solidFill>
              <a:srgbClr val="E1E5E8"/>
            </a:solidFill>
            <a:prstDash val="solid"/>
          </a:ln>
        </p:spPr>
      </p:sp>
      <p:pic>
        <p:nvPicPr>
          <p:cNvPr id="56" name="Image 5" descr="preencoded.png">    </p:cNvPr>
          <p:cNvPicPr>
            <a:picLocks noChangeAspect="1"/>
          </p:cNvPicPr>
          <p:nvPr/>
        </p:nvPicPr>
        <p:blipFill>
          <a:blip r:embed="rId6"/>
          <a:stretch>
            <a:fillRect/>
          </a:stretch>
        </p:blipFill>
        <p:spPr>
          <a:xfrm>
            <a:off x="886968" y="4992624"/>
            <a:ext cx="164592" cy="164592"/>
          </a:xfrm>
          <a:prstGeom prst="rect">
            <a:avLst/>
          </a:prstGeom>
        </p:spPr>
      </p:pic>
      <p:sp>
        <p:nvSpPr>
          <p:cNvPr id="57" name="Text 49"/>
          <p:cNvSpPr/>
          <p:nvPr/>
        </p:nvSpPr>
        <p:spPr>
          <a:xfrm>
            <a:off x="1106424" y="4965192"/>
            <a:ext cx="2286000" cy="219456"/>
          </a:xfrm>
          <a:prstGeom prst="rect">
            <a:avLst/>
          </a:prstGeom>
          <a:noFill/>
          <a:ln/>
        </p:spPr>
        <p:txBody>
          <a:bodyPr wrap="square" lIns="0" tIns="0" rIns="0" bIns="0" rtlCol="0" anchor="ctr"/>
          <a:lstStyle/>
          <a:p>
            <a:pPr indent="0" marL="0">
              <a:buNone/>
            </a:pPr>
            <a:r>
              <a:rPr lang="en-US" sz="950" b="1" dirty="0">
                <a:solidFill>
                  <a:srgbClr val="595959"/>
                </a:solidFill>
                <a:latin typeface="Arial" pitchFamily="34" charset="0"/>
                <a:ea typeface="Arial" pitchFamily="34" charset="-122"/>
                <a:cs typeface="Arial" pitchFamily="34" charset="-120"/>
              </a:rPr>
              <a:t>Cluster profile (input)</a:t>
            </a:r>
            <a:endParaRPr lang="en-US" sz="950" dirty="0"/>
          </a:p>
        </p:txBody>
      </p:sp>
      <p:sp>
        <p:nvSpPr>
          <p:cNvPr id="58" name="Text 50"/>
          <p:cNvSpPr/>
          <p:nvPr/>
        </p:nvSpPr>
        <p:spPr>
          <a:xfrm>
            <a:off x="886968" y="5230368"/>
            <a:ext cx="2478024" cy="621792"/>
          </a:xfrm>
          <a:prstGeom prst="rect">
            <a:avLst/>
          </a:prstGeom>
          <a:noFill/>
          <a:ln/>
        </p:spPr>
        <p:txBody>
          <a:bodyPr wrap="square" lIns="0" tIns="0" rIns="0" bIns="0" rtlCol="0" anchor="t"/>
          <a:lstStyle/>
          <a:p>
            <a:pPr indent="0" marL="0">
              <a:buNone/>
            </a:pPr>
            <a:r>
              <a:rPr lang="en-US" sz="950" b="1" dirty="0">
                <a:solidFill>
                  <a:srgbClr val="262626"/>
                </a:solidFill>
                <a:latin typeface="Arial" pitchFamily="34" charset="0"/>
                <a:ea typeface="Arial" pitchFamily="34" charset="-122"/>
                <a:cs typeface="Arial" pitchFamily="34" charset="-120"/>
              </a:rPr>
              <a:t>Key terms: </a:t>
            </a:r>
            <a:pPr indent="0" marL="0">
              <a:buNone/>
            </a:pPr>
            <a:r>
              <a:rPr lang="en-US" sz="950" dirty="0">
                <a:solidFill>
                  <a:srgbClr val="262626"/>
                </a:solidFill>
                <a:latin typeface="Arial" pitchFamily="34" charset="0"/>
                <a:ea typeface="Arial" pitchFamily="34" charset="-122"/>
                <a:cs typeface="Arial" pitchFamily="34" charset="-120"/>
              </a:rPr>
              <a:t>kyc, pep, recertification, access rights…</a:t>
            </a:r>
            <a:endParaRPr lang="en-US" sz="950" dirty="0"/>
          </a:p>
          <a:p>
            <a:pPr indent="0" marL="0">
              <a:buNone/>
            </a:pPr>
            <a:r>
              <a:rPr lang="en-US" sz="950" i="1" dirty="0">
                <a:solidFill>
                  <a:srgbClr val="595959"/>
                </a:solidFill>
                <a:latin typeface="Arial" pitchFamily="34" charset="0"/>
                <a:ea typeface="Arial" pitchFamily="34" charset="-122"/>
                <a:cs typeface="Arial" pitchFamily="34" charset="-120"/>
              </a:rPr>
              <a:t>+ 5 representative incidents</a:t>
            </a:r>
            <a:endParaRPr lang="en-US" sz="950" dirty="0"/>
          </a:p>
        </p:txBody>
      </p:sp>
      <p:sp>
        <p:nvSpPr>
          <p:cNvPr id="59" name="Text 51"/>
          <p:cNvSpPr/>
          <p:nvPr/>
        </p:nvSpPr>
        <p:spPr>
          <a:xfrm>
            <a:off x="3474720" y="5221224"/>
            <a:ext cx="182880" cy="365760"/>
          </a:xfrm>
          <a:prstGeom prst="rect">
            <a:avLst/>
          </a:prstGeom>
          <a:noFill/>
          <a:ln/>
        </p:spPr>
        <p:txBody>
          <a:bodyPr wrap="square" lIns="0" tIns="0" rIns="0" bIns="0" rtlCol="0" anchor="ctr"/>
          <a:lstStyle/>
          <a:p>
            <a:pPr algn="ctr" indent="0" marL="0">
              <a:buNone/>
            </a:pPr>
            <a:r>
              <a:rPr lang="en-US" sz="1800" b="1" dirty="0">
                <a:solidFill>
                  <a:srgbClr val="1F3864"/>
                </a:solidFill>
                <a:latin typeface="Arial" pitchFamily="34" charset="0"/>
                <a:ea typeface="Arial" pitchFamily="34" charset="-122"/>
                <a:cs typeface="Arial" pitchFamily="34" charset="-120"/>
              </a:rPr>
              <a:t>›</a:t>
            </a:r>
            <a:endParaRPr lang="en-US" sz="1800" dirty="0"/>
          </a:p>
        </p:txBody>
      </p:sp>
      <p:sp>
        <p:nvSpPr>
          <p:cNvPr id="60" name="Shape 52"/>
          <p:cNvSpPr/>
          <p:nvPr/>
        </p:nvSpPr>
        <p:spPr>
          <a:xfrm>
            <a:off x="3657600" y="5084064"/>
            <a:ext cx="868680" cy="640080"/>
          </a:xfrm>
          <a:prstGeom prst="roundRect">
            <a:avLst>
              <a:gd name="adj" fmla="val 11429"/>
            </a:avLst>
          </a:prstGeom>
          <a:solidFill>
            <a:srgbClr val="1F3864"/>
          </a:solidFill>
          <a:ln w="12700">
            <a:solidFill>
              <a:srgbClr val="1F3864"/>
            </a:solidFill>
            <a:prstDash val="solid"/>
          </a:ln>
        </p:spPr>
      </p:sp>
      <p:sp>
        <p:nvSpPr>
          <p:cNvPr id="61" name="Text 53"/>
          <p:cNvSpPr/>
          <p:nvPr/>
        </p:nvSpPr>
        <p:spPr>
          <a:xfrm>
            <a:off x="3657600" y="5084064"/>
            <a:ext cx="8686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LLM</a:t>
            </a:r>
            <a:endParaRPr lang="en-US" sz="1500" dirty="0"/>
          </a:p>
        </p:txBody>
      </p:sp>
      <p:sp>
        <p:nvSpPr>
          <p:cNvPr id="62" name="Text 54"/>
          <p:cNvSpPr/>
          <p:nvPr/>
        </p:nvSpPr>
        <p:spPr>
          <a:xfrm>
            <a:off x="4526280" y="5221224"/>
            <a:ext cx="182880" cy="365760"/>
          </a:xfrm>
          <a:prstGeom prst="rect">
            <a:avLst/>
          </a:prstGeom>
          <a:noFill/>
          <a:ln/>
        </p:spPr>
        <p:txBody>
          <a:bodyPr wrap="square" lIns="0" tIns="0" rIns="0" bIns="0" rtlCol="0" anchor="ctr"/>
          <a:lstStyle/>
          <a:p>
            <a:pPr algn="ctr" indent="0" marL="0">
              <a:buNone/>
            </a:pPr>
            <a:r>
              <a:rPr lang="en-US" sz="1800" b="1" dirty="0">
                <a:solidFill>
                  <a:srgbClr val="1F3864"/>
                </a:solidFill>
                <a:latin typeface="Arial" pitchFamily="34" charset="0"/>
                <a:ea typeface="Arial" pitchFamily="34" charset="-122"/>
                <a:cs typeface="Arial" pitchFamily="34" charset="-120"/>
              </a:rPr>
              <a:t>›</a:t>
            </a:r>
            <a:endParaRPr lang="en-US" sz="1800" dirty="0"/>
          </a:p>
        </p:txBody>
      </p:sp>
      <p:sp>
        <p:nvSpPr>
          <p:cNvPr id="63" name="Shape 55"/>
          <p:cNvSpPr/>
          <p:nvPr/>
        </p:nvSpPr>
        <p:spPr>
          <a:xfrm>
            <a:off x="4709160" y="4901184"/>
            <a:ext cx="2514600" cy="1005840"/>
          </a:xfrm>
          <a:prstGeom prst="rect">
            <a:avLst/>
          </a:prstGeom>
          <a:solidFill>
            <a:srgbClr val="FFFFFF"/>
          </a:solidFill>
          <a:ln w="12700">
            <a:solidFill>
              <a:srgbClr val="1F3864"/>
            </a:solidFill>
            <a:prstDash val="solid"/>
          </a:ln>
        </p:spPr>
      </p:sp>
      <p:pic>
        <p:nvPicPr>
          <p:cNvPr id="64" name="Image 6" descr="preencoded.png">    </p:cNvPr>
          <p:cNvPicPr>
            <a:picLocks noChangeAspect="1"/>
          </p:cNvPicPr>
          <p:nvPr/>
        </p:nvPicPr>
        <p:blipFill>
          <a:blip r:embed="rId7"/>
          <a:stretch>
            <a:fillRect/>
          </a:stretch>
        </p:blipFill>
        <p:spPr>
          <a:xfrm>
            <a:off x="4818888" y="4992624"/>
            <a:ext cx="164592" cy="164592"/>
          </a:xfrm>
          <a:prstGeom prst="rect">
            <a:avLst/>
          </a:prstGeom>
        </p:spPr>
      </p:pic>
      <p:sp>
        <p:nvSpPr>
          <p:cNvPr id="65" name="Text 56"/>
          <p:cNvSpPr/>
          <p:nvPr/>
        </p:nvSpPr>
        <p:spPr>
          <a:xfrm>
            <a:off x="5038344" y="4965192"/>
            <a:ext cx="2103120" cy="219456"/>
          </a:xfrm>
          <a:prstGeom prst="rect">
            <a:avLst/>
          </a:prstGeom>
          <a:noFill/>
          <a:ln/>
        </p:spPr>
        <p:txBody>
          <a:bodyPr wrap="square" lIns="0" tIns="0" rIns="0" bIns="0" rtlCol="0" anchor="ctr"/>
          <a:lstStyle/>
          <a:p>
            <a:pPr indent="0" marL="0">
              <a:buNone/>
            </a:pPr>
            <a:r>
              <a:rPr lang="en-US" sz="950" b="1" dirty="0">
                <a:solidFill>
                  <a:srgbClr val="1F3864"/>
                </a:solidFill>
                <a:latin typeface="Arial" pitchFamily="34" charset="0"/>
                <a:ea typeface="Arial" pitchFamily="34" charset="-122"/>
                <a:cs typeface="Arial" pitchFamily="34" charset="-120"/>
              </a:rPr>
              <a:t>Named family (output)</a:t>
            </a:r>
            <a:endParaRPr lang="en-US" sz="950" dirty="0"/>
          </a:p>
        </p:txBody>
      </p:sp>
      <p:sp>
        <p:nvSpPr>
          <p:cNvPr id="66" name="Text 57"/>
          <p:cNvSpPr/>
          <p:nvPr/>
        </p:nvSpPr>
        <p:spPr>
          <a:xfrm>
            <a:off x="4818888" y="5230368"/>
            <a:ext cx="2295144" cy="621792"/>
          </a:xfrm>
          <a:prstGeom prst="rect">
            <a:avLst/>
          </a:prstGeom>
          <a:noFill/>
          <a:ln/>
        </p:spPr>
        <p:txBody>
          <a:bodyPr wrap="square" lIns="0" tIns="0" rIns="0" bIns="0" rtlCol="0" anchor="t"/>
          <a:lstStyle/>
          <a:p>
            <a:pPr indent="0" marL="0">
              <a:buNone/>
            </a:pPr>
            <a:r>
              <a:rPr lang="en-US" sz="950" b="1" dirty="0">
                <a:solidFill>
                  <a:srgbClr val="262626"/>
                </a:solidFill>
                <a:latin typeface="Arial" pitchFamily="34" charset="0"/>
                <a:ea typeface="Arial" pitchFamily="34" charset="-122"/>
                <a:cs typeface="Arial" pitchFamily="34" charset="-120"/>
              </a:rPr>
              <a:t>Label: </a:t>
            </a:r>
            <a:pPr indent="0" marL="0">
              <a:buNone/>
            </a:pPr>
            <a:r>
              <a:rPr lang="en-US" sz="950" dirty="0">
                <a:solidFill>
                  <a:srgbClr val="262626"/>
                </a:solidFill>
                <a:latin typeface="Arial" pitchFamily="34" charset="0"/>
                <a:ea typeface="Arial" pitchFamily="34" charset="-122"/>
                <a:cs typeface="Arial" pitchFamily="34" charset="-120"/>
              </a:rPr>
              <a:t>KYC / PEP recertification</a:t>
            </a:r>
            <a:endParaRPr lang="en-US" sz="950" dirty="0"/>
          </a:p>
          <a:p>
            <a:pPr indent="0" marL="0">
              <a:buNone/>
            </a:pPr>
            <a:r>
              <a:rPr lang="en-US" sz="950" b="1" dirty="0">
                <a:solidFill>
                  <a:srgbClr val="262626"/>
                </a:solidFill>
                <a:latin typeface="Arial" pitchFamily="34" charset="0"/>
                <a:ea typeface="Arial" pitchFamily="34" charset="-122"/>
                <a:cs typeface="Arial" pitchFamily="34" charset="-120"/>
              </a:rPr>
              <a:t>Root-cause family: </a:t>
            </a:r>
            <a:pPr indent="0" marL="0">
              <a:buNone/>
            </a:pPr>
            <a:r>
              <a:rPr lang="en-US" sz="950" dirty="0">
                <a:solidFill>
                  <a:srgbClr val="262626"/>
                </a:solidFill>
                <a:latin typeface="Arial" pitchFamily="34" charset="0"/>
                <a:ea typeface="Arial" pitchFamily="34" charset="-122"/>
                <a:cs typeface="Arial" pitchFamily="34" charset="-120"/>
              </a:rPr>
              <a:t>Process &amp; controls</a:t>
            </a:r>
            <a:endParaRPr lang="en-US" sz="950" dirty="0"/>
          </a:p>
        </p:txBody>
      </p:sp>
      <p:sp>
        <p:nvSpPr>
          <p:cNvPr id="67" name="Shape 58"/>
          <p:cNvSpPr/>
          <p:nvPr/>
        </p:nvSpPr>
        <p:spPr>
          <a:xfrm>
            <a:off x="7680960" y="4498848"/>
            <a:ext cx="3959352" cy="1536192"/>
          </a:xfrm>
          <a:prstGeom prst="roundRect">
            <a:avLst>
              <a:gd name="adj" fmla="val 4762"/>
            </a:avLst>
          </a:prstGeom>
          <a:solidFill>
            <a:srgbClr val="F0F8F4"/>
          </a:solidFill>
          <a:ln w="12700">
            <a:solidFill>
              <a:srgbClr val="00915A"/>
            </a:solidFill>
            <a:prstDash val="solid"/>
          </a:ln>
        </p:spPr>
      </p:sp>
      <p:sp>
        <p:nvSpPr>
          <p:cNvPr id="68" name="Text 59"/>
          <p:cNvSpPr/>
          <p:nvPr/>
        </p:nvSpPr>
        <p:spPr>
          <a:xfrm>
            <a:off x="7909560" y="4590288"/>
            <a:ext cx="3502152"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WHAT IT BRINGS</a:t>
            </a:r>
            <a:endParaRPr lang="en-US" sz="950" dirty="0"/>
          </a:p>
        </p:txBody>
      </p:sp>
      <p:pic>
        <p:nvPicPr>
          <p:cNvPr id="69" name="Image 7" descr="preencoded.png">    </p:cNvPr>
          <p:cNvPicPr>
            <a:picLocks noChangeAspect="1"/>
          </p:cNvPicPr>
          <p:nvPr/>
        </p:nvPicPr>
        <p:blipFill>
          <a:blip r:embed="rId8"/>
          <a:stretch>
            <a:fillRect/>
          </a:stretch>
        </p:blipFill>
        <p:spPr>
          <a:xfrm>
            <a:off x="7909560" y="4965192"/>
            <a:ext cx="164592" cy="164592"/>
          </a:xfrm>
          <a:prstGeom prst="rect">
            <a:avLst/>
          </a:prstGeom>
        </p:spPr>
      </p:pic>
      <p:sp>
        <p:nvSpPr>
          <p:cNvPr id="70" name="Text 60"/>
          <p:cNvSpPr/>
          <p:nvPr/>
        </p:nvSpPr>
        <p:spPr>
          <a:xfrm>
            <a:off x="8156448" y="4919472"/>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Grouping by meaning, not keywords</a:t>
            </a:r>
            <a:endParaRPr lang="en-US" sz="1050" dirty="0"/>
          </a:p>
        </p:txBody>
      </p:sp>
      <p:pic>
        <p:nvPicPr>
          <p:cNvPr id="71" name="Image 8" descr="preencoded.png">    </p:cNvPr>
          <p:cNvPicPr>
            <a:picLocks noChangeAspect="1"/>
          </p:cNvPicPr>
          <p:nvPr/>
        </p:nvPicPr>
        <p:blipFill>
          <a:blip r:embed="rId9"/>
          <a:stretch>
            <a:fillRect/>
          </a:stretch>
        </p:blipFill>
        <p:spPr>
          <a:xfrm>
            <a:off x="7909560" y="5312664"/>
            <a:ext cx="164592" cy="164592"/>
          </a:xfrm>
          <a:prstGeom prst="rect">
            <a:avLst/>
          </a:prstGeom>
        </p:spPr>
      </p:pic>
      <p:sp>
        <p:nvSpPr>
          <p:cNvPr id="72" name="Text 61"/>
          <p:cNvSpPr/>
          <p:nvPr/>
        </p:nvSpPr>
        <p:spPr>
          <a:xfrm>
            <a:off x="8156448" y="5266944"/>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Patterns that cut across Basel event types</a:t>
            </a:r>
            <a:endParaRPr lang="en-US" sz="1050" dirty="0"/>
          </a:p>
        </p:txBody>
      </p:sp>
      <p:pic>
        <p:nvPicPr>
          <p:cNvPr id="73" name="Image 9" descr="preencoded.png">    </p:cNvPr>
          <p:cNvPicPr>
            <a:picLocks noChangeAspect="1"/>
          </p:cNvPicPr>
          <p:nvPr/>
        </p:nvPicPr>
        <p:blipFill>
          <a:blip r:embed="rId10"/>
          <a:stretch>
            <a:fillRect/>
          </a:stretch>
        </p:blipFill>
        <p:spPr>
          <a:xfrm>
            <a:off x="7909560" y="5660136"/>
            <a:ext cx="164592" cy="164592"/>
          </a:xfrm>
          <a:prstGeom prst="rect">
            <a:avLst/>
          </a:prstGeom>
        </p:spPr>
      </p:pic>
      <p:sp>
        <p:nvSpPr>
          <p:cNvPr id="74" name="Text 62"/>
          <p:cNvSpPr/>
          <p:nvPr/>
        </p:nvSpPr>
        <p:spPr>
          <a:xfrm>
            <a:off x="8156448" y="5614416"/>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Readable families, ready for analyst validation</a:t>
            </a:r>
            <a:endParaRPr lang="en-US" sz="1050" dirty="0"/>
          </a:p>
        </p:txBody>
      </p:sp>
      <p:sp>
        <p:nvSpPr>
          <p:cNvPr id="75" name="Shape 63"/>
          <p:cNvSpPr/>
          <p:nvPr/>
        </p:nvSpPr>
        <p:spPr>
          <a:xfrm>
            <a:off x="548640" y="6217920"/>
            <a:ext cx="11091672" cy="0"/>
          </a:xfrm>
          <a:prstGeom prst="line">
            <a:avLst/>
          </a:prstGeom>
          <a:noFill/>
          <a:ln w="9525">
            <a:solidFill>
              <a:srgbClr val="E1E5E8"/>
            </a:solidFill>
            <a:prstDash val="solid"/>
          </a:ln>
        </p:spPr>
      </p:sp>
      <p:sp>
        <p:nvSpPr>
          <p:cNvPr id="76" name="Text 64"/>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77" name="Text 65"/>
          <p:cNvSpPr/>
          <p:nvPr/>
        </p:nvSpPr>
        <p:spPr>
          <a:xfrm>
            <a:off x="4722876"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78" name="Text 66"/>
          <p:cNvSpPr/>
          <p:nvPr/>
        </p:nvSpPr>
        <p:spPr>
          <a:xfrm>
            <a:off x="9811512" y="640080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9692640" cy="502920"/>
          </a:xfrm>
          <a:prstGeom prst="rect">
            <a:avLst/>
          </a:prstGeom>
          <a:noFill/>
          <a:ln/>
        </p:spPr>
        <p:txBody>
          <a:bodyPr wrap="square" lIns="0" tIns="0" rIns="0" bIns="0" rtlCol="0" anchor="ctr"/>
          <a:lstStyle/>
          <a:p>
            <a:pPr indent="0" marL="0">
              <a:buNone/>
            </a:pPr>
            <a:r>
              <a:rPr lang="en-US" sz="2600" b="1" dirty="0">
                <a:solidFill>
                  <a:srgbClr val="00915A"/>
                </a:solidFill>
                <a:latin typeface="Arial" pitchFamily="34" charset="0"/>
                <a:ea typeface="Arial" pitchFamily="34" charset="-122"/>
                <a:cs typeface="Arial" pitchFamily="34" charset="-120"/>
              </a:rPr>
              <a:t>From Text to Financial Impact</a:t>
            </a:r>
            <a:endParaRPr lang="en-US" sz="2600" dirty="0"/>
          </a:p>
        </p:txBody>
      </p:sp>
      <p:sp>
        <p:nvSpPr>
          <p:cNvPr id="3" name="Text 1"/>
          <p:cNvSpPr/>
          <p:nvPr/>
        </p:nvSpPr>
        <p:spPr>
          <a:xfrm>
            <a:off x="548640" y="786384"/>
            <a:ext cx="10241280" cy="292608"/>
          </a:xfrm>
          <a:prstGeom prst="rect">
            <a:avLst/>
          </a:prstGeom>
          <a:noFill/>
          <a:ln/>
        </p:spPr>
        <p:txBody>
          <a:bodyPr wrap="square" lIns="0" tIns="0" rIns="0" bIns="0" rtlCol="0" anchor="ctr"/>
          <a:lstStyle/>
          <a:p>
            <a:pPr indent="0" marL="0">
              <a:buNone/>
            </a:pPr>
            <a:r>
              <a:rPr lang="en-US" sz="1250" i="1" dirty="0">
                <a:solidFill>
                  <a:srgbClr val="595959"/>
                </a:solidFill>
                <a:latin typeface="Arial" pitchFamily="34" charset="0"/>
                <a:ea typeface="Arial" pitchFamily="34" charset="-122"/>
                <a:cs typeface="Arial" pitchFamily="34" charset="-120"/>
              </a:rPr>
              <a:t>Each description becomes a point, each group a named family, and each family a share of our losses and provisions</a:t>
            </a:r>
            <a:endParaRPr lang="en-US" sz="1250" dirty="0"/>
          </a:p>
        </p:txBody>
      </p:sp>
      <p:sp>
        <p:nvSpPr>
          <p:cNvPr id="4" name="Text 2"/>
          <p:cNvSpPr/>
          <p:nvPr/>
        </p:nvSpPr>
        <p:spPr>
          <a:xfrm>
            <a:off x="10634472" y="27432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5" name="Shape 3"/>
          <p:cNvSpPr/>
          <p:nvPr/>
        </p:nvSpPr>
        <p:spPr>
          <a:xfrm>
            <a:off x="548640" y="1316736"/>
            <a:ext cx="256032" cy="256032"/>
          </a:xfrm>
          <a:prstGeom prst="ellipse">
            <a:avLst/>
          </a:prstGeom>
          <a:solidFill>
            <a:srgbClr val="00915A"/>
          </a:solidFill>
          <a:ln w="12700">
            <a:solidFill>
              <a:srgbClr val="00915A"/>
            </a:solidFill>
            <a:prstDash val="solid"/>
          </a:ln>
        </p:spPr>
      </p:sp>
      <p:sp>
        <p:nvSpPr>
          <p:cNvPr id="6" name="Text 4"/>
          <p:cNvSpPr/>
          <p:nvPr/>
        </p:nvSpPr>
        <p:spPr>
          <a:xfrm>
            <a:off x="54864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896112" y="1298448"/>
            <a:ext cx="2487168"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Free text</a:t>
            </a:r>
            <a:pPr indent="0" marL="0">
              <a:buNone/>
            </a:pPr>
            <a:r>
              <a:rPr lang="en-US" sz="950" dirty="0">
                <a:solidFill>
                  <a:srgbClr val="8C8C8C"/>
                </a:solidFill>
                <a:latin typeface="Arial" pitchFamily="34" charset="0"/>
                <a:ea typeface="Arial" pitchFamily="34" charset="-122"/>
                <a:cs typeface="Arial" pitchFamily="34" charset="-120"/>
              </a:rPr>
              <a:t>  incident descriptions</a:t>
            </a:r>
            <a:endParaRPr lang="en-US" sz="1250" dirty="0"/>
          </a:p>
        </p:txBody>
      </p:sp>
      <p:sp>
        <p:nvSpPr>
          <p:cNvPr id="8" name="Shape 6"/>
          <p:cNvSpPr/>
          <p:nvPr/>
        </p:nvSpPr>
        <p:spPr>
          <a:xfrm>
            <a:off x="3657600" y="1316736"/>
            <a:ext cx="256032" cy="256032"/>
          </a:xfrm>
          <a:prstGeom prst="ellipse">
            <a:avLst/>
          </a:prstGeom>
          <a:solidFill>
            <a:srgbClr val="00915A"/>
          </a:solidFill>
          <a:ln w="12700">
            <a:solidFill>
              <a:srgbClr val="00915A"/>
            </a:solidFill>
            <a:prstDash val="solid"/>
          </a:ln>
        </p:spPr>
      </p:sp>
      <p:sp>
        <p:nvSpPr>
          <p:cNvPr id="9" name="Text 7"/>
          <p:cNvSpPr/>
          <p:nvPr/>
        </p:nvSpPr>
        <p:spPr>
          <a:xfrm>
            <a:off x="365760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 name="Text 8"/>
          <p:cNvSpPr/>
          <p:nvPr/>
        </p:nvSpPr>
        <p:spPr>
          <a:xfrm>
            <a:off x="4005072" y="1298448"/>
            <a:ext cx="2852928"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Clusters</a:t>
            </a:r>
            <a:pPr indent="0" marL="0">
              <a:buNone/>
            </a:pPr>
            <a:r>
              <a:rPr lang="en-US" sz="950" dirty="0">
                <a:solidFill>
                  <a:srgbClr val="8C8C8C"/>
                </a:solidFill>
                <a:latin typeface="Arial" pitchFamily="34" charset="0"/>
                <a:ea typeface="Arial" pitchFamily="34" charset="-122"/>
                <a:cs typeface="Arial" pitchFamily="34" charset="-120"/>
              </a:rPr>
              <a:t>  machine learning</a:t>
            </a:r>
            <a:endParaRPr lang="en-US" sz="1250" dirty="0"/>
          </a:p>
        </p:txBody>
      </p:sp>
      <p:sp>
        <p:nvSpPr>
          <p:cNvPr id="11" name="Shape 9"/>
          <p:cNvSpPr/>
          <p:nvPr/>
        </p:nvSpPr>
        <p:spPr>
          <a:xfrm>
            <a:off x="7498080" y="1316736"/>
            <a:ext cx="256032" cy="256032"/>
          </a:xfrm>
          <a:prstGeom prst="ellipse">
            <a:avLst/>
          </a:prstGeom>
          <a:solidFill>
            <a:srgbClr val="1F3864"/>
          </a:solidFill>
          <a:ln w="12700">
            <a:solidFill>
              <a:srgbClr val="1F3864"/>
            </a:solidFill>
            <a:prstDash val="solid"/>
          </a:ln>
        </p:spPr>
      </p:sp>
      <p:sp>
        <p:nvSpPr>
          <p:cNvPr id="12" name="Text 10"/>
          <p:cNvSpPr/>
          <p:nvPr/>
        </p:nvSpPr>
        <p:spPr>
          <a:xfrm>
            <a:off x="749808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 name="Text 11"/>
          <p:cNvSpPr/>
          <p:nvPr/>
        </p:nvSpPr>
        <p:spPr>
          <a:xfrm>
            <a:off x="7845552" y="1298448"/>
            <a:ext cx="3794760"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Named families and their weight</a:t>
            </a:r>
            <a:pPr indent="0" marL="0">
              <a:buNone/>
            </a:pPr>
            <a:r>
              <a:rPr lang="en-US" sz="950" dirty="0">
                <a:solidFill>
                  <a:srgbClr val="8C8C8C"/>
                </a:solidFill>
                <a:latin typeface="Arial" pitchFamily="34" charset="0"/>
                <a:ea typeface="Arial" pitchFamily="34" charset="-122"/>
                <a:cs typeface="Arial" pitchFamily="34" charset="-120"/>
              </a:rPr>
              <a:t>  GenAI + loss data</a:t>
            </a:r>
            <a:endParaRPr lang="en-US" sz="1250" dirty="0"/>
          </a:p>
        </p:txBody>
      </p:sp>
      <p:sp>
        <p:nvSpPr>
          <p:cNvPr id="14" name="Shape 12"/>
          <p:cNvSpPr/>
          <p:nvPr/>
        </p:nvSpPr>
        <p:spPr>
          <a:xfrm>
            <a:off x="548640" y="1682496"/>
            <a:ext cx="2834640" cy="786384"/>
          </a:xfrm>
          <a:prstGeom prst="roundRect">
            <a:avLst>
              <a:gd name="adj" fmla="val 6977"/>
            </a:avLst>
          </a:prstGeom>
          <a:solidFill>
            <a:srgbClr val="F7F9FA"/>
          </a:solidFill>
          <a:ln w="12700">
            <a:solidFill>
              <a:srgbClr val="E1E5E8"/>
            </a:solidFill>
            <a:prstDash val="solid"/>
          </a:ln>
        </p:spPr>
      </p:sp>
      <p:sp>
        <p:nvSpPr>
          <p:cNvPr id="15" name="Shape 13"/>
          <p:cNvSpPr/>
          <p:nvPr/>
        </p:nvSpPr>
        <p:spPr>
          <a:xfrm>
            <a:off x="694944" y="2002536"/>
            <a:ext cx="146304" cy="146304"/>
          </a:xfrm>
          <a:prstGeom prst="ellipse">
            <a:avLst/>
          </a:prstGeom>
          <a:solidFill>
            <a:srgbClr val="E34948"/>
          </a:solidFill>
          <a:ln w="12700">
            <a:solidFill>
              <a:srgbClr val="FFFFFF"/>
            </a:solidFill>
            <a:prstDash val="solid"/>
          </a:ln>
        </p:spPr>
      </p:sp>
      <p:sp>
        <p:nvSpPr>
          <p:cNvPr id="16" name="Text 14"/>
          <p:cNvSpPr/>
          <p:nvPr/>
        </p:nvSpPr>
        <p:spPr>
          <a:xfrm>
            <a:off x="950976" y="1737360"/>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“Client disputes the interest rate applied to his mortgage after the annual review…”</a:t>
            </a:r>
            <a:endParaRPr lang="en-US" sz="950" dirty="0"/>
          </a:p>
        </p:txBody>
      </p:sp>
      <p:sp>
        <p:nvSpPr>
          <p:cNvPr id="17" name="Shape 15"/>
          <p:cNvSpPr/>
          <p:nvPr/>
        </p:nvSpPr>
        <p:spPr>
          <a:xfrm>
            <a:off x="548640" y="2609088"/>
            <a:ext cx="2834640" cy="786384"/>
          </a:xfrm>
          <a:prstGeom prst="roundRect">
            <a:avLst>
              <a:gd name="adj" fmla="val 6977"/>
            </a:avLst>
          </a:prstGeom>
          <a:solidFill>
            <a:srgbClr val="F7F9FA"/>
          </a:solidFill>
          <a:ln w="12700">
            <a:solidFill>
              <a:srgbClr val="E1E5E8"/>
            </a:solidFill>
            <a:prstDash val="solid"/>
          </a:ln>
        </p:spPr>
      </p:sp>
      <p:sp>
        <p:nvSpPr>
          <p:cNvPr id="18" name="Shape 16"/>
          <p:cNvSpPr/>
          <p:nvPr/>
        </p:nvSpPr>
        <p:spPr>
          <a:xfrm>
            <a:off x="694944" y="2929128"/>
            <a:ext cx="146304" cy="146304"/>
          </a:xfrm>
          <a:prstGeom prst="ellipse">
            <a:avLst/>
          </a:prstGeom>
          <a:solidFill>
            <a:srgbClr val="E34948"/>
          </a:solidFill>
          <a:ln w="12700">
            <a:solidFill>
              <a:srgbClr val="FFFFFF"/>
            </a:solidFill>
            <a:prstDash val="solid"/>
          </a:ln>
        </p:spPr>
      </p:sp>
      <p:sp>
        <p:nvSpPr>
          <p:cNvPr id="19" name="Text 17"/>
          <p:cNvSpPr/>
          <p:nvPr/>
        </p:nvSpPr>
        <p:spPr>
          <a:xfrm>
            <a:off x="950976" y="2663952"/>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“Customer claims the rate calculation on her loan is wrong and asks for a refund…”</a:t>
            </a:r>
            <a:endParaRPr lang="en-US" sz="950" dirty="0"/>
          </a:p>
        </p:txBody>
      </p:sp>
      <p:sp>
        <p:nvSpPr>
          <p:cNvPr id="20" name="Shape 18"/>
          <p:cNvSpPr/>
          <p:nvPr/>
        </p:nvSpPr>
        <p:spPr>
          <a:xfrm>
            <a:off x="548640" y="3535680"/>
            <a:ext cx="2834640" cy="786384"/>
          </a:xfrm>
          <a:prstGeom prst="roundRect">
            <a:avLst>
              <a:gd name="adj" fmla="val 6977"/>
            </a:avLst>
          </a:prstGeom>
          <a:solidFill>
            <a:srgbClr val="F7F9FA"/>
          </a:solidFill>
          <a:ln w="12700">
            <a:solidFill>
              <a:srgbClr val="E1E5E8"/>
            </a:solidFill>
            <a:prstDash val="solid"/>
          </a:ln>
        </p:spPr>
      </p:sp>
      <p:sp>
        <p:nvSpPr>
          <p:cNvPr id="21" name="Shape 19"/>
          <p:cNvSpPr/>
          <p:nvPr/>
        </p:nvSpPr>
        <p:spPr>
          <a:xfrm>
            <a:off x="694944" y="3855720"/>
            <a:ext cx="146304" cy="146304"/>
          </a:xfrm>
          <a:prstGeom prst="ellipse">
            <a:avLst/>
          </a:prstGeom>
          <a:solidFill>
            <a:srgbClr val="4A3AA7"/>
          </a:solidFill>
          <a:ln w="12700">
            <a:solidFill>
              <a:srgbClr val="FFFFFF"/>
            </a:solidFill>
            <a:prstDash val="solid"/>
          </a:ln>
        </p:spPr>
      </p:sp>
      <p:sp>
        <p:nvSpPr>
          <p:cNvPr id="22" name="Text 20"/>
          <p:cNvSpPr/>
          <p:nvPr/>
        </p:nvSpPr>
        <p:spPr>
          <a:xfrm>
            <a:off x="950976" y="3590544"/>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“Card used fraudulently abroad after the customer's details were stolen online…”</a:t>
            </a:r>
            <a:endParaRPr lang="en-US" sz="950" dirty="0"/>
          </a:p>
        </p:txBody>
      </p:sp>
      <p:sp>
        <p:nvSpPr>
          <p:cNvPr id="23" name="Shape 21"/>
          <p:cNvSpPr/>
          <p:nvPr/>
        </p:nvSpPr>
        <p:spPr>
          <a:xfrm>
            <a:off x="548640" y="4462272"/>
            <a:ext cx="2834640" cy="786384"/>
          </a:xfrm>
          <a:prstGeom prst="roundRect">
            <a:avLst>
              <a:gd name="adj" fmla="val 6977"/>
            </a:avLst>
          </a:prstGeom>
          <a:solidFill>
            <a:srgbClr val="F7F9FA"/>
          </a:solidFill>
          <a:ln w="12700">
            <a:solidFill>
              <a:srgbClr val="E1E5E8"/>
            </a:solidFill>
            <a:prstDash val="solid"/>
          </a:ln>
        </p:spPr>
      </p:sp>
      <p:sp>
        <p:nvSpPr>
          <p:cNvPr id="24" name="Shape 22"/>
          <p:cNvSpPr/>
          <p:nvPr/>
        </p:nvSpPr>
        <p:spPr>
          <a:xfrm>
            <a:off x="694944" y="4782312"/>
            <a:ext cx="146304" cy="146304"/>
          </a:xfrm>
          <a:prstGeom prst="ellipse">
            <a:avLst/>
          </a:prstGeom>
          <a:solidFill>
            <a:srgbClr val="EDA100"/>
          </a:solidFill>
          <a:ln w="12700">
            <a:solidFill>
              <a:srgbClr val="FFFFFF"/>
            </a:solidFill>
            <a:prstDash val="solid"/>
          </a:ln>
        </p:spPr>
      </p:sp>
      <p:sp>
        <p:nvSpPr>
          <p:cNvPr id="25" name="Text 23"/>
          <p:cNvSpPr/>
          <p:nvPr/>
        </p:nvSpPr>
        <p:spPr>
          <a:xfrm>
            <a:off x="950976" y="4517136"/>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“Payment sent twice to the same beneficiary following a manual entry error…”</a:t>
            </a:r>
            <a:endParaRPr lang="en-US" sz="950" dirty="0"/>
          </a:p>
        </p:txBody>
      </p:sp>
      <p:sp>
        <p:nvSpPr>
          <p:cNvPr id="26" name="Text 24"/>
          <p:cNvSpPr/>
          <p:nvPr/>
        </p:nvSpPr>
        <p:spPr>
          <a:xfrm>
            <a:off x="3383280" y="3236976"/>
            <a:ext cx="274320" cy="457200"/>
          </a:xfrm>
          <a:prstGeom prst="rect">
            <a:avLst/>
          </a:prstGeom>
          <a:noFill/>
          <a:ln/>
        </p:spPr>
        <p:txBody>
          <a:bodyPr wrap="square" lIns="0" tIns="0" rIns="0" bIns="0" rtlCol="0" anchor="ctr"/>
          <a:lstStyle/>
          <a:p>
            <a:pPr algn="ctr" indent="0" marL="0">
              <a:buNone/>
            </a:pPr>
            <a:r>
              <a:rPr lang="en-US" sz="2400" b="1" dirty="0">
                <a:solidFill>
                  <a:srgbClr val="00915A"/>
                </a:solidFill>
                <a:latin typeface="Arial" pitchFamily="34" charset="0"/>
                <a:ea typeface="Arial" pitchFamily="34" charset="-122"/>
                <a:cs typeface="Arial" pitchFamily="34" charset="-120"/>
              </a:rPr>
              <a:t>›</a:t>
            </a:r>
            <a:endParaRPr lang="en-US" sz="2400" dirty="0"/>
          </a:p>
        </p:txBody>
      </p:sp>
      <p:sp>
        <p:nvSpPr>
          <p:cNvPr id="27" name="Shape 25"/>
          <p:cNvSpPr/>
          <p:nvPr/>
        </p:nvSpPr>
        <p:spPr>
          <a:xfrm>
            <a:off x="3657600" y="1682496"/>
            <a:ext cx="3200400" cy="3566160"/>
          </a:xfrm>
          <a:prstGeom prst="roundRect">
            <a:avLst>
              <a:gd name="adj" fmla="val 1714"/>
            </a:avLst>
          </a:prstGeom>
          <a:solidFill>
            <a:srgbClr val="FFFFFF"/>
          </a:solidFill>
          <a:ln w="12700">
            <a:solidFill>
              <a:srgbClr val="E1E5E8"/>
            </a:solidFill>
            <a:prstDash val="solid"/>
          </a:ln>
        </p:spPr>
      </p:sp>
      <p:pic>
        <p:nvPicPr>
          <p:cNvPr id="28" name="Image 0" descr="preencoded.png">    </p:cNvPr>
          <p:cNvPicPr>
            <a:picLocks noChangeAspect="1"/>
          </p:cNvPicPr>
          <p:nvPr/>
        </p:nvPicPr>
        <p:blipFill>
          <a:blip r:embed="rId1"/>
          <a:stretch>
            <a:fillRect/>
          </a:stretch>
        </p:blipFill>
        <p:spPr>
          <a:xfrm>
            <a:off x="3657600" y="1682496"/>
            <a:ext cx="3200400" cy="3566160"/>
          </a:xfrm>
          <a:prstGeom prst="rect">
            <a:avLst/>
          </a:prstGeom>
        </p:spPr>
      </p:pic>
      <p:sp>
        <p:nvSpPr>
          <p:cNvPr id="29" name="Text 26"/>
          <p:cNvSpPr/>
          <p:nvPr/>
        </p:nvSpPr>
        <p:spPr>
          <a:xfrm>
            <a:off x="3794760" y="1956816"/>
            <a:ext cx="137160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Interest rate disputes</a:t>
            </a:r>
            <a:endParaRPr lang="en-US" sz="950" dirty="0"/>
          </a:p>
        </p:txBody>
      </p:sp>
      <p:sp>
        <p:nvSpPr>
          <p:cNvPr id="30" name="Text 27"/>
          <p:cNvSpPr/>
          <p:nvPr/>
        </p:nvSpPr>
        <p:spPr>
          <a:xfrm>
            <a:off x="5669280" y="2852928"/>
            <a:ext cx="73152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Card fraud</a:t>
            </a:r>
            <a:endParaRPr lang="en-US" sz="950" dirty="0"/>
          </a:p>
        </p:txBody>
      </p:sp>
      <p:sp>
        <p:nvSpPr>
          <p:cNvPr id="31" name="Text 28"/>
          <p:cNvSpPr/>
          <p:nvPr/>
        </p:nvSpPr>
        <p:spPr>
          <a:xfrm>
            <a:off x="3840480" y="4882896"/>
            <a:ext cx="164592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Payment processing errors</a:t>
            </a:r>
            <a:endParaRPr lang="en-US" sz="950" dirty="0"/>
          </a:p>
        </p:txBody>
      </p:sp>
      <p:sp>
        <p:nvSpPr>
          <p:cNvPr id="32" name="Shape 29"/>
          <p:cNvSpPr/>
          <p:nvPr/>
        </p:nvSpPr>
        <p:spPr>
          <a:xfrm>
            <a:off x="6949440" y="3282696"/>
            <a:ext cx="457200" cy="365760"/>
          </a:xfrm>
          <a:prstGeom prst="roundRect">
            <a:avLst>
              <a:gd name="adj" fmla="val 15000"/>
            </a:avLst>
          </a:prstGeom>
          <a:solidFill>
            <a:srgbClr val="1F3864"/>
          </a:solidFill>
          <a:ln w="12700">
            <a:solidFill>
              <a:srgbClr val="1F3864"/>
            </a:solidFill>
            <a:prstDash val="solid"/>
          </a:ln>
        </p:spPr>
      </p:sp>
      <p:sp>
        <p:nvSpPr>
          <p:cNvPr id="33" name="Text 30"/>
          <p:cNvSpPr/>
          <p:nvPr/>
        </p:nvSpPr>
        <p:spPr>
          <a:xfrm>
            <a:off x="6949440" y="3282696"/>
            <a:ext cx="4572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LLM</a:t>
            </a:r>
            <a:endParaRPr lang="en-US" sz="1000" dirty="0"/>
          </a:p>
        </p:txBody>
      </p:sp>
      <p:sp>
        <p:nvSpPr>
          <p:cNvPr id="34" name="Text 31"/>
          <p:cNvSpPr/>
          <p:nvPr/>
        </p:nvSpPr>
        <p:spPr>
          <a:xfrm>
            <a:off x="6858000" y="3685032"/>
            <a:ext cx="640080" cy="329184"/>
          </a:xfrm>
          <a:prstGeom prst="rect">
            <a:avLst/>
          </a:prstGeom>
          <a:noFill/>
          <a:ln/>
        </p:spPr>
        <p:txBody>
          <a:bodyPr wrap="square" lIns="0" tIns="0" rIns="0" bIns="0" rtlCol="0" anchor="t"/>
          <a:lstStyle/>
          <a:p>
            <a:pPr algn="ctr" indent="0" marL="0">
              <a:buNone/>
            </a:pPr>
            <a:r>
              <a:rPr lang="en-US" sz="750" dirty="0">
                <a:solidFill>
                  <a:srgbClr val="8C8C8C"/>
                </a:solidFill>
                <a:latin typeface="Arial" pitchFamily="34" charset="0"/>
                <a:ea typeface="Arial" pitchFamily="34" charset="-122"/>
                <a:cs typeface="Arial" pitchFamily="34" charset="-120"/>
              </a:rPr>
              <a:t>names each</a:t>
            </a:r>
            <a:endParaRPr lang="en-US" sz="750" dirty="0"/>
          </a:p>
          <a:p>
            <a:pPr algn="ctr" indent="0" marL="0">
              <a:buNone/>
            </a:pPr>
            <a:r>
              <a:rPr lang="en-US" sz="750" dirty="0">
                <a:solidFill>
                  <a:srgbClr val="8C8C8C"/>
                </a:solidFill>
                <a:latin typeface="Arial" pitchFamily="34" charset="0"/>
                <a:ea typeface="Arial" pitchFamily="34" charset="-122"/>
                <a:cs typeface="Arial" pitchFamily="34" charset="-120"/>
              </a:rPr>
              <a:t>cluster</a:t>
            </a:r>
            <a:endParaRPr lang="en-US" sz="750" dirty="0"/>
          </a:p>
        </p:txBody>
      </p:sp>
      <p:sp>
        <p:nvSpPr>
          <p:cNvPr id="35" name="Shape 32"/>
          <p:cNvSpPr/>
          <p:nvPr/>
        </p:nvSpPr>
        <p:spPr>
          <a:xfrm>
            <a:off x="7498080" y="1682496"/>
            <a:ext cx="4142232" cy="3566160"/>
          </a:xfrm>
          <a:prstGeom prst="roundRect">
            <a:avLst>
              <a:gd name="adj" fmla="val 1538"/>
            </a:avLst>
          </a:prstGeom>
          <a:solidFill>
            <a:srgbClr val="FFFFFF"/>
          </a:solidFill>
          <a:ln w="12700">
            <a:solidFill>
              <a:srgbClr val="E1E5E8"/>
            </a:solidFill>
            <a:prstDash val="solid"/>
          </a:ln>
        </p:spPr>
      </p:sp>
      <p:sp>
        <p:nvSpPr>
          <p:cNvPr id="36" name="Text 33"/>
          <p:cNvSpPr/>
          <p:nvPr/>
        </p:nvSpPr>
        <p:spPr>
          <a:xfrm>
            <a:off x="7680960" y="1773936"/>
            <a:ext cx="3776472" cy="237744"/>
          </a:xfrm>
          <a:prstGeom prst="rect">
            <a:avLst/>
          </a:prstGeom>
          <a:noFill/>
          <a:ln/>
        </p:spPr>
        <p:txBody>
          <a:bodyPr wrap="square" lIns="0" tIns="0" rIns="0" bIns="0" rtlCol="0" anchor="ctr"/>
          <a:lstStyle/>
          <a:p>
            <a:pPr indent="0" marL="0">
              <a:buNone/>
            </a:pPr>
            <a:r>
              <a:rPr lang="en-US" sz="1050" b="1" dirty="0">
                <a:solidFill>
                  <a:srgbClr val="262626"/>
                </a:solidFill>
                <a:latin typeface="Arial" pitchFamily="34" charset="0"/>
                <a:ea typeface="Arial" pitchFamily="34" charset="-122"/>
                <a:cs typeface="Arial" pitchFamily="34" charset="-120"/>
              </a:rPr>
              <a:t>Share of total gross loss and provisions</a:t>
            </a:r>
            <a:endParaRPr lang="en-US" sz="1050" dirty="0"/>
          </a:p>
        </p:txBody>
      </p:sp>
      <p:sp>
        <p:nvSpPr>
          <p:cNvPr id="37" name="Text 34"/>
          <p:cNvSpPr/>
          <p:nvPr/>
        </p:nvSpPr>
        <p:spPr>
          <a:xfrm>
            <a:off x="7680960" y="2139696"/>
            <a:ext cx="1691640" cy="374904"/>
          </a:xfrm>
          <a:prstGeom prst="rect">
            <a:avLst/>
          </a:prstGeom>
          <a:noFill/>
          <a:ln/>
        </p:spPr>
        <p:txBody>
          <a:bodyPr wrap="square" lIns="0" tIns="0" rIns="0" bIns="0" rtlCol="0" anchor="ctr"/>
          <a:lstStyle/>
          <a:p>
            <a:pPr algn="r" indent="0" marL="0">
              <a:buNone/>
            </a:pPr>
            <a:r>
              <a:rPr lang="en-US" sz="950" dirty="0">
                <a:solidFill>
                  <a:srgbClr val="262626"/>
                </a:solidFill>
                <a:latin typeface="Arial" pitchFamily="34" charset="0"/>
                <a:ea typeface="Arial" pitchFamily="34" charset="-122"/>
                <a:cs typeface="Arial" pitchFamily="34" charset="-120"/>
              </a:rPr>
              <a:t>Interest rate disputes</a:t>
            </a:r>
            <a:endParaRPr lang="en-US" sz="950" dirty="0"/>
          </a:p>
        </p:txBody>
      </p:sp>
      <p:sp>
        <p:nvSpPr>
          <p:cNvPr id="38" name="Shape 35"/>
          <p:cNvSpPr/>
          <p:nvPr/>
        </p:nvSpPr>
        <p:spPr>
          <a:xfrm>
            <a:off x="9482328" y="2139696"/>
            <a:ext cx="1609344" cy="173736"/>
          </a:xfrm>
          <a:prstGeom prst="rect">
            <a:avLst/>
          </a:prstGeom>
          <a:solidFill>
            <a:srgbClr val="00915A"/>
          </a:solidFill>
          <a:ln w="12700">
            <a:solidFill>
              <a:srgbClr val="00915A"/>
            </a:solidFill>
            <a:prstDash val="solid"/>
          </a:ln>
        </p:spPr>
      </p:sp>
      <p:sp>
        <p:nvSpPr>
          <p:cNvPr id="39" name="Text 36"/>
          <p:cNvSpPr/>
          <p:nvPr/>
        </p:nvSpPr>
        <p:spPr>
          <a:xfrm>
            <a:off x="11146536" y="2121408"/>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22%</a:t>
            </a:r>
            <a:endParaRPr lang="en-US" sz="900" dirty="0"/>
          </a:p>
        </p:txBody>
      </p:sp>
      <p:sp>
        <p:nvSpPr>
          <p:cNvPr id="40" name="Shape 37"/>
          <p:cNvSpPr/>
          <p:nvPr/>
        </p:nvSpPr>
        <p:spPr>
          <a:xfrm>
            <a:off x="9482328" y="2340864"/>
            <a:ext cx="877824" cy="173736"/>
          </a:xfrm>
          <a:prstGeom prst="rect">
            <a:avLst/>
          </a:prstGeom>
          <a:solidFill>
            <a:srgbClr val="2A78D6"/>
          </a:solidFill>
          <a:ln w="12700">
            <a:solidFill>
              <a:srgbClr val="2A78D6"/>
            </a:solidFill>
            <a:prstDash val="solid"/>
          </a:ln>
        </p:spPr>
      </p:sp>
      <p:sp>
        <p:nvSpPr>
          <p:cNvPr id="41" name="Text 38"/>
          <p:cNvSpPr/>
          <p:nvPr/>
        </p:nvSpPr>
        <p:spPr>
          <a:xfrm>
            <a:off x="10415016" y="2322576"/>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12%</a:t>
            </a:r>
            <a:endParaRPr lang="en-US" sz="900" dirty="0"/>
          </a:p>
        </p:txBody>
      </p:sp>
      <p:sp>
        <p:nvSpPr>
          <p:cNvPr id="42" name="Text 39"/>
          <p:cNvSpPr/>
          <p:nvPr/>
        </p:nvSpPr>
        <p:spPr>
          <a:xfrm>
            <a:off x="7680960" y="2688336"/>
            <a:ext cx="1691640" cy="374904"/>
          </a:xfrm>
          <a:prstGeom prst="rect">
            <a:avLst/>
          </a:prstGeom>
          <a:noFill/>
          <a:ln/>
        </p:spPr>
        <p:txBody>
          <a:bodyPr wrap="square" lIns="0" tIns="0" rIns="0" bIns="0" rtlCol="0" anchor="ctr"/>
          <a:lstStyle/>
          <a:p>
            <a:pPr algn="r" indent="0" marL="0">
              <a:buNone/>
            </a:pPr>
            <a:r>
              <a:rPr lang="en-US" sz="950" dirty="0">
                <a:solidFill>
                  <a:srgbClr val="262626"/>
                </a:solidFill>
                <a:latin typeface="Arial" pitchFamily="34" charset="0"/>
                <a:ea typeface="Arial" pitchFamily="34" charset="-122"/>
                <a:cs typeface="Arial" pitchFamily="34" charset="-120"/>
              </a:rPr>
              <a:t>Card fraud</a:t>
            </a:r>
            <a:endParaRPr lang="en-US" sz="950" dirty="0"/>
          </a:p>
        </p:txBody>
      </p:sp>
      <p:sp>
        <p:nvSpPr>
          <p:cNvPr id="43" name="Shape 40"/>
          <p:cNvSpPr/>
          <p:nvPr/>
        </p:nvSpPr>
        <p:spPr>
          <a:xfrm>
            <a:off x="9482328" y="2688336"/>
            <a:ext cx="438912" cy="173736"/>
          </a:xfrm>
          <a:prstGeom prst="rect">
            <a:avLst/>
          </a:prstGeom>
          <a:solidFill>
            <a:srgbClr val="00915A"/>
          </a:solidFill>
          <a:ln w="12700">
            <a:solidFill>
              <a:srgbClr val="00915A"/>
            </a:solidFill>
            <a:prstDash val="solid"/>
          </a:ln>
        </p:spPr>
      </p:sp>
      <p:sp>
        <p:nvSpPr>
          <p:cNvPr id="44" name="Text 41"/>
          <p:cNvSpPr/>
          <p:nvPr/>
        </p:nvSpPr>
        <p:spPr>
          <a:xfrm>
            <a:off x="9976104" y="2670048"/>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6%</a:t>
            </a:r>
            <a:endParaRPr lang="en-US" sz="900" dirty="0"/>
          </a:p>
        </p:txBody>
      </p:sp>
      <p:sp>
        <p:nvSpPr>
          <p:cNvPr id="45" name="Shape 42"/>
          <p:cNvSpPr/>
          <p:nvPr/>
        </p:nvSpPr>
        <p:spPr>
          <a:xfrm>
            <a:off x="9482328" y="2889504"/>
            <a:ext cx="219456" cy="173736"/>
          </a:xfrm>
          <a:prstGeom prst="rect">
            <a:avLst/>
          </a:prstGeom>
          <a:solidFill>
            <a:srgbClr val="2A78D6"/>
          </a:solidFill>
          <a:ln w="12700">
            <a:solidFill>
              <a:srgbClr val="2A78D6"/>
            </a:solidFill>
            <a:prstDash val="solid"/>
          </a:ln>
        </p:spPr>
      </p:sp>
      <p:sp>
        <p:nvSpPr>
          <p:cNvPr id="46" name="Text 43"/>
          <p:cNvSpPr/>
          <p:nvPr/>
        </p:nvSpPr>
        <p:spPr>
          <a:xfrm>
            <a:off x="9756648" y="2871216"/>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3%</a:t>
            </a:r>
            <a:endParaRPr lang="en-US" sz="900" dirty="0"/>
          </a:p>
        </p:txBody>
      </p:sp>
      <p:sp>
        <p:nvSpPr>
          <p:cNvPr id="47" name="Text 44"/>
          <p:cNvSpPr/>
          <p:nvPr/>
        </p:nvSpPr>
        <p:spPr>
          <a:xfrm>
            <a:off x="7680960" y="3236976"/>
            <a:ext cx="1691640" cy="374904"/>
          </a:xfrm>
          <a:prstGeom prst="rect">
            <a:avLst/>
          </a:prstGeom>
          <a:noFill/>
          <a:ln/>
        </p:spPr>
        <p:txBody>
          <a:bodyPr wrap="square" lIns="0" tIns="0" rIns="0" bIns="0" rtlCol="0" anchor="ctr"/>
          <a:lstStyle/>
          <a:p>
            <a:pPr algn="r" indent="0" marL="0">
              <a:buNone/>
            </a:pPr>
            <a:r>
              <a:rPr lang="en-US" sz="950" dirty="0">
                <a:solidFill>
                  <a:srgbClr val="262626"/>
                </a:solidFill>
                <a:latin typeface="Arial" pitchFamily="34" charset="0"/>
                <a:ea typeface="Arial" pitchFamily="34" charset="-122"/>
                <a:cs typeface="Arial" pitchFamily="34" charset="-120"/>
              </a:rPr>
              <a:t>Payment processing errors</a:t>
            </a:r>
            <a:endParaRPr lang="en-US" sz="950" dirty="0"/>
          </a:p>
        </p:txBody>
      </p:sp>
      <p:sp>
        <p:nvSpPr>
          <p:cNvPr id="48" name="Shape 45"/>
          <p:cNvSpPr/>
          <p:nvPr/>
        </p:nvSpPr>
        <p:spPr>
          <a:xfrm>
            <a:off x="9482328" y="3236976"/>
            <a:ext cx="1024128" cy="173736"/>
          </a:xfrm>
          <a:prstGeom prst="rect">
            <a:avLst/>
          </a:prstGeom>
          <a:solidFill>
            <a:srgbClr val="00915A"/>
          </a:solidFill>
          <a:ln w="12700">
            <a:solidFill>
              <a:srgbClr val="00915A"/>
            </a:solidFill>
            <a:prstDash val="solid"/>
          </a:ln>
        </p:spPr>
      </p:sp>
      <p:sp>
        <p:nvSpPr>
          <p:cNvPr id="49" name="Text 46"/>
          <p:cNvSpPr/>
          <p:nvPr/>
        </p:nvSpPr>
        <p:spPr>
          <a:xfrm>
            <a:off x="10561320" y="3218688"/>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14%</a:t>
            </a:r>
            <a:endParaRPr lang="en-US" sz="900" dirty="0"/>
          </a:p>
        </p:txBody>
      </p:sp>
      <p:sp>
        <p:nvSpPr>
          <p:cNvPr id="50" name="Shape 47"/>
          <p:cNvSpPr/>
          <p:nvPr/>
        </p:nvSpPr>
        <p:spPr>
          <a:xfrm>
            <a:off x="9482328" y="3438144"/>
            <a:ext cx="1389888" cy="173736"/>
          </a:xfrm>
          <a:prstGeom prst="rect">
            <a:avLst/>
          </a:prstGeom>
          <a:solidFill>
            <a:srgbClr val="2A78D6"/>
          </a:solidFill>
          <a:ln w="12700">
            <a:solidFill>
              <a:srgbClr val="2A78D6"/>
            </a:solidFill>
            <a:prstDash val="solid"/>
          </a:ln>
        </p:spPr>
      </p:sp>
      <p:sp>
        <p:nvSpPr>
          <p:cNvPr id="51" name="Text 48"/>
          <p:cNvSpPr/>
          <p:nvPr/>
        </p:nvSpPr>
        <p:spPr>
          <a:xfrm>
            <a:off x="10927080" y="3419856"/>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19%</a:t>
            </a:r>
            <a:endParaRPr lang="en-US" sz="900" dirty="0"/>
          </a:p>
        </p:txBody>
      </p:sp>
      <p:sp>
        <p:nvSpPr>
          <p:cNvPr id="52" name="Text 49"/>
          <p:cNvSpPr/>
          <p:nvPr/>
        </p:nvSpPr>
        <p:spPr>
          <a:xfrm>
            <a:off x="7680960" y="3785616"/>
            <a:ext cx="1691640" cy="374904"/>
          </a:xfrm>
          <a:prstGeom prst="rect">
            <a:avLst/>
          </a:prstGeom>
          <a:noFill/>
          <a:ln/>
        </p:spPr>
        <p:txBody>
          <a:bodyPr wrap="square" lIns="0" tIns="0" rIns="0" bIns="0" rtlCol="0" anchor="ctr"/>
          <a:lstStyle/>
          <a:p>
            <a:pPr algn="r" indent="0" marL="0">
              <a:buNone/>
            </a:pPr>
            <a:r>
              <a:rPr lang="en-US" sz="950" dirty="0">
                <a:solidFill>
                  <a:srgbClr val="262626"/>
                </a:solidFill>
                <a:latin typeface="Arial" pitchFamily="34" charset="0"/>
                <a:ea typeface="Arial" pitchFamily="34" charset="-122"/>
                <a:cs typeface="Arial" pitchFamily="34" charset="-120"/>
              </a:rPr>
              <a:t>KYC / onboarding gaps</a:t>
            </a:r>
            <a:endParaRPr lang="en-US" sz="950" dirty="0"/>
          </a:p>
        </p:txBody>
      </p:sp>
      <p:sp>
        <p:nvSpPr>
          <p:cNvPr id="53" name="Shape 50"/>
          <p:cNvSpPr/>
          <p:nvPr/>
        </p:nvSpPr>
        <p:spPr>
          <a:xfrm>
            <a:off x="9482328" y="3785616"/>
            <a:ext cx="658368" cy="173736"/>
          </a:xfrm>
          <a:prstGeom prst="rect">
            <a:avLst/>
          </a:prstGeom>
          <a:solidFill>
            <a:srgbClr val="00915A"/>
          </a:solidFill>
          <a:ln w="12700">
            <a:solidFill>
              <a:srgbClr val="00915A"/>
            </a:solidFill>
            <a:prstDash val="solid"/>
          </a:ln>
        </p:spPr>
      </p:sp>
      <p:sp>
        <p:nvSpPr>
          <p:cNvPr id="54" name="Text 51"/>
          <p:cNvSpPr/>
          <p:nvPr/>
        </p:nvSpPr>
        <p:spPr>
          <a:xfrm>
            <a:off x="10195560" y="3767328"/>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9%</a:t>
            </a:r>
            <a:endParaRPr lang="en-US" sz="900" dirty="0"/>
          </a:p>
        </p:txBody>
      </p:sp>
      <p:sp>
        <p:nvSpPr>
          <p:cNvPr id="55" name="Shape 52"/>
          <p:cNvSpPr/>
          <p:nvPr/>
        </p:nvSpPr>
        <p:spPr>
          <a:xfrm>
            <a:off x="9482328" y="3986784"/>
            <a:ext cx="365760" cy="173736"/>
          </a:xfrm>
          <a:prstGeom prst="rect">
            <a:avLst/>
          </a:prstGeom>
          <a:solidFill>
            <a:srgbClr val="2A78D6"/>
          </a:solidFill>
          <a:ln w="12700">
            <a:solidFill>
              <a:srgbClr val="2A78D6"/>
            </a:solidFill>
            <a:prstDash val="solid"/>
          </a:ln>
        </p:spPr>
      </p:sp>
      <p:sp>
        <p:nvSpPr>
          <p:cNvPr id="56" name="Text 53"/>
          <p:cNvSpPr/>
          <p:nvPr/>
        </p:nvSpPr>
        <p:spPr>
          <a:xfrm>
            <a:off x="9902952" y="3968496"/>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5%</a:t>
            </a:r>
            <a:endParaRPr lang="en-US" sz="900" dirty="0"/>
          </a:p>
        </p:txBody>
      </p:sp>
      <p:sp>
        <p:nvSpPr>
          <p:cNvPr id="57" name="Text 54"/>
          <p:cNvSpPr/>
          <p:nvPr/>
        </p:nvSpPr>
        <p:spPr>
          <a:xfrm>
            <a:off x="7680960" y="4334256"/>
            <a:ext cx="1691640" cy="374904"/>
          </a:xfrm>
          <a:prstGeom prst="rect">
            <a:avLst/>
          </a:prstGeom>
          <a:noFill/>
          <a:ln/>
        </p:spPr>
        <p:txBody>
          <a:bodyPr wrap="square" lIns="0" tIns="0" rIns="0" bIns="0" rtlCol="0" anchor="ctr"/>
          <a:lstStyle/>
          <a:p>
            <a:pPr algn="r" indent="0" marL="0">
              <a:buNone/>
            </a:pPr>
            <a:r>
              <a:rPr lang="en-US" sz="950" dirty="0">
                <a:solidFill>
                  <a:srgbClr val="262626"/>
                </a:solidFill>
                <a:latin typeface="Arial" pitchFamily="34" charset="0"/>
                <a:ea typeface="Arial" pitchFamily="34" charset="-122"/>
                <a:cs typeface="Arial" pitchFamily="34" charset="-120"/>
              </a:rPr>
              <a:t>IT system outages</a:t>
            </a:r>
            <a:endParaRPr lang="en-US" sz="950" dirty="0"/>
          </a:p>
        </p:txBody>
      </p:sp>
      <p:sp>
        <p:nvSpPr>
          <p:cNvPr id="58" name="Shape 55"/>
          <p:cNvSpPr/>
          <p:nvPr/>
        </p:nvSpPr>
        <p:spPr>
          <a:xfrm>
            <a:off x="9482328" y="4334256"/>
            <a:ext cx="292608" cy="173736"/>
          </a:xfrm>
          <a:prstGeom prst="rect">
            <a:avLst/>
          </a:prstGeom>
          <a:solidFill>
            <a:srgbClr val="00915A"/>
          </a:solidFill>
          <a:ln w="12700">
            <a:solidFill>
              <a:srgbClr val="00915A"/>
            </a:solidFill>
            <a:prstDash val="solid"/>
          </a:ln>
        </p:spPr>
      </p:sp>
      <p:sp>
        <p:nvSpPr>
          <p:cNvPr id="59" name="Text 56"/>
          <p:cNvSpPr/>
          <p:nvPr/>
        </p:nvSpPr>
        <p:spPr>
          <a:xfrm>
            <a:off x="9829800" y="4315968"/>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4%</a:t>
            </a:r>
            <a:endParaRPr lang="en-US" sz="900" dirty="0"/>
          </a:p>
        </p:txBody>
      </p:sp>
      <p:sp>
        <p:nvSpPr>
          <p:cNvPr id="60" name="Shape 57"/>
          <p:cNvSpPr/>
          <p:nvPr/>
        </p:nvSpPr>
        <p:spPr>
          <a:xfrm>
            <a:off x="9482328" y="4535424"/>
            <a:ext cx="146304" cy="173736"/>
          </a:xfrm>
          <a:prstGeom prst="rect">
            <a:avLst/>
          </a:prstGeom>
          <a:solidFill>
            <a:srgbClr val="2A78D6"/>
          </a:solidFill>
          <a:ln w="12700">
            <a:solidFill>
              <a:srgbClr val="2A78D6"/>
            </a:solidFill>
            <a:prstDash val="solid"/>
          </a:ln>
        </p:spPr>
      </p:sp>
      <p:sp>
        <p:nvSpPr>
          <p:cNvPr id="61" name="Text 58"/>
          <p:cNvSpPr/>
          <p:nvPr/>
        </p:nvSpPr>
        <p:spPr>
          <a:xfrm>
            <a:off x="9683496" y="4517136"/>
            <a:ext cx="457200" cy="210312"/>
          </a:xfrm>
          <a:prstGeom prst="rect">
            <a:avLst/>
          </a:prstGeom>
          <a:noFill/>
          <a:ln/>
        </p:spPr>
        <p:txBody>
          <a:bodyPr wrap="square" lIns="0" tIns="0" rIns="0" bIns="0" rtlCol="0" anchor="ctr"/>
          <a:lstStyle/>
          <a:p>
            <a:pPr indent="0" marL="0">
              <a:buNone/>
            </a:pPr>
            <a:r>
              <a:rPr lang="en-US" sz="900" dirty="0">
                <a:solidFill>
                  <a:srgbClr val="262626"/>
                </a:solidFill>
                <a:latin typeface="Arial" pitchFamily="34" charset="0"/>
                <a:ea typeface="Arial" pitchFamily="34" charset="-122"/>
                <a:cs typeface="Arial" pitchFamily="34" charset="-120"/>
              </a:rPr>
              <a:t>2%</a:t>
            </a:r>
            <a:endParaRPr lang="en-US" sz="900" dirty="0"/>
          </a:p>
        </p:txBody>
      </p:sp>
      <p:sp>
        <p:nvSpPr>
          <p:cNvPr id="62" name="Shape 59"/>
          <p:cNvSpPr/>
          <p:nvPr/>
        </p:nvSpPr>
        <p:spPr>
          <a:xfrm>
            <a:off x="8609076" y="4992624"/>
            <a:ext cx="109728" cy="109728"/>
          </a:xfrm>
          <a:prstGeom prst="rect">
            <a:avLst/>
          </a:prstGeom>
          <a:solidFill>
            <a:srgbClr val="00915A"/>
          </a:solidFill>
          <a:ln w="12700">
            <a:solidFill>
              <a:srgbClr val="00915A"/>
            </a:solidFill>
            <a:prstDash val="solid"/>
          </a:ln>
        </p:spPr>
      </p:sp>
      <p:sp>
        <p:nvSpPr>
          <p:cNvPr id="63" name="Text 60"/>
          <p:cNvSpPr/>
          <p:nvPr/>
        </p:nvSpPr>
        <p:spPr>
          <a:xfrm>
            <a:off x="8773668" y="4937760"/>
            <a:ext cx="822960"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Gross loss</a:t>
            </a:r>
            <a:endParaRPr lang="en-US" sz="950" dirty="0"/>
          </a:p>
        </p:txBody>
      </p:sp>
      <p:sp>
        <p:nvSpPr>
          <p:cNvPr id="64" name="Shape 61"/>
          <p:cNvSpPr/>
          <p:nvPr/>
        </p:nvSpPr>
        <p:spPr>
          <a:xfrm>
            <a:off x="9660636" y="4992624"/>
            <a:ext cx="109728" cy="109728"/>
          </a:xfrm>
          <a:prstGeom prst="rect">
            <a:avLst/>
          </a:prstGeom>
          <a:solidFill>
            <a:srgbClr val="2A78D6"/>
          </a:solidFill>
          <a:ln w="12700">
            <a:solidFill>
              <a:srgbClr val="2A78D6"/>
            </a:solidFill>
            <a:prstDash val="solid"/>
          </a:ln>
        </p:spPr>
      </p:sp>
      <p:sp>
        <p:nvSpPr>
          <p:cNvPr id="65" name="Text 62"/>
          <p:cNvSpPr/>
          <p:nvPr/>
        </p:nvSpPr>
        <p:spPr>
          <a:xfrm>
            <a:off x="9825228" y="4937760"/>
            <a:ext cx="822960"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Provisions</a:t>
            </a:r>
            <a:endParaRPr lang="en-US" sz="950" dirty="0"/>
          </a:p>
        </p:txBody>
      </p:sp>
      <p:sp>
        <p:nvSpPr>
          <p:cNvPr id="66" name="Shape 63"/>
          <p:cNvSpPr/>
          <p:nvPr/>
        </p:nvSpPr>
        <p:spPr>
          <a:xfrm>
            <a:off x="548640" y="5413248"/>
            <a:ext cx="11091672" cy="621792"/>
          </a:xfrm>
          <a:prstGeom prst="roundRect">
            <a:avLst>
              <a:gd name="adj" fmla="val 11765"/>
            </a:avLst>
          </a:prstGeom>
          <a:solidFill>
            <a:srgbClr val="F0F8F4"/>
          </a:solidFill>
          <a:ln w="12700">
            <a:solidFill>
              <a:srgbClr val="00915A"/>
            </a:solidFill>
            <a:prstDash val="solid"/>
          </a:ln>
        </p:spPr>
      </p:sp>
      <p:sp>
        <p:nvSpPr>
          <p:cNvPr id="67" name="Text 64"/>
          <p:cNvSpPr/>
          <p:nvPr/>
        </p:nvSpPr>
        <p:spPr>
          <a:xfrm>
            <a:off x="822960" y="5413248"/>
            <a:ext cx="10543032" cy="621792"/>
          </a:xfrm>
          <a:prstGeom prst="rect">
            <a:avLst/>
          </a:prstGeom>
          <a:noFill/>
          <a:ln/>
        </p:spPr>
        <p:txBody>
          <a:bodyPr wrap="square" lIns="0" tIns="0" rIns="0" bIns="0" rtlCol="0" anchor="ctr"/>
          <a:lstStyle/>
          <a:p>
            <a:pPr indent="0" marL="0">
              <a:buNone/>
            </a:pPr>
            <a:r>
              <a:rPr lang="en-US" sz="1150" b="1" dirty="0">
                <a:solidFill>
                  <a:srgbClr val="00915A"/>
                </a:solidFill>
                <a:latin typeface="Arial" pitchFamily="34" charset="0"/>
                <a:ea typeface="Arial" pitchFamily="34" charset="-122"/>
                <a:cs typeface="Arial" pitchFamily="34" charset="-120"/>
              </a:rPr>
              <a:t>Why it matters: </a:t>
            </a:r>
            <a:pPr indent="0" marL="0">
              <a:buNone/>
            </a:pPr>
            <a:r>
              <a:rPr lang="en-US" sz="1150" dirty="0">
                <a:solidFill>
                  <a:srgbClr val="262626"/>
                </a:solidFill>
                <a:latin typeface="Arial" pitchFamily="34" charset="0"/>
                <a:ea typeface="Arial" pitchFamily="34" charset="-122"/>
                <a:cs typeface="Arial" pitchFamily="34" charset="-120"/>
              </a:rPr>
              <a:t>frequency is not severity. A family can be small in number of incidents and heavy in losses — ranking families by financial weight shows where mitigation pays off first.</a:t>
            </a:r>
            <a:endParaRPr lang="en-US" sz="1150" dirty="0"/>
          </a:p>
        </p:txBody>
      </p:sp>
      <p:sp>
        <p:nvSpPr>
          <p:cNvPr id="68" name="Shape 65"/>
          <p:cNvSpPr/>
          <p:nvPr/>
        </p:nvSpPr>
        <p:spPr>
          <a:xfrm>
            <a:off x="548640" y="6217920"/>
            <a:ext cx="11091672" cy="0"/>
          </a:xfrm>
          <a:prstGeom prst="line">
            <a:avLst/>
          </a:prstGeom>
          <a:noFill/>
          <a:ln w="9525">
            <a:solidFill>
              <a:srgbClr val="E1E5E8"/>
            </a:solidFill>
            <a:prstDash val="solid"/>
          </a:ln>
        </p:spPr>
      </p:sp>
      <p:sp>
        <p:nvSpPr>
          <p:cNvPr id="69" name="Text 66"/>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70" name="Text 67"/>
          <p:cNvSpPr/>
          <p:nvPr/>
        </p:nvSpPr>
        <p:spPr>
          <a:xfrm>
            <a:off x="4722876"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71" name="Text 68"/>
          <p:cNvSpPr/>
          <p:nvPr/>
        </p:nvSpPr>
        <p:spPr>
          <a:xfrm>
            <a:off x="9811512" y="640080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MLION - One Pager</dc:title>
  <dc:subject>PptxGenJS Presentation</dc:subject>
  <dc:creator>Zakaria GUAAYBESS</dc:creator>
  <cp:lastModifiedBy>Zakaria GUAAYBESS</cp:lastModifiedBy>
  <cp:revision>1</cp:revision>
  <dcterms:created xsi:type="dcterms:W3CDTF">2026-10-07T14:26:04Z</dcterms:created>
  <dcterms:modified xsi:type="dcterms:W3CDTF">2026-10-07T14:26:04Z</dcterms:modified>
</cp:coreProperties>
</file>