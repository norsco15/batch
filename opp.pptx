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47377"/>
            <a:ext cx="171450" cy="171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4388" y="428625"/>
            <a:ext cx="12465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BNP PARIBAS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00125" y="1518410"/>
            <a:ext cx="71437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OPERATIONAL RISK INTELLIGENCE WITH NLP</a:t>
            </a:r>
            <a:endParaRPr lang="en-US" sz="2850" dirty="0"/>
          </a:p>
        </p:txBody>
      </p:sp>
      <p:sp>
        <p:nvSpPr>
          <p:cNvPr id="6" name="Text 2"/>
          <p:cNvSpPr/>
          <p:nvPr/>
        </p:nvSpPr>
        <p:spPr>
          <a:xfrm>
            <a:off x="1714500" y="3078593"/>
            <a:ext cx="57150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Data Aggregation to Proactive Insights: Overcoming Complexity and Language Barriers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2622649" y="4579144"/>
            <a:ext cx="389870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UPDATE | RISK MANAGEMENT &amp; DATA ANALYTICS |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Managing 1-to-N Relationships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71500" y="1428750"/>
            <a:ext cx="371117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0915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CONSEQUENCES PER INCIDENT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52017"/>
            <a:ext cx="3711178" cy="2500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4495205"/>
            <a:ext cx="371117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Distribution of 10,105 Incidents by Number of Consequences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861322" y="1428750"/>
            <a:ext cx="371117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0915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AGGREGATION RESOLUTION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861322" y="1852017"/>
            <a:ext cx="3711178" cy="152876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7"/>
          <p:cNvSpPr/>
          <p:nvPr/>
        </p:nvSpPr>
        <p:spPr>
          <a:xfrm>
            <a:off x="4861322" y="1852017"/>
            <a:ext cx="28575" cy="1528763"/>
          </a:xfrm>
          <a:prstGeom prst="rect">
            <a:avLst/>
          </a:prstGeom>
          <a:solidFill>
            <a:srgbClr val="004A9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634" y="2094905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97091" y="2066330"/>
            <a:ext cx="30610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Aggregated </a:t>
            </a:r>
            <a:r>
              <a:rPr lang="en-US" sz="750" b="1" dirty="0">
                <a:solidFill>
                  <a:srgbClr val="004A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Causes</a:t>
            </a: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750" b="1" dirty="0">
                <a:solidFill>
                  <a:srgbClr val="004A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Consequences</a:t>
            </a: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incident to </a:t>
            </a: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 the dataset.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34" y="2580680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97091" y="2552105"/>
            <a:ext cx="30610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Applied field-specific logic: </a:t>
            </a:r>
            <a:r>
              <a:rPr lang="en-US" sz="750" b="1" dirty="0">
                <a:solidFill>
                  <a:srgbClr val="004A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 of Loss Amounts</a:t>
            </a: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</a:t>
            </a: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consequences matches the incident's total loss field.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634" y="3066455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97091" y="3037880"/>
            <a:ext cx="30610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Achieved </a:t>
            </a:r>
            <a:r>
              <a:rPr lang="en-US" sz="750" b="1" dirty="0">
                <a:solidFill>
                  <a:srgbClr val="004A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 consistency</a:t>
            </a: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10,105 incidents for </a:t>
            </a: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downstream NLP analysis.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4861322" y="3595092"/>
            <a:ext cx="371117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step ensures that each incident is represented by a single, comprehensive record while preserving all granular details.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Overcoming the Language Barrier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71500" y="1428750"/>
            <a:ext cx="371117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0915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LANGUAGE DISTRIBUTION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52017"/>
            <a:ext cx="3711178" cy="2500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4495205"/>
            <a:ext cx="371117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~51% of incidents required translation for unified NLP analysis.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861322" y="1428750"/>
            <a:ext cx="371117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0915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BOTTLENECK &amp; RESOLUTION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861322" y="1852017"/>
            <a:ext cx="3711178" cy="63936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7"/>
          <p:cNvSpPr/>
          <p:nvPr/>
        </p:nvSpPr>
        <p:spPr>
          <a:xfrm>
            <a:off x="4861322" y="1852017"/>
            <a:ext cx="28575" cy="639366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197" y="2023467"/>
            <a:ext cx="142875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4228" y="1994892"/>
            <a:ext cx="31753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BOTTLENECK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5254228" y="2177058"/>
            <a:ext cx="30396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Dataiku offline translation plugin prevented standard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5254228" y="2337792"/>
            <a:ext cx="28164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processing of French (43%) and Italian (7%) descriptions.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861322" y="2705695"/>
            <a:ext cx="3711178" cy="800100"/>
          </a:xfrm>
          <a:prstGeom prst="rect">
            <a:avLst/>
          </a:prstGeom>
          <a:solidFill>
            <a:srgbClr val="F2FFF2"/>
          </a:solidFill>
          <a:ln/>
        </p:spPr>
      </p:sp>
      <p:sp>
        <p:nvSpPr>
          <p:cNvPr id="17" name="Shape 12"/>
          <p:cNvSpPr/>
          <p:nvPr/>
        </p:nvSpPr>
        <p:spPr>
          <a:xfrm>
            <a:off x="4861322" y="2705695"/>
            <a:ext cx="28575" cy="800100"/>
          </a:xfrm>
          <a:prstGeom prst="rect">
            <a:avLst/>
          </a:prstGeom>
          <a:solidFill>
            <a:srgbClr val="00915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197" y="2877145"/>
            <a:ext cx="1428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4228" y="2848570"/>
            <a:ext cx="31753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RESOLUTION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5254228" y="3030736"/>
            <a:ext cx="18002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Leveraged internal BNP Paribas tool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5254228" y="3191470"/>
            <a:ext cx="14787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translate.analytics.cib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6732984" y="3191470"/>
            <a:ext cx="139838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Extracted descriptions, ran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5254228" y="3352205"/>
            <a:ext cx="20734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translation jobs, and reintegrated results.</a:t>
            </a:r>
            <a:endParaRPr lang="en-US" sz="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197" y="3754041"/>
            <a:ext cx="114300" cy="114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89934" y="3732609"/>
            <a:ext cx="635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Achieved a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5825728" y="3732609"/>
            <a:ext cx="11322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 English dataset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6958013" y="3732609"/>
            <a:ext cx="15698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enabling the continuation of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5004197" y="3915473"/>
            <a:ext cx="7072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NLP flow.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9144000" cy="714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85750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UPDATED NLP WORKFLOW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71500" y="1000125"/>
            <a:ext cx="285750" cy="285750"/>
          </a:xfrm>
          <a:prstGeom prst="rect">
            <a:avLst/>
          </a:prstGeom>
          <a:solidFill>
            <a:srgbClr val="004A99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00012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000125" y="928688"/>
            <a:ext cx="5286375" cy="4286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1126927"/>
            <a:ext cx="17859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INGEST &amp; JOIN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071813" y="1128713"/>
            <a:ext cx="30718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Unifying Incidents, Causes, and Consequences datasets.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71500" y="1535906"/>
            <a:ext cx="285750" cy="285750"/>
          </a:xfrm>
          <a:prstGeom prst="rect">
            <a:avLst/>
          </a:prstGeom>
          <a:solidFill>
            <a:srgbClr val="004A99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153590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00125" y="1464469"/>
            <a:ext cx="5286375" cy="4286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1662708"/>
            <a:ext cx="17859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AGGREGATION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071813" y="1664494"/>
            <a:ext cx="30718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Resolving 1-to-N relationships via field-specific logic.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29375" y="1500188"/>
            <a:ext cx="2143125" cy="357188"/>
          </a:xfrm>
          <a:prstGeom prst="rect">
            <a:avLst/>
          </a:prstGeom>
          <a:solidFill>
            <a:srgbClr val="F2FFF2"/>
          </a:solidFill>
          <a:ln w="9144">
            <a:solidFill>
              <a:srgbClr val="00915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1643063"/>
            <a:ext cx="128588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15125" y="1604497"/>
            <a:ext cx="177165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0091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RESOLUTION: Aggregated 10k+ incidents with 100% loss consistency.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571500" y="2071688"/>
            <a:ext cx="285750" cy="285750"/>
          </a:xfrm>
          <a:prstGeom prst="rect">
            <a:avLst/>
          </a:prstGeom>
          <a:solidFill>
            <a:srgbClr val="004A99"/>
          </a:solidFill>
          <a:ln/>
        </p:spPr>
      </p:sp>
      <p:sp>
        <p:nvSpPr>
          <p:cNvPr id="20" name="Text 16"/>
          <p:cNvSpPr/>
          <p:nvPr/>
        </p:nvSpPr>
        <p:spPr>
          <a:xfrm>
            <a:off x="571500" y="207168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000125" y="2000250"/>
            <a:ext cx="5286375" cy="4286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18"/>
          <p:cNvSpPr/>
          <p:nvPr/>
        </p:nvSpPr>
        <p:spPr>
          <a:xfrm>
            <a:off x="1143000" y="2198489"/>
            <a:ext cx="17859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TRANSLATION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071813" y="2200275"/>
            <a:ext cx="30718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Converting multi-language descriptions to English.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6429375" y="2035969"/>
            <a:ext cx="2143125" cy="357188"/>
          </a:xfrm>
          <a:prstGeom prst="rect">
            <a:avLst/>
          </a:prstGeom>
          <a:solidFill>
            <a:srgbClr val="F2FFF2"/>
          </a:solidFill>
          <a:ln w="9144">
            <a:solidFill>
              <a:srgbClr val="00915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178844"/>
            <a:ext cx="128588" cy="128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15125" y="2140279"/>
            <a:ext cx="177165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0091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RESOLUTION: Leveraged translate.analytics.cib for FR/IT extracts.</a:t>
            </a:r>
            <a:endParaRPr lang="en-US" sz="600" dirty="0"/>
          </a:p>
        </p:txBody>
      </p:sp>
      <p:sp>
        <p:nvSpPr>
          <p:cNvPr id="27" name="Shape 22"/>
          <p:cNvSpPr/>
          <p:nvPr/>
        </p:nvSpPr>
        <p:spPr>
          <a:xfrm>
            <a:off x="571500" y="2607469"/>
            <a:ext cx="285750" cy="285750"/>
          </a:xfrm>
          <a:prstGeom prst="rect">
            <a:avLst/>
          </a:prstGeom>
          <a:solidFill>
            <a:srgbClr val="004A99"/>
          </a:solidFill>
          <a:ln/>
        </p:spPr>
      </p:sp>
      <p:sp>
        <p:nvSpPr>
          <p:cNvPr id="28" name="Text 23"/>
          <p:cNvSpPr/>
          <p:nvPr/>
        </p:nvSpPr>
        <p:spPr>
          <a:xfrm>
            <a:off x="571500" y="260746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1000125" y="2536031"/>
            <a:ext cx="5286375" cy="4286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5"/>
          <p:cNvSpPr/>
          <p:nvPr/>
        </p:nvSpPr>
        <p:spPr>
          <a:xfrm>
            <a:off x="1143000" y="2734270"/>
            <a:ext cx="17859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CLEAN &amp; NORMALIZE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071813" y="2736056"/>
            <a:ext cx="30718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Standardizing text for feature extraction.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571500" y="3143250"/>
            <a:ext cx="285750" cy="285750"/>
          </a:xfrm>
          <a:prstGeom prst="rect">
            <a:avLst/>
          </a:prstGeom>
          <a:solidFill>
            <a:srgbClr val="004A99"/>
          </a:solidFill>
          <a:ln/>
        </p:spPr>
      </p:sp>
      <p:sp>
        <p:nvSpPr>
          <p:cNvPr id="33" name="Text 28"/>
          <p:cNvSpPr/>
          <p:nvPr/>
        </p:nvSpPr>
        <p:spPr>
          <a:xfrm>
            <a:off x="571500" y="314325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1000125" y="3071813"/>
            <a:ext cx="5286375" cy="4286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5" name="Text 30"/>
          <p:cNvSpPr/>
          <p:nvPr/>
        </p:nvSpPr>
        <p:spPr>
          <a:xfrm>
            <a:off x="1143000" y="3270052"/>
            <a:ext cx="17859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FEATURES &amp; ENRICHMENT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3071813" y="3271838"/>
            <a:ext cx="30718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Vectorization and semantic similarity mapping.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571500" y="3679031"/>
            <a:ext cx="285750" cy="285750"/>
          </a:xfrm>
          <a:prstGeom prst="rect">
            <a:avLst/>
          </a:prstGeom>
          <a:solidFill>
            <a:srgbClr val="004A99"/>
          </a:solidFill>
          <a:ln/>
        </p:spPr>
      </p:sp>
      <p:sp>
        <p:nvSpPr>
          <p:cNvPr id="38" name="Text 33"/>
          <p:cNvSpPr/>
          <p:nvPr/>
        </p:nvSpPr>
        <p:spPr>
          <a:xfrm>
            <a:off x="571500" y="367903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1000125" y="3607594"/>
            <a:ext cx="5286375" cy="4286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0" name="Text 35"/>
          <p:cNvSpPr/>
          <p:nvPr/>
        </p:nvSpPr>
        <p:spPr>
          <a:xfrm>
            <a:off x="1143000" y="3805833"/>
            <a:ext cx="17859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CLUSTERS &amp; MODELS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3071813" y="3807619"/>
            <a:ext cx="30718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Root-cause discovery and automated tagging.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571500" y="4214813"/>
            <a:ext cx="285750" cy="285750"/>
          </a:xfrm>
          <a:prstGeom prst="rect">
            <a:avLst/>
          </a:prstGeom>
          <a:solidFill>
            <a:srgbClr val="004A99"/>
          </a:solidFill>
          <a:ln/>
        </p:spPr>
      </p:sp>
      <p:sp>
        <p:nvSpPr>
          <p:cNvPr id="43" name="Text 38"/>
          <p:cNvSpPr/>
          <p:nvPr/>
        </p:nvSpPr>
        <p:spPr>
          <a:xfrm>
            <a:off x="571500" y="42148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1000125" y="4143375"/>
            <a:ext cx="5286375" cy="4286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5" name="Text 40"/>
          <p:cNvSpPr/>
          <p:nvPr/>
        </p:nvSpPr>
        <p:spPr>
          <a:xfrm>
            <a:off x="1143000" y="4341614"/>
            <a:ext cx="17859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DASHBOARDS &amp; APIS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3071813" y="4343400"/>
            <a:ext cx="30718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Exposing proactive risk intelligence to stakeholders.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Business Outcomes</a:t>
            </a:r>
            <a:endParaRPr lang="en-US" sz="2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28750"/>
            <a:ext cx="2376469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1950244"/>
            <a:ext cx="23764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INTELLIGENCE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61" y="2348508"/>
            <a:ext cx="85725" cy="857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36442" y="2319933"/>
            <a:ext cx="17252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Discover granular root-cause groups.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561" y="2641402"/>
            <a:ext cx="85725" cy="857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36442" y="2612827"/>
            <a:ext cx="1496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tag new incidents.</a:t>
            </a:r>
            <a:endParaRPr lang="en-US" sz="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561" y="2934295"/>
            <a:ext cx="85725" cy="857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36442" y="2905720"/>
            <a:ext cx="146982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hidden failure patterns.</a:t>
            </a:r>
            <a:endParaRPr lang="en-US" sz="7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738" y="1428750"/>
            <a:ext cx="2376497" cy="3429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383738" y="1950244"/>
            <a:ext cx="237649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PROACTIVITY</a:t>
            </a:r>
            <a:endParaRPr lang="en-US" sz="11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5786" y="2348508"/>
            <a:ext cx="85725" cy="8572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848667" y="2319933"/>
            <a:ext cx="14216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 severity and likelihood.</a:t>
            </a:r>
            <a:endParaRPr lang="en-US" sz="75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5786" y="2641402"/>
            <a:ext cx="85725" cy="8572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848667" y="2612827"/>
            <a:ext cx="16394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early-warning risk scores.</a:t>
            </a:r>
            <a:endParaRPr lang="en-US" sz="7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5786" y="2934295"/>
            <a:ext cx="85725" cy="8572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3848667" y="2905720"/>
            <a:ext cx="147697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mitigation dashboards.</a:t>
            </a:r>
            <a:endParaRPr lang="en-US" sz="75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3128" y="1428750"/>
            <a:ext cx="2376469" cy="3429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6053128" y="1950244"/>
            <a:ext cx="23764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A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REPORTING</a:t>
            </a:r>
            <a:endParaRPr lang="en-US" sz="11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4113" y="2348508"/>
            <a:ext cx="85725" cy="85725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6576994" y="2319933"/>
            <a:ext cx="15216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management reporting.</a:t>
            </a:r>
            <a:endParaRPr lang="en-US" sz="75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4113" y="2641402"/>
            <a:ext cx="85725" cy="85725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576994" y="2612827"/>
            <a:ext cx="14876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 regulatory compliance.</a:t>
            </a:r>
            <a:endParaRPr lang="en-US" sz="75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4113" y="2934295"/>
            <a:ext cx="85725" cy="85725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6576994" y="2905720"/>
            <a:ext cx="12608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control design.</a:t>
            </a:r>
            <a:endParaRPr lang="en-US" sz="750" dirty="0"/>
          </a:p>
        </p:txBody>
      </p:sp>
      <p:sp>
        <p:nvSpPr>
          <p:cNvPr id="30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Text 1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4A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Operational Risk into a Proactive Intelligence Engine.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2026-05-13T22:10:25Z</dcterms:created>
  <dcterms:modified xsi:type="dcterms:W3CDTF">2026-05-13T22:10:25Z</dcterms:modified>
</cp:coreProperties>
</file>